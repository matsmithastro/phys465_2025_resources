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0" name="Shape 11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0" name="Shape 20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BDS note: frequency isn’t labelled on the plot where its meaning is described in text, and the description isn’t obviously consistent with the values on the y-axis of the plot that </a:t>
            </a:r>
            <a:r>
              <a:rPr i="1"/>
              <a:t>does </a:t>
            </a:r>
            <a:r>
              <a:t>have that label.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5" name="Shape 2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BDS note: what’s capital X? (second equation)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28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5" name="Shape 28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algn="ctr">
              <a:buFontTx/>
              <a:defRPr sz="2400"/>
            </a:lvl1pPr>
            <a:lvl2pPr algn="ctr">
              <a:buFontTx/>
              <a:defRPr sz="2400"/>
            </a:lvl2pPr>
            <a:lvl3pPr algn="ctr">
              <a:buFontTx/>
              <a:defRPr sz="2400"/>
            </a:lvl3pPr>
            <a:lvl4pPr algn="ctr">
              <a:buFontTx/>
              <a:defRPr sz="2400"/>
            </a:lvl4pPr>
            <a:lvl5pPr algn="ctr">
              <a:buFontTx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xfrm>
            <a:off x="11679029" y="6398513"/>
            <a:ext cx="284372" cy="28079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>
              <a:buFontTx/>
              <a:defRPr sz="2400">
                <a:solidFill>
                  <a:srgbClr val="888888"/>
                </a:solidFill>
              </a:defRPr>
            </a:lvl1pPr>
            <a:lvl2pPr>
              <a:buFontTx/>
              <a:defRPr sz="2400">
                <a:solidFill>
                  <a:srgbClr val="888888"/>
                </a:solidFill>
              </a:defRPr>
            </a:lvl2pPr>
            <a:lvl3pPr>
              <a:buFontTx/>
              <a:defRPr sz="2400">
                <a:solidFill>
                  <a:srgbClr val="888888"/>
                </a:solidFill>
              </a:defRPr>
            </a:lvl3pPr>
            <a:lvl4pPr>
              <a:buFontTx/>
              <a:defRPr sz="2400">
                <a:solidFill>
                  <a:srgbClr val="888888"/>
                </a:solidFill>
              </a:defRPr>
            </a:lvl4pPr>
            <a:lvl5pPr>
              <a:buFontTx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xfrm>
            <a:off x="11684000" y="6398513"/>
            <a:ext cx="284372" cy="28079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>
              <a:buFontTx/>
              <a:defRPr b="1" sz="2400"/>
            </a:lvl1pPr>
            <a:lvl2pPr>
              <a:buFontTx/>
              <a:defRPr b="1" sz="2400"/>
            </a:lvl2pPr>
            <a:lvl3pPr>
              <a:buFontTx/>
              <a:defRPr b="1" sz="2400"/>
            </a:lvl3pPr>
            <a:lvl4pPr>
              <a:buFontTx/>
              <a:defRPr b="1" sz="2400"/>
            </a:lvl4pPr>
            <a:lvl5pPr>
              <a:buFontTx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>
              <a:buFontTx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xfrm>
            <a:off x="11679029" y="6398513"/>
            <a:ext cx="284372" cy="28079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>
              <a:buFontTx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>
              <a:buFontTx/>
              <a:defRPr sz="1600"/>
            </a:lvl1pPr>
            <a:lvl2pPr>
              <a:buFontTx/>
              <a:defRPr sz="1600"/>
            </a:lvl2pPr>
            <a:lvl3pPr>
              <a:buFontTx/>
              <a:defRPr sz="1600"/>
            </a:lvl3pPr>
            <a:lvl4pPr>
              <a:buFontTx/>
              <a:defRPr sz="1600"/>
            </a:lvl4pPr>
            <a:lvl5pPr>
              <a:buFontTx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3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228600" indent="-228600">
              <a:buSzPct val="100000"/>
              <a:buChar char="•"/>
            </a:lvl1pPr>
            <a:lvl2pPr marL="723900" indent="-266700">
              <a:buSzPct val="100000"/>
              <a:buChar char="•"/>
            </a:lvl2pPr>
            <a:lvl3pPr marL="1234439" indent="-320039">
              <a:buSzPct val="100000"/>
              <a:buChar char="•"/>
            </a:lvl3pPr>
            <a:lvl4pPr marL="1727200" indent="-355600">
              <a:buSzPct val="100000"/>
              <a:buChar char="•"/>
            </a:lvl4pPr>
            <a:lvl5pPr marL="2184400" indent="-355600">
              <a:buSzPct val="100000"/>
              <a:buChar char="•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xfrm>
            <a:off x="11684000" y="6398513"/>
            <a:ext cx="284372" cy="28079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2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-228600">
              <a:buSzPct val="100000"/>
              <a:buChar char="•"/>
            </a:lvl1pPr>
            <a:lvl2pPr marL="723900" indent="-266700">
              <a:buSzPct val="100000"/>
              <a:buChar char="•"/>
            </a:lvl2pPr>
            <a:lvl3pPr marL="1234439" indent="-320039">
              <a:buSzPct val="100000"/>
              <a:buChar char="•"/>
            </a:lvl3pPr>
            <a:lvl4pPr marL="1727200" indent="-355600">
              <a:buSzPct val="100000"/>
              <a:buChar char="•"/>
            </a:lvl4pPr>
            <a:lvl5pPr marL="2184400" indent="-355600">
              <a:buSzPct val="100000"/>
              <a:buChar char="•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684000" y="6402746"/>
            <a:ext cx="284372" cy="28080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4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0" marR="0" indent="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4572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914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1371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1828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22860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27432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3200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3657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mat.smith@lancaster.ac.uk" TargetMode="Externa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mat.smith@lancaster.ac.uk" TargetMode="Externa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8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1"/>
          <p:cNvSpPr txBox="1"/>
          <p:nvPr>
            <p:ph type="ctrTitle"/>
          </p:nvPr>
        </p:nvSpPr>
        <p:spPr>
          <a:xfrm>
            <a:off x="511628" y="1122362"/>
            <a:ext cx="11179630" cy="3351667"/>
          </a:xfrm>
          <a:prstGeom prst="rect">
            <a:avLst/>
          </a:prstGeom>
        </p:spPr>
        <p:txBody>
          <a:bodyPr anchor="t"/>
          <a:lstStyle/>
          <a:p>
            <a:pPr>
              <a:defRPr sz="4800">
                <a:solidFill>
                  <a:srgbClr val="C00000"/>
                </a:solidFill>
              </a:defRPr>
            </a:pPr>
            <a:r>
              <a:t>PHYS465: Statistical Data Analysis in Physics</a:t>
            </a:r>
            <a:br/>
            <a:br/>
            <a:r>
              <a:rPr i="1">
                <a:solidFill>
                  <a:srgbClr val="000000"/>
                </a:solidFill>
              </a:rPr>
              <a:t>Week 1: Introduction, Model fitting</a:t>
            </a:r>
          </a:p>
        </p:txBody>
      </p:sp>
      <p:sp>
        <p:nvSpPr>
          <p:cNvPr id="113" name="Subtitle 2"/>
          <p:cNvSpPr txBox="1"/>
          <p:nvPr>
            <p:ph type="subTitle" sz="quarter" idx="1"/>
          </p:nvPr>
        </p:nvSpPr>
        <p:spPr>
          <a:xfrm>
            <a:off x="1524000" y="4907755"/>
            <a:ext cx="9144000" cy="1287536"/>
          </a:xfrm>
          <a:prstGeom prst="rect">
            <a:avLst/>
          </a:prstGeom>
        </p:spPr>
        <p:txBody>
          <a:bodyPr/>
          <a:lstStyle/>
          <a:p>
            <a:pPr defTabSz="886968">
              <a:spcBef>
                <a:spcPts val="900"/>
              </a:spcBef>
              <a:defRPr sz="2328"/>
            </a:pPr>
            <a:r>
              <a:t>Dr. Mathew Smith</a:t>
            </a:r>
          </a:p>
          <a:p>
            <a:pPr defTabSz="886968">
              <a:spcBef>
                <a:spcPts val="900"/>
              </a:spcBef>
              <a:defRPr sz="2328"/>
            </a:pP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mat.smith@lancaster.ac.uk</a:t>
            </a:r>
          </a:p>
          <a:p>
            <a:pPr defTabSz="886968">
              <a:spcBef>
                <a:spcPts val="900"/>
              </a:spcBef>
              <a:defRPr sz="2328"/>
            </a:pPr>
            <a:r>
              <a:t>Physics Building; C46</a:t>
            </a:r>
          </a:p>
        </p:txBody>
      </p:sp>
      <p:sp>
        <p:nvSpPr>
          <p:cNvPr id="114" name="Slide Number"/>
          <p:cNvSpPr txBox="1"/>
          <p:nvPr>
            <p:ph type="sldNum" sz="quarter" idx="2"/>
          </p:nvPr>
        </p:nvSpPr>
        <p:spPr>
          <a:xfrm>
            <a:off x="11769144" y="6398513"/>
            <a:ext cx="194257" cy="2807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C00000"/>
                </a:solidFill>
              </a:defRPr>
            </a:lvl1pPr>
          </a:lstStyle>
          <a:p>
            <a:pPr/>
            <a:r>
              <a:t>General information</a:t>
            </a:r>
          </a:p>
        </p:txBody>
      </p:sp>
      <p:sp>
        <p:nvSpPr>
          <p:cNvPr id="117" name="Content Placeholder 2"/>
          <p:cNvSpPr txBox="1"/>
          <p:nvPr>
            <p:ph type="body" idx="1"/>
          </p:nvPr>
        </p:nvSpPr>
        <p:spPr>
          <a:xfrm>
            <a:off x="838200" y="1877055"/>
            <a:ext cx="10515600" cy="4172556"/>
          </a:xfrm>
          <a:prstGeom prst="rect">
            <a:avLst/>
          </a:prstGeom>
        </p:spPr>
        <p:txBody>
          <a:bodyPr/>
          <a:lstStyle/>
          <a:p>
            <a:pPr>
              <a:defRPr sz="2000">
                <a:solidFill>
                  <a:srgbClr val="C00000"/>
                </a:solidFill>
              </a:defRPr>
            </a:pPr>
            <a:r>
              <a:t>This is the second year that this module has been taught</a:t>
            </a:r>
          </a:p>
          <a:p>
            <a:pPr lvl="1">
              <a:spcBef>
                <a:spcPts val="500"/>
              </a:spcBef>
              <a:defRPr sz="2000"/>
            </a:pPr>
            <a:r>
              <a:t>Assessment is 100% by coursework, which is built on workshop exercises</a:t>
            </a:r>
            <a:endParaRPr sz="2400"/>
          </a:p>
          <a:p>
            <a:pPr lvl="1">
              <a:spcBef>
                <a:spcPts val="500"/>
              </a:spcBef>
              <a:defRPr sz="2000"/>
            </a:pPr>
            <a:r>
              <a:t>Comments/suggestions are very welcome</a:t>
            </a:r>
            <a:endParaRPr sz="2400"/>
          </a:p>
          <a:p>
            <a:pPr lvl="1" indent="228600">
              <a:spcBef>
                <a:spcPts val="500"/>
              </a:spcBef>
              <a:buFontTx/>
              <a:defRPr sz="2000"/>
            </a:pPr>
          </a:p>
          <a:p>
            <a:pPr>
              <a:defRPr sz="2000">
                <a:solidFill>
                  <a:srgbClr val="C00000"/>
                </a:solidFill>
              </a:defRPr>
            </a:pPr>
            <a:r>
              <a:t>Office hour: C46 Physics</a:t>
            </a:r>
          </a:p>
          <a:p>
            <a:pPr indent="457200">
              <a:defRPr sz="2000"/>
            </a:pPr>
            <a:r>
              <a:t>Tuesdays @ 12pm</a:t>
            </a:r>
          </a:p>
          <a:p>
            <a:pPr>
              <a:buFontTx/>
              <a:defRPr sz="2000"/>
            </a:pPr>
          </a:p>
          <a:p>
            <a:pPr>
              <a:defRPr sz="2000">
                <a:solidFill>
                  <a:srgbClr val="C00000"/>
                </a:solidFill>
              </a:defRPr>
            </a:pPr>
            <a:r>
              <a:t>Open door policy </a:t>
            </a:r>
          </a:p>
          <a:p>
            <a:pPr lvl="1">
              <a:spcBef>
                <a:spcPts val="500"/>
              </a:spcBef>
              <a:defRPr sz="2000"/>
            </a:pPr>
            <a:r>
              <a:t>In person in my office (Physics: C46)</a:t>
            </a:r>
          </a:p>
          <a:p>
            <a:pPr lvl="1">
              <a:spcBef>
                <a:spcPts val="500"/>
              </a:spcBef>
              <a:defRPr sz="2000"/>
            </a:pPr>
            <a:r>
              <a:t>Online via Teams/email (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mat.smith@lancaster.ac.uk</a:t>
            </a:r>
            <a:r>
              <a:t>)</a:t>
            </a:r>
          </a:p>
        </p:txBody>
      </p:sp>
      <p:sp>
        <p:nvSpPr>
          <p:cNvPr id="118" name="Slide Number Placeholder 3"/>
          <p:cNvSpPr txBox="1"/>
          <p:nvPr>
            <p:ph type="sldNum" sz="quarter" idx="2"/>
          </p:nvPr>
        </p:nvSpPr>
        <p:spPr>
          <a:xfrm>
            <a:off x="11774115" y="6402746"/>
            <a:ext cx="194257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C00000"/>
                </a:solidFill>
              </a:defRPr>
            </a:lvl1pPr>
          </a:lstStyle>
          <a:p>
            <a:pPr/>
            <a:r>
              <a:t>Course Structure</a:t>
            </a:r>
          </a:p>
        </p:txBody>
      </p:sp>
      <p:sp>
        <p:nvSpPr>
          <p:cNvPr id="121" name="Content Placeholder 2"/>
          <p:cNvSpPr txBox="1"/>
          <p:nvPr>
            <p:ph type="body" idx="1"/>
          </p:nvPr>
        </p:nvSpPr>
        <p:spPr>
          <a:xfrm>
            <a:off x="838200" y="1671467"/>
            <a:ext cx="10515600" cy="4528110"/>
          </a:xfrm>
          <a:prstGeom prst="rect">
            <a:avLst/>
          </a:prstGeom>
        </p:spPr>
        <p:txBody>
          <a:bodyPr/>
          <a:lstStyle/>
          <a:p>
            <a:pPr>
              <a:defRPr sz="2000">
                <a:solidFill>
                  <a:srgbClr val="C00000"/>
                </a:solidFill>
              </a:defRPr>
            </a:pPr>
            <a:r>
              <a:t>Weekly lectures</a:t>
            </a:r>
          </a:p>
          <a:p>
            <a:pPr lvl="1">
              <a:spcBef>
                <a:spcPts val="500"/>
              </a:spcBef>
              <a:defRPr sz="2000"/>
            </a:pPr>
            <a:r>
              <a:t>Thursday @ 5pm</a:t>
            </a:r>
          </a:p>
          <a:p>
            <a:pPr lvl="1">
              <a:spcBef>
                <a:spcPts val="500"/>
              </a:spcBef>
              <a:defRPr sz="2000"/>
            </a:pPr>
            <a:r>
              <a:t>Introduce key statistical concepts</a:t>
            </a:r>
            <a:endParaRPr sz="2400"/>
          </a:p>
          <a:p>
            <a:pPr lvl="1" indent="228600">
              <a:spcBef>
                <a:spcPts val="500"/>
              </a:spcBef>
              <a:buFontTx/>
              <a:defRPr sz="2000"/>
            </a:pPr>
          </a:p>
          <a:p>
            <a:pPr>
              <a:defRPr sz="2000">
                <a:solidFill>
                  <a:srgbClr val="C00000"/>
                </a:solidFill>
              </a:defRPr>
            </a:pPr>
            <a:r>
              <a:t>Weekly workshops</a:t>
            </a:r>
          </a:p>
          <a:p>
            <a:pPr indent="457200">
              <a:defRPr sz="2000"/>
            </a:pPr>
            <a:r>
              <a:t>Friday @ 9am</a:t>
            </a:r>
          </a:p>
          <a:p>
            <a:pPr indent="457200">
              <a:defRPr sz="2000"/>
            </a:pPr>
            <a:r>
              <a:t>Problem sheets introducing key python libraries, with practical examples</a:t>
            </a:r>
          </a:p>
          <a:p>
            <a:pPr indent="457200">
              <a:defRPr sz="2000"/>
            </a:pPr>
            <a:r>
              <a:t>Coursework problem sheets will extend this knowledge</a:t>
            </a:r>
          </a:p>
          <a:p>
            <a:pPr>
              <a:buFontTx/>
              <a:defRPr sz="2000"/>
            </a:pPr>
          </a:p>
          <a:p>
            <a:pPr>
              <a:defRPr sz="2000">
                <a:solidFill>
                  <a:srgbClr val="C00000"/>
                </a:solidFill>
              </a:defRPr>
            </a:pPr>
            <a:r>
              <a:t>Feedback sessions </a:t>
            </a:r>
          </a:p>
          <a:p>
            <a:pPr lvl="1">
              <a:spcBef>
                <a:spcPts val="500"/>
              </a:spcBef>
              <a:defRPr sz="2000"/>
            </a:pPr>
            <a:r>
              <a:t>Work through coursework solutions</a:t>
            </a:r>
          </a:p>
          <a:p>
            <a:pPr lvl="1">
              <a:spcBef>
                <a:spcPts val="500"/>
              </a:spcBef>
              <a:defRPr sz="2000"/>
            </a:pPr>
            <a:r>
              <a:t>Moodle quizzes based on lecture content</a:t>
            </a:r>
          </a:p>
        </p:txBody>
      </p:sp>
      <p:sp>
        <p:nvSpPr>
          <p:cNvPr id="122" name="Slide Number Placeholder 3"/>
          <p:cNvSpPr txBox="1"/>
          <p:nvPr>
            <p:ph type="sldNum" sz="quarter" idx="2"/>
          </p:nvPr>
        </p:nvSpPr>
        <p:spPr>
          <a:xfrm>
            <a:off x="11774115" y="6402746"/>
            <a:ext cx="194257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C00000"/>
                </a:solidFill>
              </a:defRPr>
            </a:lvl1pPr>
          </a:lstStyle>
          <a:p>
            <a:pPr/>
            <a:r>
              <a:t>Assessment: key dates</a:t>
            </a:r>
          </a:p>
        </p:txBody>
      </p:sp>
      <p:sp>
        <p:nvSpPr>
          <p:cNvPr id="125" name="Content Placeholder 2"/>
          <p:cNvSpPr txBox="1"/>
          <p:nvPr>
            <p:ph type="body" idx="1"/>
          </p:nvPr>
        </p:nvSpPr>
        <p:spPr>
          <a:xfrm>
            <a:off x="838200" y="1470224"/>
            <a:ext cx="10515601" cy="4969712"/>
          </a:xfrm>
          <a:prstGeom prst="rect">
            <a:avLst/>
          </a:prstGeom>
        </p:spPr>
        <p:txBody>
          <a:bodyPr/>
          <a:lstStyle/>
          <a:p>
            <a:pPr>
              <a:defRPr sz="2000">
                <a:solidFill>
                  <a:srgbClr val="C00000"/>
                </a:solidFill>
              </a:defRPr>
            </a:pPr>
            <a:r>
              <a:t>Coursework deadlines:</a:t>
            </a:r>
          </a:p>
          <a:p>
            <a:pPr lvl="1">
              <a:spcBef>
                <a:spcPts val="500"/>
              </a:spcBef>
              <a:defRPr sz="2000"/>
            </a:pPr>
            <a:r>
              <a:rPr>
                <a:solidFill>
                  <a:schemeClr val="accent1"/>
                </a:solidFill>
              </a:rPr>
              <a:t>Tuesday 20th Jan @ 4pm</a:t>
            </a:r>
            <a:r>
              <a:t> : week 11 content</a:t>
            </a:r>
          </a:p>
          <a:p>
            <a:pPr lvl="2">
              <a:spcBef>
                <a:spcPts val="500"/>
              </a:spcBef>
              <a:defRPr sz="2000"/>
            </a:pPr>
            <a:r>
              <a:t>20% of overall grade; feedback session on Fri 23rd Jan</a:t>
            </a:r>
          </a:p>
          <a:p>
            <a:pPr lvl="1">
              <a:spcBef>
                <a:spcPts val="500"/>
              </a:spcBef>
              <a:defRPr sz="2000"/>
            </a:pPr>
            <a:r>
              <a:rPr>
                <a:solidFill>
                  <a:schemeClr val="accent1"/>
                </a:solidFill>
              </a:rPr>
              <a:t>Tuesday 27th Jan @ 4pm</a:t>
            </a:r>
            <a:r>
              <a:t> : week 12 content</a:t>
            </a:r>
          </a:p>
          <a:p>
            <a:pPr lvl="2">
              <a:spcBef>
                <a:spcPts val="500"/>
              </a:spcBef>
              <a:defRPr sz="2000"/>
            </a:pPr>
            <a:r>
              <a:t>20% ; feedback session Fri 30th Jan</a:t>
            </a:r>
          </a:p>
          <a:p>
            <a:pPr lvl="1">
              <a:spcBef>
                <a:spcPts val="500"/>
              </a:spcBef>
              <a:defRPr sz="2000"/>
            </a:pPr>
            <a:r>
              <a:rPr>
                <a:solidFill>
                  <a:schemeClr val="accent1"/>
                </a:solidFill>
              </a:rPr>
              <a:t>Tuesday 3rd Feb @ 4pm</a:t>
            </a:r>
            <a:r>
              <a:t> : week 13 content</a:t>
            </a:r>
          </a:p>
          <a:p>
            <a:pPr lvl="2">
              <a:spcBef>
                <a:spcPts val="500"/>
              </a:spcBef>
              <a:defRPr sz="2000"/>
            </a:pPr>
            <a:r>
              <a:t>20% ; feedback session Fri 6th Feb</a:t>
            </a:r>
          </a:p>
          <a:p>
            <a:pPr lvl="1">
              <a:spcBef>
                <a:spcPts val="500"/>
              </a:spcBef>
              <a:defRPr sz="2000"/>
            </a:pPr>
            <a:r>
              <a:rPr>
                <a:solidFill>
                  <a:schemeClr val="accent1"/>
                </a:solidFill>
              </a:rPr>
              <a:t>Tuesday 24th Feb @ 4pm</a:t>
            </a:r>
            <a:r>
              <a:t> : week 14 and 15 content</a:t>
            </a:r>
          </a:p>
          <a:p>
            <a:pPr lvl="2">
              <a:spcBef>
                <a:spcPts val="500"/>
              </a:spcBef>
              <a:defRPr sz="2000"/>
            </a:pPr>
            <a:r>
              <a:t>40% ; summative assessment. </a:t>
            </a:r>
          </a:p>
          <a:p>
            <a:pPr lvl="2">
              <a:spcBef>
                <a:spcPts val="500"/>
              </a:spcBef>
              <a:defRPr sz="2000"/>
            </a:pPr>
            <a:r>
              <a:t>NB: There is an additional week to complete this worksheet</a:t>
            </a:r>
          </a:p>
          <a:p>
            <a:pPr lvl="2">
              <a:spcBef>
                <a:spcPts val="500"/>
              </a:spcBef>
              <a:defRPr sz="2000"/>
            </a:pPr>
          </a:p>
          <a:p>
            <a:pPr>
              <a:defRPr sz="2000">
                <a:solidFill>
                  <a:srgbClr val="C00000"/>
                </a:solidFill>
              </a:defRPr>
            </a:pPr>
            <a:r>
              <a:t>Submission through Moodle: </a:t>
            </a:r>
          </a:p>
          <a:p>
            <a:pPr lvl="1">
              <a:spcBef>
                <a:spcPts val="500"/>
              </a:spcBef>
              <a:defRPr sz="2000"/>
            </a:pPr>
            <a:r>
              <a:t>Computer code </a:t>
            </a:r>
            <a:r>
              <a:rPr i="1"/>
              <a:t>and </a:t>
            </a:r>
            <a:r>
              <a:t>interpretative</a:t>
            </a:r>
            <a:r>
              <a:rPr i="1"/>
              <a:t> </a:t>
            </a:r>
            <a:r>
              <a:t>summary : see Friday / Moodle for details</a:t>
            </a:r>
          </a:p>
          <a:p>
            <a:pPr lvl="1">
              <a:spcBef>
                <a:spcPts val="500"/>
              </a:spcBef>
              <a:defRPr sz="2000"/>
            </a:pPr>
            <a:r>
              <a:t>Additional independent, investigative work is expected</a:t>
            </a:r>
          </a:p>
        </p:txBody>
      </p:sp>
      <p:sp>
        <p:nvSpPr>
          <p:cNvPr id="126" name="Slide Number Placeholder 3"/>
          <p:cNvSpPr txBox="1"/>
          <p:nvPr>
            <p:ph type="sldNum" sz="quarter" idx="2"/>
          </p:nvPr>
        </p:nvSpPr>
        <p:spPr>
          <a:xfrm>
            <a:off x="11774115" y="6402746"/>
            <a:ext cx="194257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C00000"/>
                </a:solidFill>
              </a:defRPr>
            </a:lvl1pPr>
          </a:lstStyle>
          <a:p>
            <a:pPr/>
            <a:r>
              <a:t>What is the aim of this module?</a:t>
            </a:r>
          </a:p>
        </p:txBody>
      </p:sp>
      <p:sp>
        <p:nvSpPr>
          <p:cNvPr id="129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2000"/>
              </a:spcBef>
              <a:defRPr>
                <a:solidFill>
                  <a:srgbClr val="C00000"/>
                </a:solidFill>
              </a:defRPr>
            </a:pPr>
            <a:r>
              <a:rPr i="1"/>
              <a:t>This course aims to</a:t>
            </a:r>
            <a:r>
              <a:t> introduce and provide you with experience in using the key techniques used to analyse datasets in physics. </a:t>
            </a:r>
          </a:p>
          <a:p>
            <a:pPr lvl="1" marL="876300" indent="-228600">
              <a:spcBef>
                <a:spcPts val="500"/>
              </a:spcBef>
              <a:buSzPct val="100000"/>
              <a:buChar char="-"/>
              <a:defRPr sz="2000"/>
            </a:pPr>
            <a:r>
              <a:t>All of these techniques are transferable!</a:t>
            </a:r>
          </a:p>
          <a:p>
            <a:pPr lvl="1" marL="876300" indent="-228600">
              <a:spcBef>
                <a:spcPts val="500"/>
              </a:spcBef>
              <a:buSzPct val="100000"/>
              <a:buChar char="-"/>
              <a:defRPr sz="2000"/>
            </a:pPr>
            <a:r>
              <a:t>The focus of the module is to develop </a:t>
            </a:r>
            <a:r>
              <a:rPr i="1"/>
              <a:t>practical</a:t>
            </a:r>
            <a:r>
              <a:t> skills. </a:t>
            </a:r>
          </a:p>
          <a:p>
            <a:pPr lvl="2" marL="1143000" indent="-228600">
              <a:spcBef>
                <a:spcPts val="500"/>
              </a:spcBef>
              <a:buSzPct val="100000"/>
              <a:buChar char="-"/>
              <a:defRPr sz="2000"/>
            </a:pPr>
            <a:r>
              <a:t>the theory behind the statistical concepts are complex</a:t>
            </a:r>
          </a:p>
          <a:p>
            <a:pPr lvl="2" marL="1143000" indent="-228600">
              <a:spcBef>
                <a:spcPts val="500"/>
              </a:spcBef>
              <a:buSzPct val="100000"/>
              <a:buChar char="-"/>
              <a:defRPr sz="2000"/>
            </a:pPr>
            <a:r>
              <a:t>key concepts will be introduced. </a:t>
            </a:r>
          </a:p>
          <a:p>
            <a:pPr lvl="2" marL="1143000" indent="-228600">
              <a:spcBef>
                <a:spcPts val="500"/>
              </a:spcBef>
              <a:buSzPct val="100000"/>
              <a:buChar char="-"/>
              <a:defRPr sz="2000"/>
            </a:pPr>
            <a:r>
              <a:t>additional reading is available to develop fundamental understanding</a:t>
            </a:r>
          </a:p>
        </p:txBody>
      </p:sp>
      <p:sp>
        <p:nvSpPr>
          <p:cNvPr id="130" name="Slide Number Placeholder 3"/>
          <p:cNvSpPr txBox="1"/>
          <p:nvPr>
            <p:ph type="sldNum" sz="quarter" idx="2"/>
          </p:nvPr>
        </p:nvSpPr>
        <p:spPr>
          <a:xfrm>
            <a:off x="11774115" y="6402746"/>
            <a:ext cx="194257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ounded Rectangle"/>
          <p:cNvSpPr/>
          <p:nvPr/>
        </p:nvSpPr>
        <p:spPr>
          <a:xfrm>
            <a:off x="800429" y="1679620"/>
            <a:ext cx="10591142" cy="2460934"/>
          </a:xfrm>
          <a:prstGeom prst="roundRect">
            <a:avLst>
              <a:gd name="adj" fmla="val 10616"/>
            </a:avLst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33" name="Rounded Rectangle"/>
          <p:cNvSpPr/>
          <p:nvPr/>
        </p:nvSpPr>
        <p:spPr>
          <a:xfrm>
            <a:off x="800429" y="4357302"/>
            <a:ext cx="10591142" cy="1875570"/>
          </a:xfrm>
          <a:prstGeom prst="roundRect">
            <a:avLst>
              <a:gd name="adj" fmla="val 13930"/>
            </a:avLst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3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C00000"/>
                </a:solidFill>
              </a:defRPr>
            </a:lvl1pPr>
          </a:lstStyle>
          <a:p>
            <a:pPr/>
            <a:r>
              <a:t>Module Structure</a:t>
            </a:r>
          </a:p>
        </p:txBody>
      </p:sp>
      <p:sp>
        <p:nvSpPr>
          <p:cNvPr id="135" name="Content Placeholder 2"/>
          <p:cNvSpPr txBox="1"/>
          <p:nvPr>
            <p:ph type="body" idx="1"/>
          </p:nvPr>
        </p:nvSpPr>
        <p:spPr>
          <a:xfrm>
            <a:off x="908487" y="2545400"/>
            <a:ext cx="10221965" cy="4163324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C00000"/>
                </a:solidFill>
              </a:defRPr>
            </a:pPr>
            <a:r>
              <a:t>Week 11: </a:t>
            </a:r>
            <a:r>
              <a:rPr>
                <a:solidFill>
                  <a:srgbClr val="000000"/>
                </a:solidFill>
              </a:rPr>
              <a:t>Fitting a model to data; estimating parameters</a:t>
            </a:r>
          </a:p>
          <a:p>
            <a:pPr>
              <a:defRPr>
                <a:solidFill>
                  <a:srgbClr val="C00000"/>
                </a:solidFill>
              </a:defRPr>
            </a:pPr>
            <a:r>
              <a:t>Week 12: </a:t>
            </a:r>
            <a:r>
              <a:rPr>
                <a:solidFill>
                  <a:srgbClr val="000000"/>
                </a:solidFill>
              </a:rPr>
              <a:t>Hypothesis testing; the likelihood; estimating uncertainties</a:t>
            </a:r>
          </a:p>
          <a:p>
            <a:pPr>
              <a:defRPr>
                <a:solidFill>
                  <a:srgbClr val="C00000"/>
                </a:solidFill>
              </a:defRPr>
            </a:pPr>
            <a:r>
              <a:t>Week 13: </a:t>
            </a:r>
            <a:r>
              <a:rPr>
                <a:solidFill>
                  <a:srgbClr val="000000"/>
                </a:solidFill>
              </a:rPr>
              <a:t>Posterior sampling; Bayesian statistics</a:t>
            </a:r>
            <a:endParaRPr>
              <a:solidFill>
                <a:srgbClr val="000000"/>
              </a:solidFill>
            </a:endParaRPr>
          </a:p>
          <a:p>
            <a:pPr>
              <a:defRPr>
                <a:solidFill>
                  <a:srgbClr val="C0000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defRPr>
                <a:solidFill>
                  <a:srgbClr val="C00000"/>
                </a:solidFill>
              </a:defRPr>
            </a:pPr>
          </a:p>
          <a:p>
            <a:pPr>
              <a:defRPr>
                <a:solidFill>
                  <a:srgbClr val="C00000"/>
                </a:solidFill>
              </a:defRPr>
            </a:pPr>
            <a:r>
              <a:t>Week 14: </a:t>
            </a:r>
            <a:r>
              <a:rPr>
                <a:solidFill>
                  <a:srgbClr val="000000"/>
                </a:solidFill>
              </a:rPr>
              <a:t>Clustering and Classification algorithms</a:t>
            </a:r>
          </a:p>
          <a:p>
            <a:pPr>
              <a:defRPr>
                <a:solidFill>
                  <a:srgbClr val="C00000"/>
                </a:solidFill>
              </a:defRPr>
            </a:pPr>
            <a:r>
              <a:t>Week 15: </a:t>
            </a:r>
            <a:r>
              <a:rPr>
                <a:solidFill>
                  <a:srgbClr val="000000"/>
                </a:solidFill>
              </a:rPr>
              <a:t>Machine learning techniques</a:t>
            </a:r>
          </a:p>
        </p:txBody>
      </p:sp>
      <p:sp>
        <p:nvSpPr>
          <p:cNvPr id="136" name="Slide Number Placeholder 3"/>
          <p:cNvSpPr txBox="1"/>
          <p:nvPr>
            <p:ph type="sldNum" sz="quarter" idx="2"/>
          </p:nvPr>
        </p:nvSpPr>
        <p:spPr>
          <a:xfrm>
            <a:off x="11774115" y="6402746"/>
            <a:ext cx="194257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37" name="‘data driven’: what does our data tell us?"/>
          <p:cNvSpPr txBox="1"/>
          <p:nvPr/>
        </p:nvSpPr>
        <p:spPr>
          <a:xfrm>
            <a:off x="2604875" y="4529537"/>
            <a:ext cx="6829188" cy="497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3200">
                <a:solidFill>
                  <a:schemeClr val="accent5">
                    <a:satOff val="-19091"/>
                    <a:lumOff val="-11921"/>
                  </a:schemeClr>
                </a:solidFill>
              </a:defRPr>
            </a:pPr>
            <a:r>
              <a:t>‘d</a:t>
            </a:r>
            <a:r>
              <a:rPr i="1"/>
              <a:t>ata driven</a:t>
            </a:r>
            <a:r>
              <a:t>’: what does our data tell us?</a:t>
            </a:r>
          </a:p>
        </p:txBody>
      </p:sp>
      <p:sp>
        <p:nvSpPr>
          <p:cNvPr id="138" name="‘model testing’: does our data agree with our model?"/>
          <p:cNvSpPr txBox="1"/>
          <p:nvPr/>
        </p:nvSpPr>
        <p:spPr>
          <a:xfrm>
            <a:off x="1590265" y="1907620"/>
            <a:ext cx="8858409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3200">
                <a:solidFill>
                  <a:schemeClr val="accent5">
                    <a:satOff val="-19091"/>
                    <a:lumOff val="-11921"/>
                  </a:schemeClr>
                </a:solidFill>
              </a:defRPr>
            </a:pPr>
            <a:r>
              <a:t>‘</a:t>
            </a:r>
            <a:r>
              <a:rPr i="1"/>
              <a:t>model testing</a:t>
            </a:r>
            <a:r>
              <a:t>’: does our data agree with our model?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C00000"/>
                </a:solidFill>
              </a:defRPr>
            </a:lvl1pPr>
          </a:lstStyle>
          <a:p>
            <a:pPr/>
            <a:r>
              <a:t>Setting the scene : what is data analysis?</a:t>
            </a:r>
          </a:p>
        </p:txBody>
      </p:sp>
      <p:sp>
        <p:nvSpPr>
          <p:cNvPr id="141" name="Content Placeholder 2"/>
          <p:cNvSpPr txBox="1"/>
          <p:nvPr>
            <p:ph type="body" idx="1"/>
          </p:nvPr>
        </p:nvSpPr>
        <p:spPr>
          <a:xfrm>
            <a:off x="838200" y="187705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C00000"/>
                </a:solidFill>
              </a:defRPr>
            </a:pPr>
            <a:r>
              <a:t>The process of analysing experimental data to validate (or disfavour) a hypothesis or theory</a:t>
            </a:r>
          </a:p>
          <a:p>
            <a:pPr marL="685800" indent="-228600">
              <a:lnSpc>
                <a:spcPct val="200000"/>
              </a:lnSpc>
              <a:buSzPct val="100000"/>
              <a:buChar char="-"/>
              <a:defRPr sz="2000"/>
            </a:pPr>
            <a:r>
              <a:t>The experimental data, and its uncertainties, have already been collected</a:t>
            </a:r>
          </a:p>
          <a:p>
            <a:pPr>
              <a:defRPr>
                <a:solidFill>
                  <a:srgbClr val="C00000"/>
                </a:solidFill>
              </a:defRPr>
            </a:pPr>
            <a:r>
              <a:t>Requires the application of statistical tools</a:t>
            </a:r>
          </a:p>
          <a:p>
            <a:pPr marL="685800" indent="-228600">
              <a:lnSpc>
                <a:spcPct val="200000"/>
              </a:lnSpc>
              <a:buSzPct val="100000"/>
              <a:buChar char="-"/>
              <a:defRPr sz="2000"/>
            </a:pPr>
            <a:r>
              <a:t>This course will introduce the main concepts and statistical tests</a:t>
            </a:r>
          </a:p>
          <a:p>
            <a:pPr>
              <a:defRPr>
                <a:solidFill>
                  <a:srgbClr val="C00000"/>
                </a:solidFill>
              </a:defRPr>
            </a:pPr>
            <a:r>
              <a:t>The relevance of Physics: </a:t>
            </a:r>
          </a:p>
          <a:p>
            <a:pPr marL="685800" indent="-228600">
              <a:buSzPct val="100000"/>
              <a:buChar char="-"/>
              <a:defRPr sz="2000"/>
            </a:pPr>
            <a:r>
              <a:t>Physics (in particular astro and particle) involve the collection of extremely large sets of data</a:t>
            </a:r>
          </a:p>
          <a:p>
            <a:pPr marL="685800" indent="-228600">
              <a:lnSpc>
                <a:spcPct val="100000"/>
              </a:lnSpc>
              <a:buSzPct val="100000"/>
              <a:buChar char="-"/>
              <a:defRPr sz="2000"/>
            </a:pPr>
            <a:r>
              <a:t>Requires complex analysis techniques</a:t>
            </a:r>
          </a:p>
        </p:txBody>
      </p:sp>
      <p:sp>
        <p:nvSpPr>
          <p:cNvPr id="142" name="Slide Number Placeholder 3"/>
          <p:cNvSpPr txBox="1"/>
          <p:nvPr>
            <p:ph type="sldNum" sz="quarter" idx="2"/>
          </p:nvPr>
        </p:nvSpPr>
        <p:spPr>
          <a:xfrm>
            <a:off x="11774115" y="6402746"/>
            <a:ext cx="194257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itle 1"/>
          <p:cNvSpPr txBox="1"/>
          <p:nvPr>
            <p:ph type="title"/>
          </p:nvPr>
        </p:nvSpPr>
        <p:spPr>
          <a:xfrm>
            <a:off x="310352" y="146261"/>
            <a:ext cx="10515601" cy="1325564"/>
          </a:xfrm>
          <a:prstGeom prst="rect">
            <a:avLst/>
          </a:prstGeom>
        </p:spPr>
        <p:txBody>
          <a:bodyPr/>
          <a:lstStyle>
            <a:lvl1pPr>
              <a:defRPr i="1" sz="3600">
                <a:solidFill>
                  <a:srgbClr val="C00000"/>
                </a:solidFill>
              </a:defRPr>
            </a:lvl1pPr>
          </a:lstStyle>
          <a:p>
            <a:pPr/>
            <a:r>
              <a:t>Week 11: Explaining data with models</a:t>
            </a:r>
          </a:p>
        </p:txBody>
      </p:sp>
      <p:sp>
        <p:nvSpPr>
          <p:cNvPr id="145" name="Slide Number Placeholder 3"/>
          <p:cNvSpPr txBox="1"/>
          <p:nvPr>
            <p:ph type="sldNum" sz="quarter" idx="2"/>
          </p:nvPr>
        </p:nvSpPr>
        <p:spPr>
          <a:xfrm>
            <a:off x="11774115" y="6402746"/>
            <a:ext cx="194257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46" name="Screenshot 2025-01-08 at 12.33.05.png" descr="Screenshot 2025-01-08 at 12.33.0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93732" y="2398791"/>
            <a:ext cx="5321301" cy="3962401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(1) Model fitting, (2) parameter estimation and (3) hypothesis testing"/>
          <p:cNvSpPr txBox="1"/>
          <p:nvPr/>
        </p:nvSpPr>
        <p:spPr>
          <a:xfrm>
            <a:off x="585100" y="1395523"/>
            <a:ext cx="10998732" cy="48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defRPr b="1" sz="3000">
                <a:solidFill>
                  <a:srgbClr val="C00000"/>
                </a:solidFill>
                <a:latin typeface="Carlito"/>
                <a:ea typeface="Carlito"/>
                <a:cs typeface="Carlito"/>
                <a:sym typeface="Carlito"/>
              </a:defRPr>
            </a:lvl1pPr>
          </a:lstStyle>
          <a:p>
            <a:pPr/>
            <a:r>
              <a:t>(1) Model fitting, (2) parameter estimation and (3) hypothesis testing</a:t>
            </a:r>
          </a:p>
        </p:txBody>
      </p:sp>
      <p:pic>
        <p:nvPicPr>
          <p:cNvPr id="148" name="data_plot.png" descr="data_plot.png"/>
          <p:cNvPicPr>
            <a:picLocks noChangeAspect="1"/>
          </p:cNvPicPr>
          <p:nvPr/>
        </p:nvPicPr>
        <p:blipFill>
          <a:blip r:embed="rId3">
            <a:extLst/>
          </a:blip>
          <a:srcRect l="0" t="59" r="0" b="59"/>
          <a:stretch>
            <a:fillRect/>
          </a:stretch>
        </p:blipFill>
        <p:spPr>
          <a:xfrm>
            <a:off x="3345432" y="1981278"/>
            <a:ext cx="5450811" cy="4665426"/>
          </a:xfrm>
          <a:prstGeom prst="rect">
            <a:avLst/>
          </a:prstGeom>
          <a:ln w="12700">
            <a:solidFill>
              <a:srgbClr val="A7A7A7"/>
            </a:solidFill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itle 1"/>
          <p:cNvSpPr txBox="1"/>
          <p:nvPr>
            <p:ph type="title"/>
          </p:nvPr>
        </p:nvSpPr>
        <p:spPr>
          <a:xfrm>
            <a:off x="310352" y="146261"/>
            <a:ext cx="10515601" cy="1325564"/>
          </a:xfrm>
          <a:prstGeom prst="rect">
            <a:avLst/>
          </a:prstGeom>
        </p:spPr>
        <p:txBody>
          <a:bodyPr/>
          <a:lstStyle>
            <a:lvl1pPr>
              <a:defRPr i="1" sz="3600">
                <a:solidFill>
                  <a:srgbClr val="C00000"/>
                </a:solidFill>
              </a:defRPr>
            </a:lvl1pPr>
          </a:lstStyle>
          <a:p>
            <a:pPr/>
            <a:r>
              <a:t>Week 11: Explaining data with models</a:t>
            </a:r>
          </a:p>
        </p:txBody>
      </p:sp>
      <p:sp>
        <p:nvSpPr>
          <p:cNvPr id="151" name="Slide Number Placeholder 3"/>
          <p:cNvSpPr txBox="1"/>
          <p:nvPr>
            <p:ph type="sldNum" sz="quarter" idx="2"/>
          </p:nvPr>
        </p:nvSpPr>
        <p:spPr>
          <a:xfrm>
            <a:off x="11774115" y="6402746"/>
            <a:ext cx="194257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52" name="Screenshot 2025-01-08 at 12.33.05.png" descr="Screenshot 2025-01-08 at 12.33.0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93732" y="2398791"/>
            <a:ext cx="5321301" cy="3962401"/>
          </a:xfrm>
          <a:prstGeom prst="rect">
            <a:avLst/>
          </a:prstGeom>
          <a:ln w="12700">
            <a:miter lim="400000"/>
          </a:ln>
        </p:spPr>
      </p:pic>
      <p:sp>
        <p:nvSpPr>
          <p:cNvPr id="153" name="(1) Model fitting, (2) parameter estimation and (3) hypothesis testing"/>
          <p:cNvSpPr txBox="1"/>
          <p:nvPr/>
        </p:nvSpPr>
        <p:spPr>
          <a:xfrm>
            <a:off x="585100" y="1408223"/>
            <a:ext cx="10998732" cy="48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defRPr b="1" sz="3000">
                <a:solidFill>
                  <a:srgbClr val="C00000"/>
                </a:solidFill>
                <a:latin typeface="Carlito"/>
                <a:ea typeface="Carlito"/>
                <a:cs typeface="Carlito"/>
                <a:sym typeface="Carlito"/>
              </a:defRPr>
            </a:lvl1pPr>
          </a:lstStyle>
          <a:p>
            <a:pPr/>
            <a:r>
              <a:t>(1) Model fitting, (2) parameter estimation and (3) hypothesis testing</a:t>
            </a:r>
          </a:p>
        </p:txBody>
      </p:sp>
      <p:pic>
        <p:nvPicPr>
          <p:cNvPr id="154" name="model_plot.png" descr="model_plot.png"/>
          <p:cNvPicPr>
            <a:picLocks noChangeAspect="1"/>
          </p:cNvPicPr>
          <p:nvPr/>
        </p:nvPicPr>
        <p:blipFill>
          <a:blip r:embed="rId3">
            <a:extLst/>
          </a:blip>
          <a:srcRect l="0" t="59" r="0" b="59"/>
          <a:stretch>
            <a:fillRect/>
          </a:stretch>
        </p:blipFill>
        <p:spPr>
          <a:xfrm>
            <a:off x="3345432" y="1981279"/>
            <a:ext cx="5450811" cy="4665425"/>
          </a:xfrm>
          <a:prstGeom prst="rect">
            <a:avLst/>
          </a:prstGeom>
          <a:ln w="12700">
            <a:solidFill>
              <a:srgbClr val="A7A7A7"/>
            </a:solidFill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  <a:latin typeface="Carlito"/>
                <a:ea typeface="Carlito"/>
                <a:cs typeface="Carlito"/>
                <a:sym typeface="Carlito"/>
              </a:defRPr>
            </a:lvl1pPr>
          </a:lstStyle>
          <a:p>
            <a:pPr/>
            <a:r>
              <a:t>(1) Model fitting</a:t>
            </a:r>
          </a:p>
        </p:txBody>
      </p:sp>
      <p:sp>
        <p:nvSpPr>
          <p:cNvPr id="157" name="Content Placeholder 2"/>
          <p:cNvSpPr txBox="1"/>
          <p:nvPr>
            <p:ph type="body" idx="1"/>
          </p:nvPr>
        </p:nvSpPr>
        <p:spPr>
          <a:xfrm>
            <a:off x="838200" y="187705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defRPr b="1" i="1" sz="2000">
                <a:solidFill>
                  <a:srgbClr val="C00000"/>
                </a:solidFill>
              </a:defRPr>
            </a:pPr>
            <a:r>
              <a:t>Given some experimental data (and measured uncertainties) compare to a defined model</a:t>
            </a:r>
            <a:endParaRPr b="0" i="0">
              <a:solidFill>
                <a:srgbClr val="000000"/>
              </a:solidFill>
            </a:endParaRPr>
          </a:p>
          <a:p>
            <a:pPr>
              <a:defRPr sz="2000"/>
            </a:pPr>
          </a:p>
          <a:p>
            <a:pPr>
              <a:defRPr b="1" i="1" sz="2000">
                <a:solidFill>
                  <a:srgbClr val="C00000"/>
                </a:solidFill>
              </a:defRPr>
            </a:pPr>
            <a:r>
              <a:rPr b="0" i="0">
                <a:solidFill>
                  <a:srgbClr val="000000"/>
                </a:solidFill>
              </a:rPr>
              <a:t>Use data to deduce the relevant laws (parameters) for our experiment.</a:t>
            </a:r>
          </a:p>
        </p:txBody>
      </p:sp>
      <p:sp>
        <p:nvSpPr>
          <p:cNvPr id="158" name="Slide Number Placeholder 3"/>
          <p:cNvSpPr txBox="1"/>
          <p:nvPr>
            <p:ph type="sldNum" sz="quarter" idx="2"/>
          </p:nvPr>
        </p:nvSpPr>
        <p:spPr>
          <a:xfrm>
            <a:off x="11684000" y="6402746"/>
            <a:ext cx="284372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59" name="Two main foci:…"/>
          <p:cNvSpPr txBox="1"/>
          <p:nvPr/>
        </p:nvSpPr>
        <p:spPr>
          <a:xfrm>
            <a:off x="843542" y="3476807"/>
            <a:ext cx="8977596" cy="1154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b="1" sz="2000">
                <a:solidFill>
                  <a:srgbClr val="C00000"/>
                </a:solidFill>
              </a:defRPr>
            </a:pPr>
            <a:r>
              <a:t>Two main foci:</a:t>
            </a:r>
          </a:p>
          <a:p>
            <a:pPr marL="685800" indent="-228600">
              <a:lnSpc>
                <a:spcPct val="90000"/>
              </a:lnSpc>
              <a:spcBef>
                <a:spcPts val="1000"/>
              </a:spcBef>
              <a:buSzPct val="100000"/>
              <a:buChar char="-"/>
              <a:defRPr sz="2000"/>
            </a:pPr>
            <a:r>
              <a:rPr b="1"/>
              <a:t>Parameter estimation: </a:t>
            </a:r>
            <a:r>
              <a:t>Determine the numerical value of a physical quantity </a:t>
            </a:r>
          </a:p>
          <a:p>
            <a:pPr marL="685800" indent="-228600">
              <a:lnSpc>
                <a:spcPct val="90000"/>
              </a:lnSpc>
              <a:spcBef>
                <a:spcPts val="1000"/>
              </a:spcBef>
              <a:buSzPct val="100000"/>
              <a:buChar char="-"/>
              <a:defRPr sz="2000"/>
            </a:pPr>
            <a:r>
              <a:rPr b="1"/>
              <a:t>Hypothesis testing:</a:t>
            </a:r>
            <a:r>
              <a:t> Test whether a theory is consistent with our measured data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  <a:latin typeface="Carlito"/>
                <a:ea typeface="Carlito"/>
                <a:cs typeface="Carlito"/>
                <a:sym typeface="Carlito"/>
              </a:defRPr>
            </a:lvl1pPr>
          </a:lstStyle>
          <a:p>
            <a:pPr/>
            <a:r>
              <a:t>(2) Parameter estimation</a:t>
            </a:r>
          </a:p>
        </p:txBody>
      </p:sp>
      <p:sp>
        <p:nvSpPr>
          <p:cNvPr id="162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i="1" sz="2000">
                <a:solidFill>
                  <a:srgbClr val="C00000"/>
                </a:solidFill>
              </a:defRPr>
            </a:pPr>
            <a:r>
              <a:t>Use the data to determine a model parameter AND its associated uncertainty in an efficient and unbiased manner. </a:t>
            </a:r>
          </a:p>
          <a:p>
            <a:pPr>
              <a:defRPr sz="2000"/>
            </a:pPr>
            <a:r>
              <a:t>i.e. Use data to calculate/obtain a value for a free (unknown) parameter </a:t>
            </a:r>
          </a:p>
          <a:p>
            <a:pPr marL="685800" indent="-228600">
              <a:buSzPct val="100000"/>
              <a:buChar char="-"/>
              <a:defRPr sz="2000"/>
            </a:pPr>
            <a:r>
              <a:t>e.g. given a set of astrophysical distances what is the amount of matter in the Universe?</a:t>
            </a:r>
          </a:p>
          <a:p>
            <a:pPr algn="ctr">
              <a:defRPr sz="2000"/>
            </a:pPr>
            <a:r>
              <a:t>—</a:t>
            </a:r>
          </a:p>
          <a:p>
            <a:pPr>
              <a:defRPr sz="2000"/>
            </a:pPr>
            <a:r>
              <a:rPr i="1"/>
              <a:t>Unbiased</a:t>
            </a:r>
            <a:r>
              <a:t> = the planned method will, on average, give the correct result 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rPr i="1"/>
              <a:t>Efficient</a:t>
            </a:r>
            <a:r>
              <a:t> = Matching the experimental data and model to the analysis method. </a:t>
            </a:r>
          </a:p>
          <a:p>
            <a:pPr>
              <a:defRPr sz="2000"/>
            </a:pPr>
            <a:r>
              <a:t>Intricate and expensive methods are only necessary for complex models and datasets.</a:t>
            </a:r>
          </a:p>
        </p:txBody>
      </p:sp>
      <p:sp>
        <p:nvSpPr>
          <p:cNvPr id="163" name="Slide Number Placeholder 3"/>
          <p:cNvSpPr txBox="1"/>
          <p:nvPr>
            <p:ph type="sldNum" sz="quarter" idx="2"/>
          </p:nvPr>
        </p:nvSpPr>
        <p:spPr>
          <a:xfrm>
            <a:off x="11684000" y="6402746"/>
            <a:ext cx="284372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  <a:latin typeface="Carlito"/>
                <a:ea typeface="Carlito"/>
                <a:cs typeface="Carlito"/>
                <a:sym typeface="Carlito"/>
              </a:defRPr>
            </a:lvl1pPr>
          </a:lstStyle>
          <a:p>
            <a:pPr/>
            <a:r>
              <a:t>(3) Hypothesis testing</a:t>
            </a:r>
          </a:p>
        </p:txBody>
      </p:sp>
      <p:sp>
        <p:nvSpPr>
          <p:cNvPr id="166" name="Content Placeholder 2"/>
          <p:cNvSpPr txBox="1"/>
          <p:nvPr>
            <p:ph type="body" idx="1"/>
          </p:nvPr>
        </p:nvSpPr>
        <p:spPr>
          <a:xfrm>
            <a:off x="838200" y="1671132"/>
            <a:ext cx="10708062" cy="4401529"/>
          </a:xfrm>
          <a:prstGeom prst="rect">
            <a:avLst/>
          </a:prstGeom>
        </p:spPr>
        <p:txBody>
          <a:bodyPr/>
          <a:lstStyle/>
          <a:p>
            <a:pPr>
              <a:defRPr b="1" i="1" sz="2000">
                <a:solidFill>
                  <a:srgbClr val="C00000"/>
                </a:solidFill>
              </a:defRPr>
            </a:pPr>
            <a:r>
              <a:t>Determine whether our data is consistent with a specific hypothesis</a:t>
            </a:r>
          </a:p>
          <a:p>
            <a:pPr>
              <a:defRPr b="1" i="1" sz="2000">
                <a:solidFill>
                  <a:srgbClr val="C00000"/>
                </a:solidFill>
              </a:defRPr>
            </a:pPr>
            <a:r>
              <a:rPr b="0" i="0">
                <a:solidFill>
                  <a:srgbClr val="000000"/>
                </a:solidFill>
              </a:rPr>
              <a:t>Is the data we obtain in our experiment consistent with a given theory?  </a:t>
            </a:r>
            <a:endParaRPr b="0" i="0">
              <a:solidFill>
                <a:srgbClr val="000000"/>
              </a:solidFill>
            </a:endParaRPr>
          </a:p>
          <a:p>
            <a:pPr marL="685800" indent="-228600">
              <a:buSzPct val="100000"/>
              <a:buChar char="-"/>
              <a:defRPr b="1" i="1" sz="2000">
                <a:solidFill>
                  <a:srgbClr val="C00000"/>
                </a:solidFill>
              </a:defRPr>
            </a:pPr>
            <a:r>
              <a:rPr b="0" i="0">
                <a:solidFill>
                  <a:srgbClr val="000000"/>
                </a:solidFill>
              </a:rPr>
              <a:t>e.g. how does the measured energy spectrum compare with the prediction</a:t>
            </a:r>
            <a:endParaRPr b="0" i="0">
              <a:solidFill>
                <a:srgbClr val="000000"/>
              </a:solidFill>
            </a:endParaRPr>
          </a:p>
          <a:p>
            <a:pPr>
              <a:defRPr b="1" i="1" sz="2000">
                <a:solidFill>
                  <a:srgbClr val="C00000"/>
                </a:solidFill>
              </a:defRPr>
            </a:pPr>
            <a:endParaRPr b="0" i="0">
              <a:solidFill>
                <a:srgbClr val="000000"/>
              </a:solidFill>
            </a:endParaRPr>
          </a:p>
          <a:p>
            <a:pPr algn="ctr">
              <a:defRPr b="1" i="1" sz="2000">
                <a:solidFill>
                  <a:srgbClr val="C00000"/>
                </a:solidFill>
              </a:defRPr>
            </a:pPr>
            <a:r>
              <a:rPr b="0" i="0">
                <a:solidFill>
                  <a:srgbClr val="000000"/>
                </a:solidFill>
              </a:rPr>
              <a:t>—</a:t>
            </a:r>
          </a:p>
          <a:p>
            <a:pPr>
              <a:defRPr sz="2000"/>
            </a:pPr>
            <a:r>
              <a:t>Does not take the form of a simple “yes/no” answer.  </a:t>
            </a:r>
          </a:p>
          <a:p>
            <a:pPr>
              <a:defRPr sz="2000"/>
            </a:pPr>
            <a:r>
              <a:t>Answer will be yes or no accompanied by a statement of confidence. </a:t>
            </a:r>
          </a:p>
          <a:p>
            <a:pPr>
              <a:defRPr sz="2000"/>
            </a:pPr>
          </a:p>
          <a:p>
            <a:pPr>
              <a:defRPr b="1" i="1" sz="2000">
                <a:solidFill>
                  <a:srgbClr val="C00000"/>
                </a:solidFill>
              </a:defRPr>
            </a:pPr>
            <a:r>
              <a:t>Given multiple models, determine the model that best describes our measurements</a:t>
            </a:r>
          </a:p>
          <a:p>
            <a:pPr>
              <a:defRPr b="1" i="1" sz="2000">
                <a:solidFill>
                  <a:srgbClr val="C00000"/>
                </a:solidFill>
              </a:defRPr>
            </a:pPr>
          </a:p>
          <a:p>
            <a:pPr>
              <a:defRPr i="1" sz="2000">
                <a:solidFill>
                  <a:srgbClr val="C00000"/>
                </a:solidFill>
              </a:defRPr>
            </a:pPr>
            <a:r>
              <a:t>In the coming weeks we will explore several methods for hypothesis testing and parameter estimation. </a:t>
            </a:r>
          </a:p>
        </p:txBody>
      </p:sp>
      <p:sp>
        <p:nvSpPr>
          <p:cNvPr id="167" name="Slide Number Placeholder 3"/>
          <p:cNvSpPr txBox="1"/>
          <p:nvPr>
            <p:ph type="sldNum" sz="quarter" idx="2"/>
          </p:nvPr>
        </p:nvSpPr>
        <p:spPr>
          <a:xfrm>
            <a:off x="11684000" y="6402746"/>
            <a:ext cx="284372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C00000"/>
                </a:solidFill>
              </a:defRPr>
            </a:lvl1pPr>
          </a:lstStyle>
          <a:p>
            <a:pPr/>
            <a:r>
              <a:t>Getting started: What is a measurement? </a:t>
            </a:r>
          </a:p>
        </p:txBody>
      </p:sp>
      <p:sp>
        <p:nvSpPr>
          <p:cNvPr id="172" name="Content Placeholder 2"/>
          <p:cNvSpPr txBox="1"/>
          <p:nvPr>
            <p:ph type="body" sz="quarter" idx="1"/>
          </p:nvPr>
        </p:nvSpPr>
        <p:spPr>
          <a:xfrm>
            <a:off x="838200" y="1632509"/>
            <a:ext cx="10515600" cy="685435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  <a:defRPr b="1" i="1" sz="2000">
                <a:solidFill>
                  <a:srgbClr val="C00000"/>
                </a:solidFill>
              </a:defRPr>
            </a:lvl1pPr>
          </a:lstStyle>
          <a:p>
            <a:pPr/>
            <a:r>
              <a:t>Repeating an experiment doesn’t always give the same result.  Variation in the experiment will produce a distribution of answers.</a:t>
            </a:r>
          </a:p>
        </p:txBody>
      </p:sp>
      <p:sp>
        <p:nvSpPr>
          <p:cNvPr id="173" name="Slide Number Placeholder 3"/>
          <p:cNvSpPr txBox="1"/>
          <p:nvPr>
            <p:ph type="sldNum" sz="quarter" idx="2"/>
          </p:nvPr>
        </p:nvSpPr>
        <p:spPr>
          <a:xfrm>
            <a:off x="11684000" y="6398513"/>
            <a:ext cx="284372" cy="2807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74" name="Equation"/>
          <p:cNvSpPr txBox="1"/>
          <p:nvPr/>
        </p:nvSpPr>
        <p:spPr>
          <a:xfrm>
            <a:off x="2606515" y="2380990"/>
            <a:ext cx="5306804" cy="27869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[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26,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24,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26,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28,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23,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24,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25,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24,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26,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25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]</m:t>
                  </m:r>
                </m:oMath>
              </m:oMathPara>
            </a14:m>
            <a:endParaRPr sz="2600"/>
          </a:p>
        </p:txBody>
      </p:sp>
      <p:sp>
        <p:nvSpPr>
          <p:cNvPr id="175" name="In previous years, you have learnt that multiple measurements can be summarised through:"/>
          <p:cNvSpPr txBox="1"/>
          <p:nvPr/>
        </p:nvSpPr>
        <p:spPr>
          <a:xfrm>
            <a:off x="1131870" y="3002142"/>
            <a:ext cx="9558076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000"/>
            </a:lvl1pPr>
          </a:lstStyle>
          <a:p>
            <a:pPr/>
            <a:r>
              <a:t>In previous years, you have learnt that multiple measurements can be summarised through:</a:t>
            </a:r>
          </a:p>
        </p:txBody>
      </p:sp>
      <p:sp>
        <p:nvSpPr>
          <p:cNvPr id="176" name="Equation"/>
          <p:cNvSpPr txBox="1"/>
          <p:nvPr/>
        </p:nvSpPr>
        <p:spPr>
          <a:xfrm>
            <a:off x="1183207" y="3516515"/>
            <a:ext cx="1444009" cy="87625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limUpp>
                    <m:e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lim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̂</m:t>
                      </m:r>
                    </m:lim>
                  </m:limUpp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nary>
                        <m:naryPr>
                          <m:ctrlPr>
                            <a:rPr xmlns:a="http://schemas.openxmlformats.org/drawingml/2006/main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chr m:val="∑"/>
                          <m:limLoc m:val="subSup"/>
                          <m:grow m:val="1"/>
                          <m:subHide m:val="off"/>
                          <m:supHide m:val="off"/>
                        </m:naryPr>
                        <m:sub>
                          <m:r>
                            <a:rPr xmlns:a="http://schemas.openxmlformats.org/drawingml/2006/main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a:rPr xmlns:a="http://schemas.openxmlformats.org/drawingml/2006/main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xmlns:a="http://schemas.openxmlformats.org/drawingml/2006/mai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xmlns:a="http://schemas.openxmlformats.org/drawingml/2006/mai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</m:num>
                    <m:den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den>
                  </m:f>
                </m:oMath>
              </m:oMathPara>
            </a14:m>
            <a:endParaRPr sz="2600"/>
          </a:p>
        </p:txBody>
      </p:sp>
      <p:sp>
        <p:nvSpPr>
          <p:cNvPr id="177" name="Equation"/>
          <p:cNvSpPr txBox="1"/>
          <p:nvPr/>
        </p:nvSpPr>
        <p:spPr>
          <a:xfrm>
            <a:off x="4437402" y="3516515"/>
            <a:ext cx="2687254" cy="101536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ad>
                    <m:radPr>
                      <m:ctrlP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degHide m:val="on"/>
                    </m:radPr>
                    <m:deg/>
                    <m:e>
                      <m:f>
                        <m:fPr>
                          <m:ctrlPr>
                            <a:rPr xmlns:a="http://schemas.openxmlformats.org/drawingml/2006/main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type m:val="bar"/>
                        </m:fPr>
                        <m:num>
                          <m:sSubSup>
                            <m:e>
                              <m:r>
                                <a:rPr xmlns:a="http://schemas.openxmlformats.org/drawingml/2006/mai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sub>
                              <m:r>
                                <a:rPr xmlns:a="http://schemas.openxmlformats.org/drawingml/2006/mai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a:rPr xmlns:a="http://schemas.openxmlformats.org/drawingml/2006/mai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</m:sSubSup>
                          <m:r>
                            <a:rPr xmlns:a="http://schemas.openxmlformats.org/drawingml/2006/main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e>
                              <m:r>
                                <a:rPr xmlns:a="http://schemas.openxmlformats.org/drawingml/2006/mai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xmlns:a="http://schemas.openxmlformats.org/drawingml/2006/mai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xmlns:a="http://schemas.openxmlformats.org/drawingml/2006/main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-</m:t>
                          </m:r>
                          <m:limUpp>
                            <m:e>
                              <m:r>
                                <a:rPr xmlns:a="http://schemas.openxmlformats.org/drawingml/2006/mai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lim>
                              <m:r>
                                <a:rPr xmlns:a="http://schemas.openxmlformats.org/drawingml/2006/mai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̂</m:t>
                              </m:r>
                            </m:lim>
                          </m:limUpp>
                          <m:sSup>
                            <m:e>
                              <m:r>
                                <a:rPr xmlns:a="http://schemas.openxmlformats.org/drawingml/2006/mai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xmlns:a="http://schemas.openxmlformats.org/drawingml/2006/mai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xmlns:a="http://schemas.openxmlformats.org/drawingml/2006/main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</m:e>
                  </m:rad>
                </m:oMath>
              </m:oMathPara>
            </a14:m>
            <a:endParaRPr sz="2600"/>
          </a:p>
        </p:txBody>
      </p:sp>
      <p:sp>
        <p:nvSpPr>
          <p:cNvPr id="178" name="mean: ‘most likely value’"/>
          <p:cNvSpPr txBox="1"/>
          <p:nvPr/>
        </p:nvSpPr>
        <p:spPr>
          <a:xfrm>
            <a:off x="879888" y="4642572"/>
            <a:ext cx="2648233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1000"/>
              </a:spcBef>
              <a:buFont typeface="Arial"/>
              <a:defRPr sz="2000">
                <a:solidFill>
                  <a:schemeClr val="accent1">
                    <a:satOff val="-3547"/>
                    <a:lumOff val="-10352"/>
                  </a:schemeClr>
                </a:solidFill>
              </a:defRPr>
            </a:lvl1pPr>
          </a:lstStyle>
          <a:p>
            <a:pPr/>
            <a:r>
              <a:t>mean: ‘most likely value’</a:t>
            </a:r>
          </a:p>
        </p:txBody>
      </p:sp>
      <p:sp>
        <p:nvSpPr>
          <p:cNvPr id="179" name="standard deviation: ‘dispersion’"/>
          <p:cNvSpPr txBox="1"/>
          <p:nvPr/>
        </p:nvSpPr>
        <p:spPr>
          <a:xfrm>
            <a:off x="4246950" y="4642572"/>
            <a:ext cx="333123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1000"/>
              </a:spcBef>
              <a:buFont typeface="Arial"/>
              <a:defRPr sz="2000">
                <a:solidFill>
                  <a:schemeClr val="accent1">
                    <a:satOff val="-3547"/>
                    <a:lumOff val="-10352"/>
                  </a:schemeClr>
                </a:solidFill>
              </a:defRPr>
            </a:lvl1pPr>
          </a:lstStyle>
          <a:p>
            <a:pPr/>
            <a:r>
              <a:t>standard deviation: ‘dispersion’</a:t>
            </a:r>
          </a:p>
        </p:txBody>
      </p:sp>
      <p:sp>
        <p:nvSpPr>
          <p:cNvPr id="180" name="As we are testing physical systems there is a ground-truth. The values we measure are drawn from an underlying distribution.…"/>
          <p:cNvSpPr txBox="1"/>
          <p:nvPr/>
        </p:nvSpPr>
        <p:spPr>
          <a:xfrm>
            <a:off x="838200" y="5388716"/>
            <a:ext cx="10515601" cy="1076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buFont typeface="Arial"/>
              <a:defRPr sz="2000"/>
            </a:pPr>
            <a:r>
              <a:t>As we are testing physical systems there is a ground-truth. The values we measure are drawn from an underlying </a:t>
            </a:r>
            <a:r>
              <a:rPr b="1" u="sng"/>
              <a:t>distribution.</a:t>
            </a:r>
          </a:p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  <a:r>
              <a:t>There are many different distributions (see next week) depending on what is being tested and how</a:t>
            </a:r>
          </a:p>
        </p:txBody>
      </p:sp>
      <p:sp>
        <p:nvSpPr>
          <p:cNvPr id="181" name="Equation"/>
          <p:cNvSpPr txBox="1"/>
          <p:nvPr/>
        </p:nvSpPr>
        <p:spPr>
          <a:xfrm>
            <a:off x="8934842" y="3516515"/>
            <a:ext cx="1290150" cy="80760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m:rPr>
                      <m:nor/>
                    </m:rP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se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sSub>
                        <m:e>
                          <m:r>
                            <a:rPr xmlns:a="http://schemas.openxmlformats.org/drawingml/2006/main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xmlns:a="http://schemas.openxmlformats.org/drawingml/2006/main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</m:num>
                    <m:den>
                      <m:rad>
                        <m:radPr>
                          <m:ctrlPr>
                            <a:rPr xmlns:a="http://schemas.openxmlformats.org/drawingml/2006/main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degHide m:val="on"/>
                        </m:radPr>
                        <m:deg/>
                        <m:e>
                          <m:r>
                            <a:rPr xmlns:a="http://schemas.openxmlformats.org/drawingml/2006/main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rad>
                    </m:den>
                  </m:f>
                </m:oMath>
              </m:oMathPara>
            </a14:m>
            <a:endParaRPr sz="2600"/>
          </a:p>
        </p:txBody>
      </p:sp>
      <p:sp>
        <p:nvSpPr>
          <p:cNvPr id="182" name="standard error on mean"/>
          <p:cNvSpPr txBox="1"/>
          <p:nvPr/>
        </p:nvSpPr>
        <p:spPr>
          <a:xfrm>
            <a:off x="8559155" y="4642572"/>
            <a:ext cx="2557324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1000"/>
              </a:spcBef>
              <a:buFont typeface="Arial"/>
              <a:defRPr sz="2000">
                <a:solidFill>
                  <a:schemeClr val="accent1">
                    <a:satOff val="-3547"/>
                    <a:lumOff val="-10352"/>
                  </a:schemeClr>
                </a:solidFill>
              </a:defRPr>
            </a:lvl1pPr>
          </a:lstStyle>
          <a:p>
            <a:pPr/>
            <a:r>
              <a:t>standard error on mean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C00000"/>
                </a:solidFill>
              </a:defRPr>
            </a:lvl1pPr>
          </a:lstStyle>
          <a:p>
            <a:pPr/>
            <a:r>
              <a:t>Distributions </a:t>
            </a:r>
          </a:p>
        </p:txBody>
      </p:sp>
      <p:sp>
        <p:nvSpPr>
          <p:cNvPr id="185" name="Content Placeholder 2"/>
          <p:cNvSpPr txBox="1"/>
          <p:nvPr>
            <p:ph type="body" sz="quarter" idx="1"/>
          </p:nvPr>
        </p:nvSpPr>
        <p:spPr>
          <a:xfrm>
            <a:off x="838200" y="1543609"/>
            <a:ext cx="10515600" cy="685435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  <a:defRPr b="1" i="1" sz="2000">
                <a:solidFill>
                  <a:srgbClr val="C00000"/>
                </a:solidFill>
              </a:defRPr>
            </a:lvl1pPr>
          </a:lstStyle>
          <a:p>
            <a:pPr/>
            <a:r>
              <a:t>In physics, values and functions are rarely discrete, they are continuous</a:t>
            </a:r>
          </a:p>
        </p:txBody>
      </p:sp>
      <p:sp>
        <p:nvSpPr>
          <p:cNvPr id="186" name="Slide Number Placeholder 3"/>
          <p:cNvSpPr txBox="1"/>
          <p:nvPr>
            <p:ph type="sldNum" sz="quarter" idx="2"/>
          </p:nvPr>
        </p:nvSpPr>
        <p:spPr>
          <a:xfrm>
            <a:off x="11684000" y="6398513"/>
            <a:ext cx="284372" cy="2807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7" name="frequency = fraction of measurements in each bin"/>
          <p:cNvSpPr txBox="1"/>
          <p:nvPr/>
        </p:nvSpPr>
        <p:spPr>
          <a:xfrm>
            <a:off x="6611239" y="5917559"/>
            <a:ext cx="5228913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/>
            </a:lvl1pPr>
          </a:lstStyle>
          <a:p>
            <a:pPr/>
            <a:r>
              <a:t>frequency = fraction of measurements in each bin</a:t>
            </a:r>
          </a:p>
        </p:txBody>
      </p:sp>
      <p:pic>
        <p:nvPicPr>
          <p:cNvPr id="188" name="small_hist.png" descr="small_hist.png"/>
          <p:cNvPicPr>
            <a:picLocks noChangeAspect="1"/>
          </p:cNvPicPr>
          <p:nvPr/>
        </p:nvPicPr>
        <p:blipFill>
          <a:blip r:embed="rId3">
            <a:extLst/>
          </a:blip>
          <a:srcRect l="172" t="0" r="172" b="0"/>
          <a:stretch>
            <a:fillRect/>
          </a:stretch>
        </p:blipFill>
        <p:spPr>
          <a:xfrm>
            <a:off x="592322" y="2108212"/>
            <a:ext cx="5149958" cy="3664628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big_hist.png" descr="big_hist.png"/>
          <p:cNvPicPr>
            <a:picLocks noChangeAspect="1"/>
          </p:cNvPicPr>
          <p:nvPr/>
        </p:nvPicPr>
        <p:blipFill>
          <a:blip r:embed="rId4">
            <a:extLst/>
          </a:blip>
          <a:srcRect l="449" t="0" r="449" b="0"/>
          <a:stretch>
            <a:fillRect/>
          </a:stretch>
        </p:blipFill>
        <p:spPr>
          <a:xfrm>
            <a:off x="6394531" y="2127596"/>
            <a:ext cx="5149851" cy="3625978"/>
          </a:xfrm>
          <a:prstGeom prst="rect">
            <a:avLst/>
          </a:prstGeom>
          <a:ln w="12700">
            <a:miter lim="400000"/>
          </a:ln>
        </p:spPr>
      </p:pic>
      <p:sp>
        <p:nvSpPr>
          <p:cNvPr id="190" name="counts = number of measurements in each bin"/>
          <p:cNvSpPr txBox="1"/>
          <p:nvPr/>
        </p:nvSpPr>
        <p:spPr>
          <a:xfrm>
            <a:off x="958658" y="5917559"/>
            <a:ext cx="4896406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/>
            </a:lvl1pPr>
          </a:lstStyle>
          <a:p>
            <a:pPr/>
            <a:r>
              <a:t>counts = number of measurements in each bin</a:t>
            </a:r>
          </a:p>
        </p:txBody>
      </p:sp>
      <p:sp>
        <p:nvSpPr>
          <p:cNvPr id="191" name="area under the curve sums to 1"/>
          <p:cNvSpPr txBox="1"/>
          <p:nvPr/>
        </p:nvSpPr>
        <p:spPr>
          <a:xfrm>
            <a:off x="7806271" y="6253981"/>
            <a:ext cx="3327188" cy="352883"/>
          </a:xfrm>
          <a:prstGeom prst="rect">
            <a:avLst/>
          </a:prstGeom>
          <a:ln w="12700">
            <a:solidFill>
              <a:srgbClr val="A7A7A7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/>
            </a:lvl1pPr>
          </a:lstStyle>
          <a:p>
            <a:pPr/>
            <a:r>
              <a:t>area under the curve sums to 1</a:t>
            </a:r>
          </a:p>
        </p:txBody>
      </p:sp>
      <p:sp>
        <p:nvSpPr>
          <p:cNvPr id="192" name="area under the curve sums to total(counts)"/>
          <p:cNvSpPr txBox="1"/>
          <p:nvPr/>
        </p:nvSpPr>
        <p:spPr>
          <a:xfrm>
            <a:off x="1557940" y="6253981"/>
            <a:ext cx="4519177" cy="352883"/>
          </a:xfrm>
          <a:prstGeom prst="rect">
            <a:avLst/>
          </a:prstGeom>
          <a:ln w="12700">
            <a:solidFill>
              <a:srgbClr val="A7A7A7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/>
            </a:lvl1pPr>
          </a:lstStyle>
          <a:p>
            <a:pPr/>
            <a:r>
              <a:t>area under the curve sums to total(counts)</a:t>
            </a:r>
          </a:p>
        </p:txBody>
      </p:sp>
      <p:sp>
        <p:nvSpPr>
          <p:cNvPr id="193" name="Rectangle"/>
          <p:cNvSpPr/>
          <p:nvPr/>
        </p:nvSpPr>
        <p:spPr>
          <a:xfrm>
            <a:off x="6541009" y="2173094"/>
            <a:ext cx="355092" cy="348418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94" name="0.04"/>
          <p:cNvSpPr txBox="1"/>
          <p:nvPr/>
        </p:nvSpPr>
        <p:spPr>
          <a:xfrm>
            <a:off x="6531385" y="2232527"/>
            <a:ext cx="374339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/>
            </a:lvl1pPr>
          </a:lstStyle>
          <a:p>
            <a:pPr/>
            <a:r>
              <a:t>0.04</a:t>
            </a:r>
          </a:p>
        </p:txBody>
      </p:sp>
      <p:sp>
        <p:nvSpPr>
          <p:cNvPr id="195" name="0.02"/>
          <p:cNvSpPr txBox="1"/>
          <p:nvPr/>
        </p:nvSpPr>
        <p:spPr>
          <a:xfrm>
            <a:off x="6531385" y="3730771"/>
            <a:ext cx="374339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/>
            </a:lvl1pPr>
          </a:lstStyle>
          <a:p>
            <a:pPr/>
            <a:r>
              <a:t>0.02</a:t>
            </a:r>
          </a:p>
        </p:txBody>
      </p:sp>
      <p:sp>
        <p:nvSpPr>
          <p:cNvPr id="196" name="0.0"/>
          <p:cNvSpPr txBox="1"/>
          <p:nvPr/>
        </p:nvSpPr>
        <p:spPr>
          <a:xfrm>
            <a:off x="6569485" y="5229015"/>
            <a:ext cx="297097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/>
            </a:lvl1pPr>
          </a:lstStyle>
          <a:p>
            <a:pPr/>
            <a:r>
              <a:t>0.0</a:t>
            </a:r>
          </a:p>
        </p:txBody>
      </p:sp>
      <p:sp>
        <p:nvSpPr>
          <p:cNvPr id="197" name="0.01"/>
          <p:cNvSpPr txBox="1"/>
          <p:nvPr/>
        </p:nvSpPr>
        <p:spPr>
          <a:xfrm>
            <a:off x="6531385" y="4479893"/>
            <a:ext cx="374339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/>
            </a:lvl1pPr>
          </a:lstStyle>
          <a:p>
            <a:pPr/>
            <a:r>
              <a:t>0.01</a:t>
            </a:r>
          </a:p>
        </p:txBody>
      </p:sp>
      <p:sp>
        <p:nvSpPr>
          <p:cNvPr id="198" name="0.03"/>
          <p:cNvSpPr txBox="1"/>
          <p:nvPr/>
        </p:nvSpPr>
        <p:spPr>
          <a:xfrm>
            <a:off x="6531385" y="2981649"/>
            <a:ext cx="374339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/>
            </a:lvl1pPr>
          </a:lstStyle>
          <a:p>
            <a:pPr/>
            <a:r>
              <a:t>0.03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"/>
          <p:cNvSpPr/>
          <p:nvPr/>
        </p:nvSpPr>
        <p:spPr>
          <a:xfrm>
            <a:off x="846826" y="4935175"/>
            <a:ext cx="3689441" cy="930091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03" name="Rectangle"/>
          <p:cNvSpPr/>
          <p:nvPr/>
        </p:nvSpPr>
        <p:spPr>
          <a:xfrm>
            <a:off x="846826" y="3210611"/>
            <a:ext cx="3689441" cy="930091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0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C00000"/>
                </a:solidFill>
              </a:defRPr>
            </a:lvl1pPr>
          </a:lstStyle>
          <a:p>
            <a:pPr/>
            <a:r>
              <a:t>Probability density function (pdf)</a:t>
            </a:r>
          </a:p>
        </p:txBody>
      </p:sp>
      <p:sp>
        <p:nvSpPr>
          <p:cNvPr id="205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2000"/>
            </a:pPr>
            <a:r>
              <a:t>Consider a continuous function </a:t>
            </a:r>
            <a14:m>
              <m:oMath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</a:p>
          <a:p>
            <a:pPr marL="0" indent="0">
              <a:buSzTx/>
              <a:buNone/>
              <a:defRPr sz="2000"/>
            </a:pPr>
            <a:r>
              <a:t>The probability density function is defined as the probability that the variate has a given value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</m:oMath>
            </a14:m>
          </a:p>
          <a:p>
            <a:pPr marL="0" indent="0">
              <a:buSzTx/>
              <a:buNone/>
              <a:defRPr sz="2000"/>
            </a:pPr>
            <a:r>
              <a:t>This is often expressed as the integral between two points</a:t>
            </a:r>
          </a:p>
          <a:p>
            <a:pPr marL="0" indent="0">
              <a:buSzTx/>
              <a:buNone/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</a:p>
          <a:p>
            <a:pPr marL="0" indent="0">
              <a:buSzTx/>
              <a:buNone/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</a:p>
          <a:p>
            <a:pPr marL="0" indent="0">
              <a:buSzTx/>
              <a:buNone/>
              <a:defRPr sz="2000"/>
            </a:pPr>
          </a:p>
          <a:p>
            <a:pPr marL="0" indent="0">
              <a:buSzTx/>
              <a:buNone/>
              <a:defRPr sz="2000"/>
            </a:pPr>
            <a:r>
              <a:t>The function must be normalised such that </a:t>
            </a:r>
          </a:p>
        </p:txBody>
      </p:sp>
      <p:sp>
        <p:nvSpPr>
          <p:cNvPr id="206" name="Slide Number Placeholder 3"/>
          <p:cNvSpPr txBox="1"/>
          <p:nvPr>
            <p:ph type="sldNum" sz="quarter" idx="2"/>
          </p:nvPr>
        </p:nvSpPr>
        <p:spPr>
          <a:xfrm>
            <a:off x="11684000" y="6398513"/>
            <a:ext cx="284372" cy="2807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07" name="A normalised histogram approaches the PDF…"/>
          <p:cNvSpPr txBox="1"/>
          <p:nvPr/>
        </p:nvSpPr>
        <p:spPr>
          <a:xfrm>
            <a:off x="6065026" y="3881129"/>
            <a:ext cx="4837867" cy="747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b="1" i="1" sz="2000">
                <a:solidFill>
                  <a:srgbClr val="C00000"/>
                </a:solidFill>
              </a:defRPr>
            </a:pPr>
            <a:r>
              <a:t>A normalised histogram approaches the PDF 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  <a:buFont typeface="Arial"/>
              <a:defRPr b="1" i="1" sz="2000">
                <a:solidFill>
                  <a:srgbClr val="C00000"/>
                </a:solidFill>
              </a:defRPr>
            </a:pPr>
            <a:r>
              <a:t>when the variable is continuous</a:t>
            </a:r>
          </a:p>
        </p:txBody>
      </p:sp>
      <p:sp>
        <p:nvSpPr>
          <p:cNvPr id="208" name="We use the PDF to estimate the probability…"/>
          <p:cNvSpPr txBox="1"/>
          <p:nvPr/>
        </p:nvSpPr>
        <p:spPr>
          <a:xfrm>
            <a:off x="6150044" y="5185953"/>
            <a:ext cx="4667831" cy="747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/>
              <a:defRPr b="1" i="1" sz="2000">
                <a:solidFill>
                  <a:srgbClr val="C00000"/>
                </a:solidFill>
              </a:defRPr>
            </a:pPr>
            <a:r>
              <a:t>We use the PDF to estimate the probability 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  <a:buFont typeface="Arial"/>
              <a:defRPr b="1" i="1" sz="2000">
                <a:solidFill>
                  <a:srgbClr val="C00000"/>
                </a:solidFill>
              </a:defRPr>
            </a:pPr>
            <a:r>
              <a:t>that a variable falls in a given range</a:t>
            </a:r>
          </a:p>
        </p:txBody>
      </p:sp>
      <p:sp>
        <p:nvSpPr>
          <p:cNvPr id="209" name="Equation"/>
          <p:cNvSpPr txBox="1"/>
          <p:nvPr/>
        </p:nvSpPr>
        <p:spPr>
          <a:xfrm>
            <a:off x="1021563" y="3255592"/>
            <a:ext cx="3201512" cy="81472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bSup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sub>
                    <m:sup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sup>
                  </m:sSubSup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d>
                    <m:d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["/>
                      <m:endChr m:val="]"/>
                    </m:dPr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e>
                  </m:d>
                </m:oMath>
              </m:oMathPara>
            </a14:m>
            <a:endParaRPr sz="2400"/>
          </a:p>
        </p:txBody>
      </p:sp>
      <p:sp>
        <p:nvSpPr>
          <p:cNvPr id="210" name="Equation"/>
          <p:cNvSpPr txBox="1"/>
          <p:nvPr/>
        </p:nvSpPr>
        <p:spPr>
          <a:xfrm>
            <a:off x="1052438" y="4992856"/>
            <a:ext cx="1701931" cy="81472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bSup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sub>
                    <m:sup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sup>
                  </m:sSubSup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</m:t>
                  </m:r>
                </m:oMath>
              </m:oMathPara>
            </a14:m>
            <a:endParaRPr sz="24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C00000"/>
                </a:solidFill>
              </a:defRPr>
            </a:lvl1pPr>
          </a:lstStyle>
          <a:p>
            <a:pPr/>
            <a:r>
              <a:t>Cumulative density function (cdf)</a:t>
            </a:r>
          </a:p>
        </p:txBody>
      </p:sp>
      <p:sp>
        <p:nvSpPr>
          <p:cNvPr id="213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2000"/>
            </a:pPr>
            <a:r>
              <a:t>Tells us the percentile that a parameter value represents</a:t>
            </a:r>
          </a:p>
          <a:p>
            <a:pPr marL="0" indent="0">
              <a:buSzTx/>
              <a:buNone/>
              <a:defRPr sz="2000"/>
            </a:pPr>
          </a:p>
          <a:p>
            <a:pPr marL="0" indent="0">
              <a:buSzTx/>
              <a:buNone/>
              <a:defRPr sz="2000"/>
            </a:pPr>
          </a:p>
          <a:p>
            <a:pPr marL="0" indent="0">
              <a:buSzTx/>
              <a:buNone/>
              <a:defRPr sz="2000"/>
            </a:pPr>
          </a:p>
        </p:txBody>
      </p:sp>
      <p:sp>
        <p:nvSpPr>
          <p:cNvPr id="214" name="Slide Number Placeholder 3"/>
          <p:cNvSpPr txBox="1"/>
          <p:nvPr>
            <p:ph type="sldNum" sz="quarter" idx="2"/>
          </p:nvPr>
        </p:nvSpPr>
        <p:spPr>
          <a:xfrm>
            <a:off x="11684000" y="6398513"/>
            <a:ext cx="284372" cy="2807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15" name="Equation"/>
          <p:cNvSpPr txBox="1"/>
          <p:nvPr/>
        </p:nvSpPr>
        <p:spPr>
          <a:xfrm>
            <a:off x="1061661" y="2525550"/>
            <a:ext cx="2579476" cy="87887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′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Sup>
                    <m:e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m:rPr>
                          <m:sty m:val="p"/>
                        </m:rP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sub>
                    <m:sup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sup>
                  </m:sSubSup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</m:oMath>
              </m:oMathPara>
            </a14:m>
            <a:endParaRPr sz="2600"/>
          </a:p>
        </p:txBody>
      </p:sp>
      <p:sp>
        <p:nvSpPr>
          <p:cNvPr id="216" name="i.e.   means that 60% of the probability lies"/>
          <p:cNvSpPr txBox="1"/>
          <p:nvPr/>
        </p:nvSpPr>
        <p:spPr>
          <a:xfrm>
            <a:off x="912332" y="3839633"/>
            <a:ext cx="6293902" cy="389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  <a:r>
              <a:t>i.e. </a:t>
            </a:r>
            <a14:m>
              <m:oMath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′</m:t>
                </m:r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0.6</m:t>
                </m:r>
              </m:oMath>
            </a14:m>
            <a:r>
              <a:t> means that 60% of the probability lies </a:t>
            </a:r>
            <a14:m>
              <m:oMath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≤</m:t>
                </m:r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′</m:t>
                </m:r>
              </m:oMath>
            </a14:m>
          </a:p>
        </p:txBody>
      </p:sp>
      <p:sp>
        <p:nvSpPr>
          <p:cNvPr id="217" name="So the CDF returns the expected probability of observing a value less than or equal to the given value"/>
          <p:cNvSpPr txBox="1"/>
          <p:nvPr/>
        </p:nvSpPr>
        <p:spPr>
          <a:xfrm>
            <a:off x="895977" y="4664376"/>
            <a:ext cx="10501646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000"/>
            </a:lvl1pPr>
          </a:lstStyle>
          <a:p>
            <a:pPr/>
            <a:r>
              <a:t>So the CDF returns the expected probability of observing a value less than or equal to the given value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C00000"/>
                </a:solidFill>
              </a:defRPr>
            </a:lvl1pPr>
          </a:lstStyle>
          <a:p>
            <a:pPr/>
            <a:r>
              <a:t>Expectation values</a:t>
            </a:r>
          </a:p>
        </p:txBody>
      </p:sp>
      <p:sp>
        <p:nvSpPr>
          <p:cNvPr id="220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 i="1" sz="2000">
                <a:solidFill>
                  <a:srgbClr val="C00000"/>
                </a:solidFill>
              </a:defRPr>
            </a:pPr>
            <a:r>
              <a:t>Discrete distribution of variable </a:t>
            </a:r>
            <a14:m>
              <m:oMath>
                <m:r>
                  <a:rPr xmlns:a="http://schemas.openxmlformats.org/drawingml/2006/main" sz="200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𝒙</m:t>
                </m:r>
              </m:oMath>
            </a14:m>
            <a:r>
              <a:t>:</a:t>
            </a:r>
          </a:p>
          <a:p>
            <a:pPr marL="0" indent="0">
              <a:buSzTx/>
              <a:buNone/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</a:p>
          <a:p>
            <a:pPr lvl="8" indent="3911600">
              <a:defRPr sz="2000"/>
            </a:pPr>
            <a:r>
              <a:t>where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𝑃</m:t>
                </m:r>
                <m:d>
                  <m:d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sSub>
                      <m:e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xmlns:a="http://schemas.openxmlformats.org/drawingml/2006/ma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e>
                </m:d>
              </m:oMath>
            </a14:m>
            <a:r>
              <a:t> is the probability that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</m:oMath>
            </a14:m>
            <a:r>
              <a:t> has the value </a:t>
            </a:r>
            <a14:m>
              <m:oMath>
                <m:sSub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e>
                  <m:sub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sub>
                </m:sSub>
              </m:oMath>
            </a14:m>
          </a:p>
          <a:p>
            <a:pPr marL="0" indent="0">
              <a:buSzTx/>
              <a:buNone/>
              <a:defRPr sz="2000"/>
            </a:pPr>
          </a:p>
          <a:p>
            <a:pPr marL="0" indent="0">
              <a:buSzTx/>
              <a:buNone/>
              <a:defRPr b="1" i="1" sz="2000">
                <a:solidFill>
                  <a:srgbClr val="C00000"/>
                </a:solidFill>
              </a:defRPr>
            </a:pPr>
            <a:r>
              <a:t>Continuous distribution of variable</a:t>
            </a:r>
            <a:r>
              <a:rPr i="0"/>
              <a:t> </a:t>
            </a:r>
            <a14:m>
              <m:oMath>
                <m:r>
                  <a:rPr xmlns:a="http://schemas.openxmlformats.org/drawingml/2006/main" sz="200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𝒙</m:t>
                </m:r>
              </m:oMath>
            </a14:m>
            <a:r>
              <a:t>:</a:t>
            </a:r>
          </a:p>
          <a:p>
            <a:pPr marL="0" indent="0">
              <a:buSzTx/>
              <a:buNone/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</a:p>
          <a:p>
            <a:pPr marL="0" indent="0">
              <a:buSzTx/>
              <a:buNone/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</a:p>
          <a:p>
            <a:pPr lvl="8" indent="3911600">
              <a:defRPr sz="2000"/>
            </a:pPr>
            <a:r>
              <a:t>where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𝑓</m:t>
                </m:r>
                <m:d>
                  <m:d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e>
                </m:d>
              </m:oMath>
            </a14:m>
            <a:r>
              <a:t> is the probability density function </a:t>
            </a:r>
          </a:p>
          <a:p>
            <a:pPr marL="0" indent="0">
              <a:buSzTx/>
              <a:buNone/>
              <a:defRPr sz="2000"/>
            </a:pPr>
          </a:p>
          <a:p>
            <a:pPr marL="0" indent="0">
              <a:buSzTx/>
              <a:buNone/>
              <a:defRPr b="1" i="1" sz="2000">
                <a:solidFill>
                  <a:srgbClr val="C00000"/>
                </a:solidFill>
              </a:defRPr>
            </a:pPr>
            <a:r>
              <a:t>This is the formal definition for the mean as </a:t>
            </a:r>
            <a14:m>
              <m:oMath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→</m:t>
                </m:r>
                <m:r>
                  <m:rPr>
                    <m:sty m:val="p"/>
                  </m:rP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∞</m:t>
                </m:r>
              </m:oMath>
            </a14:m>
          </a:p>
        </p:txBody>
      </p:sp>
      <p:sp>
        <p:nvSpPr>
          <p:cNvPr id="221" name="Slide Number Placeholder 3"/>
          <p:cNvSpPr txBox="1"/>
          <p:nvPr>
            <p:ph type="sldNum" sz="quarter" idx="2"/>
          </p:nvPr>
        </p:nvSpPr>
        <p:spPr>
          <a:xfrm>
            <a:off x="11684000" y="6398513"/>
            <a:ext cx="284372" cy="2807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22" name="Equation"/>
          <p:cNvSpPr txBox="1"/>
          <p:nvPr/>
        </p:nvSpPr>
        <p:spPr>
          <a:xfrm>
            <a:off x="4930685" y="1655181"/>
            <a:ext cx="2330630" cy="88644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Upp>
                    <m:e>
                      <m:limLow>
                        <m:e>
                          <m:r>
                            <a:rPr xmlns:a="http://schemas.openxmlformats.org/drawingml/2006/main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xmlns:a="http://schemas.openxmlformats.org/drawingml/2006/main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lim>
                      </m:limLow>
                    </m:e>
                    <m:lim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lim>
                  </m:limUpp>
                  <m:sSub>
                    <m:e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 sz="2600"/>
          </a:p>
        </p:txBody>
      </p:sp>
      <p:sp>
        <p:nvSpPr>
          <p:cNvPr id="223" name="Equation"/>
          <p:cNvSpPr txBox="1"/>
          <p:nvPr/>
        </p:nvSpPr>
        <p:spPr>
          <a:xfrm>
            <a:off x="5057685" y="3803227"/>
            <a:ext cx="2685120" cy="84815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Sup>
                    <m:e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m:rPr>
                          <m:sty m:val="p"/>
                        </m:rP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sub>
                    <m:sup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sup>
                  </m:sSubSup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m:rPr>
                      <m:nor/>
                    </m:rP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dx</m:t>
                  </m:r>
                </m:oMath>
              </m:oMathPara>
            </a14:m>
            <a:endParaRPr sz="26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C00000"/>
                </a:solidFill>
              </a:defRPr>
            </a:lvl1pPr>
          </a:lstStyle>
          <a:p>
            <a:pPr/>
            <a:r>
              <a:t>Gaussian distribution</a:t>
            </a:r>
          </a:p>
        </p:txBody>
      </p:sp>
      <p:sp>
        <p:nvSpPr>
          <p:cNvPr id="228" name="Content Placeholder 2"/>
          <p:cNvSpPr txBox="1"/>
          <p:nvPr>
            <p:ph type="body" sz="half" idx="1"/>
          </p:nvPr>
        </p:nvSpPr>
        <p:spPr>
          <a:xfrm>
            <a:off x="838200" y="4426832"/>
            <a:ext cx="10515600" cy="1842259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2000"/>
              </a:spcBef>
              <a:defRPr sz="2000"/>
            </a:pPr>
            <a:r>
              <a:t>A Gaussian distribution</a:t>
            </a:r>
            <a:r>
              <a:rPr>
                <a:latin typeface="Times Roman"/>
                <a:ea typeface="Times Roman"/>
                <a:cs typeface="Times Roman"/>
                <a:sym typeface="Times Roman"/>
              </a:rPr>
              <a:t> is the “high-N” limit for the Binomial and Poisson distributions (see week 13)</a:t>
            </a:r>
            <a:endParaRPr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spcBef>
                <a:spcPts val="2000"/>
              </a:spcBef>
              <a:defRPr sz="2000"/>
            </a:pPr>
            <a:r>
              <a:rPr u="sng">
                <a:latin typeface="Times Roman"/>
                <a:ea typeface="Times Roman"/>
                <a:cs typeface="Times Roman"/>
                <a:sym typeface="Times Roman"/>
              </a:rPr>
              <a:t>The central limit theorem:</a:t>
            </a:r>
            <a:r>
              <a:rPr>
                <a:latin typeface="Times Roman"/>
                <a:ea typeface="Times Roman"/>
                <a:cs typeface="Times Roman"/>
                <a:sym typeface="Times Roman"/>
              </a:rPr>
              <a:t> states if the average is taken of variables drawn many times for ANY probability distributions, the resulting average will follow a Gaussian. </a:t>
            </a:r>
            <a:endParaRPr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spcBef>
                <a:spcPts val="2000"/>
              </a:spcBef>
              <a:defRPr sz="2000"/>
            </a:pPr>
            <a:r>
              <a:rPr>
                <a:latin typeface="Times Roman"/>
                <a:ea typeface="Times Roman"/>
                <a:cs typeface="Times Roman"/>
                <a:sym typeface="Times Roman"/>
              </a:rPr>
              <a:t>In practice, if we take a lot of data (N&gt;30), our sample will resemble a normal distribution </a:t>
            </a:r>
          </a:p>
        </p:txBody>
      </p:sp>
      <p:sp>
        <p:nvSpPr>
          <p:cNvPr id="229" name="Slide Number Placeholder 3"/>
          <p:cNvSpPr txBox="1"/>
          <p:nvPr>
            <p:ph type="sldNum" sz="quarter" idx="2"/>
          </p:nvPr>
        </p:nvSpPr>
        <p:spPr>
          <a:xfrm>
            <a:off x="11684000" y="6402746"/>
            <a:ext cx="284372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30" name="aka a normal distribution"/>
          <p:cNvSpPr txBox="1"/>
          <p:nvPr/>
        </p:nvSpPr>
        <p:spPr>
          <a:xfrm>
            <a:off x="917355" y="1450990"/>
            <a:ext cx="2689162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000">
                <a:solidFill>
                  <a:schemeClr val="accent1">
                    <a:satOff val="-3547"/>
                    <a:lumOff val="-10352"/>
                  </a:schemeClr>
                </a:solidFill>
              </a:defRPr>
            </a:lvl1pPr>
          </a:lstStyle>
          <a:p>
            <a:pPr/>
            <a:r>
              <a:t>aka a normal distribution</a:t>
            </a:r>
          </a:p>
        </p:txBody>
      </p:sp>
      <p:sp>
        <p:nvSpPr>
          <p:cNvPr id="231" name="Equation"/>
          <p:cNvSpPr txBox="1"/>
          <p:nvPr/>
        </p:nvSpPr>
        <p:spPr>
          <a:xfrm>
            <a:off x="4206497" y="1833830"/>
            <a:ext cx="5267838" cy="94483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ad>
                        <m:radPr>
                          <m:ctrlP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degHide m:val="on"/>
                        </m:radPr>
                        <m:deg/>
                        <m:e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rad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den>
                  </m:f>
                  <m:r>
                    <m:rPr>
                      <m:sty m:val="p"/>
                    </m:rP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exp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{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μ</m:t>
                  </m:r>
                  <m:sSup>
                    <m:e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/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sSup>
                    <m:e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p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}</m:t>
                  </m:r>
                </m:oMath>
              </m:oMathPara>
            </a14:m>
            <a:endParaRPr sz="2800"/>
          </a:p>
        </p:txBody>
      </p:sp>
      <p:sp>
        <p:nvSpPr>
          <p:cNvPr id="232" name="Equation"/>
          <p:cNvSpPr txBox="1"/>
          <p:nvPr/>
        </p:nvSpPr>
        <p:spPr>
          <a:xfrm>
            <a:off x="3565677" y="3487908"/>
            <a:ext cx="1225241" cy="31328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μ</m:t>
                  </m:r>
                </m:oMath>
              </m:oMathPara>
            </a14:m>
            <a:endParaRPr sz="2800"/>
          </a:p>
        </p:txBody>
      </p:sp>
      <p:sp>
        <p:nvSpPr>
          <p:cNvPr id="233" name="Equation"/>
          <p:cNvSpPr txBox="1"/>
          <p:nvPr/>
        </p:nvSpPr>
        <p:spPr>
          <a:xfrm>
            <a:off x="8490301" y="3522612"/>
            <a:ext cx="897059" cy="24387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σ</m:t>
                  </m:r>
                </m:oMath>
              </m:oMathPara>
            </a14:m>
            <a:endParaRPr sz="2800"/>
          </a:p>
        </p:txBody>
      </p:sp>
      <p:sp>
        <p:nvSpPr>
          <p:cNvPr id="234" name="Expectation value:"/>
          <p:cNvSpPr txBox="1"/>
          <p:nvPr/>
        </p:nvSpPr>
        <p:spPr>
          <a:xfrm>
            <a:off x="1077354" y="3474458"/>
            <a:ext cx="2047465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b="1" i="1" sz="2000">
                <a:solidFill>
                  <a:srgbClr val="C00000"/>
                </a:solidFill>
              </a:defRPr>
            </a:lvl1pPr>
          </a:lstStyle>
          <a:p>
            <a:pPr/>
            <a:r>
              <a:t>Expectation value:</a:t>
            </a:r>
          </a:p>
        </p:txBody>
      </p:sp>
      <p:sp>
        <p:nvSpPr>
          <p:cNvPr id="235" name="Standard deviation:"/>
          <p:cNvSpPr txBox="1"/>
          <p:nvPr/>
        </p:nvSpPr>
        <p:spPr>
          <a:xfrm>
            <a:off x="6121753" y="3474458"/>
            <a:ext cx="2183146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b="1" i="1" sz="2000">
                <a:solidFill>
                  <a:srgbClr val="C00000"/>
                </a:solidFill>
              </a:defRPr>
            </a:pPr>
            <a:r>
              <a:t>Standard deviation</a:t>
            </a:r>
            <a:r>
              <a:rPr b="0" i="0">
                <a:solidFill>
                  <a:srgbClr val="000000"/>
                </a:solidFill>
              </a:rPr>
              <a:t>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tangle"/>
          <p:cNvSpPr/>
          <p:nvPr/>
        </p:nvSpPr>
        <p:spPr>
          <a:xfrm>
            <a:off x="1011926" y="3324911"/>
            <a:ext cx="9751872" cy="1400456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39" name="(2). Parameter estimation : least squares"/>
          <p:cNvSpPr txBox="1"/>
          <p:nvPr>
            <p:ph type="title" idx="4294967295"/>
          </p:nvPr>
        </p:nvSpPr>
        <p:spPr>
          <a:xfrm>
            <a:off x="838200" y="225425"/>
            <a:ext cx="10515600" cy="1325563"/>
          </a:xfrm>
          <a:prstGeom prst="rect">
            <a:avLst/>
          </a:prstGeom>
        </p:spPr>
        <p:txBody>
          <a:bodyPr/>
          <a:lstStyle/>
          <a:p>
            <a:pPr>
              <a:defRPr i="1">
                <a:solidFill>
                  <a:srgbClr val="C00000"/>
                </a:solidFill>
              </a:defRPr>
            </a:pPr>
            <a:r>
              <a:rPr i="0">
                <a:latin typeface="Carlito"/>
                <a:ea typeface="Carlito"/>
                <a:cs typeface="Carlito"/>
                <a:sym typeface="Carlito"/>
              </a:rPr>
              <a:t>(2). Parameter estimation</a:t>
            </a:r>
            <a:r>
              <a:t> : least squares</a:t>
            </a:r>
          </a:p>
        </p:txBody>
      </p:sp>
      <p:sp>
        <p:nvSpPr>
          <p:cNvPr id="240" name="NB: for straight-line model ( ), this is known as ‘linear regression’"/>
          <p:cNvSpPr txBox="1"/>
          <p:nvPr/>
        </p:nvSpPr>
        <p:spPr>
          <a:xfrm>
            <a:off x="896902" y="1243919"/>
            <a:ext cx="7932136" cy="797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>
                <a:solidFill>
                  <a:schemeClr val="accent1">
                    <a:satOff val="-3547"/>
                    <a:lumOff val="-10352"/>
                  </a:schemeClr>
                </a:solidFill>
              </a:defRPr>
            </a:pPr>
            <a:r>
              <a:t>NB: for straight-line model (</a:t>
            </a:r>
            <a14:m>
              <m:oMath>
                <m:r>
                  <a:rPr xmlns:a="http://schemas.openxmlformats.org/drawingml/2006/main" sz="2150" i="1">
                    <a:solidFill>
                      <a:srgbClr val="365B9C"/>
                    </a:solidFill>
                    <a:latin typeface="Cambria Math" panose="02040503050406030204" pitchFamily="18" charset="0"/>
                  </a:rPr>
                  <m:t>y</m:t>
                </m:r>
                <m:r>
                  <a:rPr xmlns:a="http://schemas.openxmlformats.org/drawingml/2006/main" sz="2150" i="1">
                    <a:solidFill>
                      <a:srgbClr val="365B9C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150" i="1">
                    <a:solidFill>
                      <a:srgbClr val="365B9C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xmlns:a="http://schemas.openxmlformats.org/drawingml/2006/main" sz="2150" i="1">
                    <a:solidFill>
                      <a:srgbClr val="365B9C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2150" i="1">
                    <a:solidFill>
                      <a:srgbClr val="365B9C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xmlns:a="http://schemas.openxmlformats.org/drawingml/2006/main" sz="2150" i="1">
                    <a:solidFill>
                      <a:srgbClr val="365B9C"/>
                    </a:solidFill>
                    <a:latin typeface="Cambria Math" panose="02040503050406030204" pitchFamily="18" charset="0"/>
                  </a:rPr>
                  <m:t>x</m:t>
                </m:r>
              </m:oMath>
            </a14:m>
            <a:r>
              <a:t>), this is known as ‘linear regression’</a:t>
            </a:r>
          </a:p>
        </p:txBody>
      </p:sp>
      <p:sp>
        <p:nvSpPr>
          <p:cNvPr id="241" name="Equation"/>
          <p:cNvSpPr txBox="1"/>
          <p:nvPr/>
        </p:nvSpPr>
        <p:spPr>
          <a:xfrm>
            <a:off x="3942322" y="2518985"/>
            <a:ext cx="4722905" cy="69773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e>
                    <m:sub>
                      <m: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sub>
                  </m:sSub>
                  <m: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e>
                    <m:sub>
                      <m: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∝</m:t>
                  </m:r>
                  <m:f>
                    <m:fPr>
                      <m:ctrlP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sSub>
                        <m:e>
                          <m:r>
                            <a:rPr xmlns:a="http://schemas.openxmlformats.org/drawingml/2006/ma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xmlns:a="http://schemas.openxmlformats.org/drawingml/2006/ma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</m:den>
                  </m:f>
                  <m:r>
                    <m:rPr>
                      <m:sty m:val="p"/>
                    </m:rP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exp</m:t>
                  </m:r>
                  <m: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{</m:t>
                  </m:r>
                  <m: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e>
                    <m:sub>
                      <m: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B</m:t>
                  </m:r>
                  <m:sSub>
                    <m:e>
                      <m: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sSup>
                    <m:e>
                      <m: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/</m:t>
                  </m:r>
                  <m: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sSubSup>
                    <m:e>
                      <m: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sub>
                    <m:sup>
                      <m: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}</m:t>
                  </m:r>
                </m:oMath>
              </m:oMathPara>
            </a14:m>
            <a:endParaRPr sz="2200"/>
          </a:p>
        </p:txBody>
      </p:sp>
      <p:sp>
        <p:nvSpPr>
          <p:cNvPr id="242" name="Equation"/>
          <p:cNvSpPr txBox="1"/>
          <p:nvPr/>
        </p:nvSpPr>
        <p:spPr>
          <a:xfrm>
            <a:off x="1783039" y="3740094"/>
            <a:ext cx="4650193" cy="76116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e>
                    <m:sub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sub>
                  </m:sSub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e>
                    <m:sub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e>
                    <m:sub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e>
                    <m:sub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sub>
                  </m:sSub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∝</m:t>
                  </m:r>
                  <m:f>
                    <m:f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sSubSup>
                        <m:e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  <m:sup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bSup>
                    </m:den>
                  </m:f>
                  <m:r>
                    <m:rPr>
                      <m:sty m:val="p"/>
                    </m:rP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exp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{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sSup>
                    <m:e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χ</m:t>
                      </m:r>
                    </m:e>
                    <m:sup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/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}</m:t>
                  </m:r>
                </m:oMath>
              </m:oMathPara>
            </a14:m>
            <a:endParaRPr sz="2400"/>
          </a:p>
        </p:txBody>
      </p:sp>
      <p:sp>
        <p:nvSpPr>
          <p:cNvPr id="243" name="Equation"/>
          <p:cNvSpPr txBox="1"/>
          <p:nvPr/>
        </p:nvSpPr>
        <p:spPr>
          <a:xfrm>
            <a:off x="7338120" y="3618026"/>
            <a:ext cx="2830801" cy="82750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p>
                    <m:e>
                      <m: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χ</m:t>
                      </m:r>
                    </m:e>
                    <m:sup>
                      <m: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2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Upp>
                    <m:e>
                      <m:limLow>
                        <m:e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lim>
                      </m:limLow>
                    </m:e>
                    <m:lim>
                      <m: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lim>
                  </m:limUpp>
                  <m:f>
                    <m:fPr>
                      <m:ctrlP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e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sSub>
                        <m:e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p>
                        <m:e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num>
                    <m:den>
                      <m:sSubSup>
                        <m:e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  <m:sup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den>
                  </m:f>
                </m:oMath>
              </m:oMathPara>
            </a14:m>
            <a:endParaRPr sz="2300"/>
          </a:p>
        </p:txBody>
      </p:sp>
      <p:sp>
        <p:nvSpPr>
          <p:cNvPr id="244" name="Equation"/>
          <p:cNvSpPr txBox="1"/>
          <p:nvPr/>
        </p:nvSpPr>
        <p:spPr>
          <a:xfrm>
            <a:off x="3142108" y="5865674"/>
            <a:ext cx="2882056" cy="66550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Sup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num>
                    <m:den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Sup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p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den>
                  </m:f>
                </m:oMath>
              </m:oMathPara>
            </a14:m>
            <a:endParaRPr sz="2000"/>
          </a:p>
        </p:txBody>
      </p:sp>
      <p:sp>
        <p:nvSpPr>
          <p:cNvPr id="245" name="Equation"/>
          <p:cNvSpPr txBox="1"/>
          <p:nvPr/>
        </p:nvSpPr>
        <p:spPr>
          <a:xfrm>
            <a:off x="6696946" y="5876592"/>
            <a:ext cx="2529723" cy="64367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B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num>
                    <m:den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Sup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p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den>
                  </m:f>
                </m:oMath>
              </m:oMathPara>
            </a14:m>
            <a:endParaRPr sz="2000"/>
          </a:p>
        </p:txBody>
      </p:sp>
      <p:sp>
        <p:nvSpPr>
          <p:cNvPr id="246" name="For one measured data point   that is drawn from a Gaussian distribution:"/>
          <p:cNvSpPr txBox="1"/>
          <p:nvPr/>
        </p:nvSpPr>
        <p:spPr>
          <a:xfrm>
            <a:off x="845619" y="2036196"/>
            <a:ext cx="8230235" cy="409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  <a:r>
              <a:t>For one measured data point </a:t>
            </a:r>
            <a14:m>
              <m:oMath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sSub>
                  <m:e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</m:sub>
                </m:sSub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sSub>
                  <m:e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y</m:t>
                    </m:r>
                  </m:e>
                  <m:sub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</m:sub>
                </m:sSub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that is drawn from a Gaussian distribution:</a:t>
            </a:r>
          </a:p>
        </p:txBody>
      </p:sp>
      <p:sp>
        <p:nvSpPr>
          <p:cNvPr id="247" name="Over the entire data set:"/>
          <p:cNvSpPr txBox="1"/>
          <p:nvPr/>
        </p:nvSpPr>
        <p:spPr>
          <a:xfrm>
            <a:off x="1074663" y="3410977"/>
            <a:ext cx="2620328" cy="747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000"/>
            </a:lvl1pPr>
          </a:lstStyle>
          <a:p>
            <a:pPr/>
            <a:r>
              <a:t>Over the entire data set:</a:t>
            </a:r>
          </a:p>
        </p:txBody>
      </p:sp>
      <p:sp>
        <p:nvSpPr>
          <p:cNvPr id="248" name="‘Least-squares’ :   is maximised when   is smallest"/>
          <p:cNvSpPr txBox="1"/>
          <p:nvPr/>
        </p:nvSpPr>
        <p:spPr>
          <a:xfrm>
            <a:off x="2288245" y="4846257"/>
            <a:ext cx="6848532" cy="586677"/>
          </a:xfrm>
          <a:prstGeom prst="rect">
            <a:avLst/>
          </a:prstGeom>
          <a:ln w="25400">
            <a:solidFill>
              <a:srgbClr val="A7A7A7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400"/>
            </a:pPr>
            <a:r>
              <a:rPr b="1">
                <a:solidFill>
                  <a:srgbClr val="C00000"/>
                </a:solidFill>
              </a:rPr>
              <a:t>‘Least-squares’</a:t>
            </a:r>
            <a:r>
              <a:t> : </a:t>
            </a:r>
            <a14:m>
              <m:oMath>
                <m:sSub>
                  <m:e>
                    <m:r>
                      <a:rPr xmlns:a="http://schemas.openxmlformats.org/drawingml/2006/main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</m:t>
                    </m:r>
                  </m:e>
                  <m:sub>
                    <m:r>
                      <a:rPr xmlns:a="http://schemas.openxmlformats.org/drawingml/2006/main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xmlns:a="http://schemas.openxmlformats.org/drawingml/2006/main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B</m:t>
                    </m:r>
                  </m:sub>
                </m:sSub>
              </m:oMath>
            </a14:m>
            <a:r>
              <a:t> is maximised when </a:t>
            </a:r>
            <a14:m>
              <m:oMath>
                <m:sSup>
                  <m:e>
                    <m:r>
                      <a:rPr xmlns:a="http://schemas.openxmlformats.org/drawingml/2006/main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χ</m:t>
                    </m:r>
                  </m:e>
                  <m:sup>
                    <m:r>
                      <a:rPr xmlns:a="http://schemas.openxmlformats.org/drawingml/2006/main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  <a:r>
              <a:t> is smallest</a:t>
            </a:r>
          </a:p>
        </p:txBody>
      </p:sp>
      <p:sp>
        <p:nvSpPr>
          <p:cNvPr id="249" name="Linear equation:"/>
          <p:cNvSpPr txBox="1"/>
          <p:nvPr/>
        </p:nvSpPr>
        <p:spPr>
          <a:xfrm>
            <a:off x="872031" y="6041038"/>
            <a:ext cx="1845430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000"/>
            </a:lvl1pPr>
          </a:lstStyle>
          <a:p>
            <a:pPr/>
            <a:r>
              <a:t>Linear equation: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52" name="Considering uncertainties"/>
          <p:cNvSpPr txBox="1"/>
          <p:nvPr>
            <p:ph type="title" idx="4294967295"/>
          </p:nvPr>
        </p:nvSpPr>
        <p:spPr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C00000"/>
                </a:solidFill>
              </a:defRPr>
            </a:lvl1pPr>
          </a:lstStyle>
          <a:p>
            <a:pPr/>
            <a:r>
              <a:t>Considering uncertainties</a:t>
            </a:r>
          </a:p>
        </p:txBody>
      </p:sp>
      <p:sp>
        <p:nvSpPr>
          <p:cNvPr id="253" name="The least-squares formula does not consider uncertainties"/>
          <p:cNvSpPr txBox="1"/>
          <p:nvPr/>
        </p:nvSpPr>
        <p:spPr>
          <a:xfrm>
            <a:off x="880471" y="1370919"/>
            <a:ext cx="6075622" cy="747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000">
                <a:solidFill>
                  <a:schemeClr val="accent1">
                    <a:satOff val="-3547"/>
                    <a:lumOff val="-10352"/>
                  </a:schemeClr>
                </a:solidFill>
              </a:defRPr>
            </a:lvl1pPr>
          </a:lstStyle>
          <a:p>
            <a:pPr/>
            <a:r>
              <a:t>The least-squares formula does not consider uncertainties</a:t>
            </a:r>
          </a:p>
        </p:txBody>
      </p:sp>
      <p:sp>
        <p:nvSpPr>
          <p:cNvPr id="254" name="Most sciences do not measure uncertainties : e.g. population studies, medical diagnoses, clime science"/>
          <p:cNvSpPr txBox="1"/>
          <p:nvPr/>
        </p:nvSpPr>
        <p:spPr>
          <a:xfrm>
            <a:off x="831413" y="1915657"/>
            <a:ext cx="10678255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000"/>
            </a:lvl1pPr>
          </a:lstStyle>
          <a:p>
            <a:pPr/>
            <a:r>
              <a:t>Most sciences do not measure uncertainties : e.g. population studies, medical diagnoses, clime science</a:t>
            </a:r>
          </a:p>
        </p:txBody>
      </p:sp>
      <p:sp>
        <p:nvSpPr>
          <p:cNvPr id="255" name="uncertainties can be inferred through the variance of the data"/>
          <p:cNvSpPr txBox="1"/>
          <p:nvPr/>
        </p:nvSpPr>
        <p:spPr>
          <a:xfrm>
            <a:off x="2737848" y="2286058"/>
            <a:ext cx="6463443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000">
                <a:solidFill>
                  <a:schemeClr val="accent1">
                    <a:satOff val="-3547"/>
                    <a:lumOff val="-10352"/>
                  </a:schemeClr>
                </a:solidFill>
              </a:defRPr>
            </a:lvl1pPr>
          </a:lstStyle>
          <a:p>
            <a:pPr/>
            <a:r>
              <a:t>uncertainties can be inferred through the variance of the data</a:t>
            </a:r>
          </a:p>
        </p:txBody>
      </p:sp>
      <p:pic>
        <p:nvPicPr>
          <p:cNvPr id="256" name="data_scatter.png" descr="data_scatter.png"/>
          <p:cNvPicPr>
            <a:picLocks noChangeAspect="1"/>
          </p:cNvPicPr>
          <p:nvPr/>
        </p:nvPicPr>
        <p:blipFill>
          <a:blip r:embed="rId2">
            <a:extLst/>
          </a:blip>
          <a:srcRect l="492" t="0" r="492" b="0"/>
          <a:stretch>
            <a:fillRect/>
          </a:stretch>
        </p:blipFill>
        <p:spPr>
          <a:xfrm>
            <a:off x="2661219" y="2694559"/>
            <a:ext cx="6565719" cy="2793519"/>
          </a:xfrm>
          <a:prstGeom prst="rect">
            <a:avLst/>
          </a:prstGeom>
          <a:ln w="12700">
            <a:miter lim="400000"/>
          </a:ln>
        </p:spPr>
      </p:pic>
      <p:sp>
        <p:nvSpPr>
          <p:cNvPr id="257" name="Most physics experiments do have uncertainties:"/>
          <p:cNvSpPr txBox="1"/>
          <p:nvPr/>
        </p:nvSpPr>
        <p:spPr>
          <a:xfrm>
            <a:off x="505527" y="5669786"/>
            <a:ext cx="5123370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000"/>
            </a:lvl1pPr>
          </a:lstStyle>
          <a:p>
            <a:pPr/>
            <a:r>
              <a:t>Most physics experiments do have uncertainties:</a:t>
            </a:r>
          </a:p>
        </p:txBody>
      </p:sp>
      <p:sp>
        <p:nvSpPr>
          <p:cNvPr id="258" name="(see Week 12)"/>
          <p:cNvSpPr txBox="1"/>
          <p:nvPr/>
        </p:nvSpPr>
        <p:spPr>
          <a:xfrm>
            <a:off x="510592" y="6051996"/>
            <a:ext cx="1567494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000"/>
            </a:lvl1pPr>
          </a:lstStyle>
          <a:p>
            <a:pPr/>
            <a:r>
              <a:t>(see Week 12)</a:t>
            </a:r>
          </a:p>
        </p:txBody>
      </p:sp>
      <p:sp>
        <p:nvSpPr>
          <p:cNvPr id="259" name="Different for every point (e.g. statistical):  heteroscedastic"/>
          <p:cNvSpPr txBox="1"/>
          <p:nvPr/>
        </p:nvSpPr>
        <p:spPr>
          <a:xfrm>
            <a:off x="5863699" y="6064696"/>
            <a:ext cx="5993270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>
                <a:solidFill>
                  <a:schemeClr val="accent1">
                    <a:satOff val="-3547"/>
                    <a:lumOff val="-10352"/>
                  </a:schemeClr>
                </a:solidFill>
              </a:defRPr>
            </a:pPr>
            <a:r>
              <a:t>Different for every point (e.g. statistical):  </a:t>
            </a:r>
            <a:r>
              <a:rPr i="1"/>
              <a:t>heteroscedastic</a:t>
            </a:r>
          </a:p>
        </p:txBody>
      </p:sp>
      <p:sp>
        <p:nvSpPr>
          <p:cNvPr id="260" name="Identical for every point (e.g. systematic):  homoscedastic"/>
          <p:cNvSpPr txBox="1"/>
          <p:nvPr/>
        </p:nvSpPr>
        <p:spPr>
          <a:xfrm>
            <a:off x="5834020" y="5669786"/>
            <a:ext cx="6001828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>
                <a:solidFill>
                  <a:schemeClr val="accent1">
                    <a:satOff val="-3547"/>
                    <a:lumOff val="-10352"/>
                  </a:schemeClr>
                </a:solidFill>
              </a:defRPr>
            </a:pPr>
            <a:r>
              <a:t>Identical for every point (e.g. systematic):  </a:t>
            </a:r>
            <a:r>
              <a:rPr i="1"/>
              <a:t>homoscedastic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Rectangle"/>
          <p:cNvSpPr/>
          <p:nvPr/>
        </p:nvSpPr>
        <p:spPr>
          <a:xfrm>
            <a:off x="6968293" y="2324950"/>
            <a:ext cx="3071157" cy="1171842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6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64" name="Including uncertainties"/>
          <p:cNvSpPr txBox="1"/>
          <p:nvPr>
            <p:ph type="title" idx="4294967295"/>
          </p:nvPr>
        </p:nvSpPr>
        <p:spPr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C00000"/>
                </a:solidFill>
              </a:defRPr>
            </a:lvl1pPr>
          </a:lstStyle>
          <a:p>
            <a:pPr/>
            <a:r>
              <a:t>Including uncertainties</a:t>
            </a:r>
          </a:p>
        </p:txBody>
      </p:sp>
      <p:sp>
        <p:nvSpPr>
          <p:cNvPr id="265" name="Minimising the   :"/>
          <p:cNvSpPr txBox="1"/>
          <p:nvPr>
            <p:ph type="body" sz="quarter" idx="4294967295"/>
          </p:nvPr>
        </p:nvSpPr>
        <p:spPr>
          <a:xfrm>
            <a:off x="1051806" y="2658970"/>
            <a:ext cx="2232702" cy="485533"/>
          </a:xfrm>
          <a:prstGeom prst="rect">
            <a:avLst/>
          </a:prstGeom>
        </p:spPr>
        <p:txBody>
          <a:bodyPr/>
          <a:lstStyle/>
          <a:p>
            <a:pPr>
              <a:defRPr sz="2000"/>
            </a:pPr>
            <a:r>
              <a:t>Minimising the </a:t>
            </a:r>
            <a14:m>
              <m:oMath>
                <m:sSup>
                  <m:e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χ</m:t>
                    </m:r>
                  </m:e>
                  <m:sup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  <a:r>
              <a:t> :</a:t>
            </a:r>
          </a:p>
        </p:txBody>
      </p:sp>
      <p:sp>
        <p:nvSpPr>
          <p:cNvPr id="266" name="Equation"/>
          <p:cNvSpPr txBox="1"/>
          <p:nvPr/>
        </p:nvSpPr>
        <p:spPr>
          <a:xfrm>
            <a:off x="6197955" y="1434490"/>
            <a:ext cx="1095340" cy="82609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2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e>
                    <m:sub>
                      <m:r>
                        <a:rPr xmlns:a="http://schemas.openxmlformats.org/drawingml/2006/main" sz="2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27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2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2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sSubSup>
                        <m:e>
                          <m:r>
                            <a:rPr xmlns:a="http://schemas.openxmlformats.org/drawingml/2006/main"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xmlns:a="http://schemas.openxmlformats.org/drawingml/2006/main"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a:rPr xmlns:a="http://schemas.openxmlformats.org/drawingml/2006/main"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den>
                  </m:f>
                </m:oMath>
              </m:oMathPara>
            </a14:m>
            <a:endParaRPr sz="2700"/>
          </a:p>
        </p:txBody>
      </p:sp>
      <p:sp>
        <p:nvSpPr>
          <p:cNvPr id="267" name="Equation"/>
          <p:cNvSpPr txBox="1"/>
          <p:nvPr/>
        </p:nvSpPr>
        <p:spPr>
          <a:xfrm>
            <a:off x="1774720" y="4472171"/>
            <a:ext cx="3777462" cy="66550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Sup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num>
                    <m:den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Sup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p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den>
                  </m:f>
                </m:oMath>
              </m:oMathPara>
            </a14:m>
            <a:endParaRPr sz="2000"/>
          </a:p>
        </p:txBody>
      </p:sp>
      <p:sp>
        <p:nvSpPr>
          <p:cNvPr id="268" name="Equation"/>
          <p:cNvSpPr txBox="1"/>
          <p:nvPr/>
        </p:nvSpPr>
        <p:spPr>
          <a:xfrm>
            <a:off x="6308620" y="4483088"/>
            <a:ext cx="3534803" cy="64367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B</m:t>
                  </m:r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num>
                    <m:den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Sup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p>
                        <m:e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den>
                  </m:f>
                </m:oMath>
              </m:oMathPara>
            </a14:m>
            <a:endParaRPr sz="2000"/>
          </a:p>
        </p:txBody>
      </p:sp>
      <p:sp>
        <p:nvSpPr>
          <p:cNvPr id="269" name="Equation"/>
          <p:cNvSpPr txBox="1"/>
          <p:nvPr/>
        </p:nvSpPr>
        <p:spPr>
          <a:xfrm>
            <a:off x="1774720" y="5551671"/>
            <a:ext cx="3348734" cy="78105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sub>
                  </m:sSub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ad>
                    <m:radPr>
                      <m:ctrlP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degHide m:val="on"/>
                    </m:radPr>
                    <m:deg/>
                    <m:e>
                      <m:f>
                        <m:fPr>
                          <m:ctrlP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type m:val="bar"/>
                        </m:fPr>
                        <m:num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  <m:sSub>
                            <m:e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sSubSup>
                            <m:e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  <m:sSub>
                            <m:e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  <m:sSub>
                            <m:e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sSubSup>
                            <m:e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-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  <m:sSub>
                            <m:e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sSub>
                            <m:e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sSup>
                            <m:e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e>
                  </m:rad>
                </m:oMath>
              </m:oMathPara>
            </a14:m>
            <a:endParaRPr sz="2000"/>
          </a:p>
        </p:txBody>
      </p:sp>
      <p:sp>
        <p:nvSpPr>
          <p:cNvPr id="270" name="Equation"/>
          <p:cNvSpPr txBox="1"/>
          <p:nvPr/>
        </p:nvSpPr>
        <p:spPr>
          <a:xfrm>
            <a:off x="6245120" y="5551671"/>
            <a:ext cx="3348734" cy="78105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sub>
                  </m:sSub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ad>
                    <m:radPr>
                      <m:ctrlP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degHide m:val="on"/>
                    </m:radPr>
                    <m:deg/>
                    <m:e>
                      <m:f>
                        <m:fPr>
                          <m:ctrlP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type m:val="bar"/>
                        </m:fPr>
                        <m:num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  <m:sSub>
                            <m:e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  <m:sSub>
                            <m:e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  <m:sSub>
                            <m:e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sSubSup>
                            <m:e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-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xmlns:a="http://schemas.openxmlformats.org/drawingml/2006/ma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  <m:sSub>
                            <m:e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sSub>
                            <m:e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sSup>
                            <m:e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xmlns:a="http://schemas.openxmlformats.org/drawingml/2006/ma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e>
                  </m:rad>
                </m:oMath>
              </m:oMathPara>
            </a14:m>
            <a:endParaRPr sz="2000"/>
          </a:p>
        </p:txBody>
      </p:sp>
      <p:sp>
        <p:nvSpPr>
          <p:cNvPr id="271" name="This is a solved problem for linear relationships : for complex functions we need to use minimising techniques"/>
          <p:cNvSpPr txBox="1"/>
          <p:nvPr/>
        </p:nvSpPr>
        <p:spPr>
          <a:xfrm>
            <a:off x="544568" y="3888906"/>
            <a:ext cx="11365718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000"/>
            </a:lvl1pPr>
          </a:lstStyle>
          <a:p>
            <a:pPr/>
            <a:r>
              <a:t>This is a solved problem for linear relationships : for complex functions we need to use minimising techniques</a:t>
            </a:r>
          </a:p>
        </p:txBody>
      </p:sp>
      <p:sp>
        <p:nvSpPr>
          <p:cNvPr id="272" name="Equation"/>
          <p:cNvSpPr txBox="1"/>
          <p:nvPr/>
        </p:nvSpPr>
        <p:spPr>
          <a:xfrm>
            <a:off x="3660544" y="2569808"/>
            <a:ext cx="2590669" cy="75554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p>
                    <m:e>
                      <m:r>
                        <a:rPr xmlns:a="http://schemas.openxmlformats.org/drawingml/2006/main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χ</m:t>
                      </m:r>
                    </m:e>
                    <m:sup>
                      <m:r>
                        <a:rPr xmlns:a="http://schemas.openxmlformats.org/drawingml/2006/main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2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Upp>
                    <m:e>
                      <m:limLow>
                        <m:e>
                          <m:r>
                            <a:rPr xmlns:a="http://schemas.openxmlformats.org/drawingml/2006/mai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xmlns:a="http://schemas.openxmlformats.org/drawingml/2006/mai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lim>
                      </m:limLow>
                    </m:e>
                    <m:lim>
                      <m:r>
                        <a:rPr xmlns:a="http://schemas.openxmlformats.org/drawingml/2006/main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lim>
                  </m:limUpp>
                  <m:f>
                    <m:fPr>
                      <m:ctrlPr>
                        <a:rPr xmlns:a="http://schemas.openxmlformats.org/drawingml/2006/main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e>
                          <m:r>
                            <a:rPr xmlns:a="http://schemas.openxmlformats.org/drawingml/2006/mai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xmlns:a="http://schemas.openxmlformats.org/drawingml/2006/main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sSub>
                        <m:e>
                          <m:r>
                            <a:rPr xmlns:a="http://schemas.openxmlformats.org/drawingml/2006/mai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p>
                        <m:e>
                          <m:r>
                            <a:rPr xmlns:a="http://schemas.openxmlformats.org/drawingml/2006/mai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xmlns:a="http://schemas.openxmlformats.org/drawingml/2006/mai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num>
                    <m:den>
                      <m:sSubSup>
                        <m:e>
                          <m:r>
                            <a:rPr xmlns:a="http://schemas.openxmlformats.org/drawingml/2006/mai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xmlns:a="http://schemas.openxmlformats.org/drawingml/2006/mai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a:rPr xmlns:a="http://schemas.openxmlformats.org/drawingml/2006/mai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den>
                  </m:f>
                </m:oMath>
              </m:oMathPara>
            </a14:m>
            <a:endParaRPr sz="2100"/>
          </a:p>
        </p:txBody>
      </p:sp>
      <p:sp>
        <p:nvSpPr>
          <p:cNvPr id="273" name="Uncertainties can be re-purposed as weights:"/>
          <p:cNvSpPr txBox="1"/>
          <p:nvPr/>
        </p:nvSpPr>
        <p:spPr>
          <a:xfrm>
            <a:off x="1015766" y="1660769"/>
            <a:ext cx="4866641" cy="747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000"/>
            </a:lvl1pPr>
          </a:lstStyle>
          <a:p>
            <a:pPr/>
            <a:r>
              <a:t>Uncertainties can be re-purposed as weights:  </a:t>
            </a:r>
          </a:p>
        </p:txBody>
      </p:sp>
      <p:sp>
        <p:nvSpPr>
          <p:cNvPr id="274" name="“inverse variance”"/>
          <p:cNvSpPr txBox="1"/>
          <p:nvPr/>
        </p:nvSpPr>
        <p:spPr>
          <a:xfrm>
            <a:off x="7792349" y="1679091"/>
            <a:ext cx="1978632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000">
                <a:solidFill>
                  <a:schemeClr val="accent1">
                    <a:satOff val="-3547"/>
                    <a:lumOff val="-10352"/>
                  </a:schemeClr>
                </a:solidFill>
              </a:defRPr>
            </a:lvl1pPr>
          </a:lstStyle>
          <a:p>
            <a:pPr/>
            <a:r>
              <a:t>“inverse variance”</a:t>
            </a:r>
          </a:p>
        </p:txBody>
      </p:sp>
      <p:sp>
        <p:nvSpPr>
          <p:cNvPr id="275" name="Equation"/>
          <p:cNvSpPr txBox="1"/>
          <p:nvPr/>
        </p:nvSpPr>
        <p:spPr>
          <a:xfrm>
            <a:off x="7201920" y="2492673"/>
            <a:ext cx="2443069" cy="82750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p>
                    <m:e>
                      <m: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χ</m:t>
                      </m:r>
                    </m:e>
                    <m:sup>
                      <m: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2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Upp>
                    <m:e>
                      <m:limLow>
                        <m:e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lim>
                      </m:limLow>
                    </m:e>
                    <m:lim>
                      <m: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lim>
                  </m:limUpp>
                  <m:f>
                    <m:fPr>
                      <m:ctrlP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e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e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e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num>
                    <m:den>
                      <m:sSubSup>
                        <m:e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den>
                  </m:f>
                </m:oMath>
              </m:oMathPara>
            </a14:m>
            <a:endParaRPr sz="2300"/>
          </a:p>
        </p:txBody>
      </p:sp>
      <p:sp>
        <p:nvSpPr>
          <p:cNvPr id="276" name="or"/>
          <p:cNvSpPr txBox="1"/>
          <p:nvPr/>
        </p:nvSpPr>
        <p:spPr>
          <a:xfrm>
            <a:off x="6541602" y="2731645"/>
            <a:ext cx="326639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000"/>
            </a:lvl1pPr>
          </a:lstStyle>
          <a:p>
            <a:pPr/>
            <a:r>
              <a:t>or</a:t>
            </a:r>
          </a:p>
        </p:txBody>
      </p:sp>
      <p:sp>
        <p:nvSpPr>
          <p:cNvPr id="277" name="Line"/>
          <p:cNvSpPr/>
          <p:nvPr/>
        </p:nvSpPr>
        <p:spPr>
          <a:xfrm>
            <a:off x="876258" y="3592904"/>
            <a:ext cx="9961721" cy="1"/>
          </a:xfrm>
          <a:prstGeom prst="line">
            <a:avLst/>
          </a:prstGeom>
          <a:ln w="12700">
            <a:solidFill>
              <a:srgbClr val="A7A7A7"/>
            </a:solidFill>
            <a:miter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C00000"/>
                </a:solidFill>
              </a:defRPr>
            </a:lvl1pPr>
          </a:lstStyle>
          <a:p>
            <a:pPr/>
            <a:r>
              <a:t>Confidence interval</a:t>
            </a:r>
          </a:p>
        </p:txBody>
      </p:sp>
      <p:sp>
        <p:nvSpPr>
          <p:cNvPr id="280" name="Content Placeholder 8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i="1" sz="2000">
                <a:solidFill>
                  <a:srgbClr val="C00000"/>
                </a:solidFill>
              </a:defRPr>
            </a:pPr>
            <a:r>
              <a:t>Confidence interval: </a:t>
            </a:r>
          </a:p>
          <a:p>
            <a:pPr>
              <a:defRPr sz="2000"/>
            </a:pPr>
            <a:r>
              <a:t>For a value of a parameter </a:t>
            </a:r>
            <a14:m>
              <m:oMath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θ</m:t>
                </m:r>
              </m:oMath>
            </a14:m>
            <a:r>
              <a:t> estimated from a continuous (discrete) random variable </a:t>
            </a:r>
            <a14:m>
              <m:oMath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</m:oMath>
            </a14:m>
            <a:r>
              <a:t>, the confidence interval is a member of a set of intervals </a:t>
            </a:r>
            <a14:m>
              <m:oMath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[</m:t>
                </m:r>
                <m:sSub>
                  <m:e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</m:e>
                  <m:sub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sSub>
                  <m:e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</m:e>
                  <m:sub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]</m:t>
                </m:r>
              </m:oMath>
            </a14:m>
            <a:r>
              <a:t> such that (at least) a fraction </a:t>
            </a:r>
            <a14:m>
              <m:oMath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α</m:t>
                </m:r>
              </m:oMath>
            </a14:m>
            <a:r>
              <a:t> of them contains the true value of </a:t>
            </a:r>
            <a14:m>
              <m:oMath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θ</m:t>
                </m:r>
              </m:oMath>
            </a14:m>
            <a:r>
              <a:t>.</a:t>
            </a:r>
          </a:p>
          <a:p>
            <a:pPr>
              <a:defRPr b="1" i="1" sz="2000">
                <a:solidFill>
                  <a:srgbClr val="C00000"/>
                </a:solidFill>
              </a:defRPr>
            </a:pPr>
          </a:p>
          <a:p>
            <a:pPr>
              <a:defRPr b="1" i="1" sz="2000">
                <a:solidFill>
                  <a:srgbClr val="C00000"/>
                </a:solidFill>
              </a:defRPr>
            </a:pPr>
            <a:r>
              <a:t>Note:</a:t>
            </a:r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α</m:t>
                </m:r>
              </m:oMath>
            </a14:m>
            <a:r>
              <a:rPr>
                <a:latin typeface="+mj-lt"/>
                <a:ea typeface="+mj-ea"/>
                <a:cs typeface="+mj-cs"/>
                <a:sym typeface="Calibri"/>
              </a:rPr>
              <a:t>  is the confidence level.  Typical values are 68%, 90%, 95%.</a:t>
            </a:r>
            <a:endParaRPr>
              <a:latin typeface="+mj-lt"/>
              <a:ea typeface="+mj-ea"/>
              <a:cs typeface="+mj-cs"/>
              <a:sym typeface="Calibri"/>
            </a:endParaRPr>
          </a:p>
          <a:p>
            <a:pPr>
              <a:defRPr sz="2000"/>
            </a:pPr>
            <a:r>
              <a:t>The set of intervals is ideally obtained by repeating the same experiment. </a:t>
            </a:r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sSub>
                  <m:e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</m:e>
                  <m:sub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sSub>
                  <m:e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</m:e>
                  <m:sub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a14:m>
            <a:r>
              <a:rPr>
                <a:latin typeface="+mj-lt"/>
                <a:ea typeface="+mj-ea"/>
                <a:cs typeface="+mj-cs"/>
                <a:sym typeface="Calibri"/>
              </a:rPr>
              <a:t> are functions of </a:t>
            </a:r>
            <a14:m>
              <m:oMath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𝑥</m:t>
                </m:r>
              </m:oMath>
            </a14:m>
            <a:r>
              <a:rPr>
                <a:latin typeface="+mj-lt"/>
                <a:ea typeface="+mj-ea"/>
                <a:cs typeface="+mj-cs"/>
                <a:sym typeface="Calibri"/>
              </a:rPr>
              <a:t>.</a:t>
            </a:r>
            <a:endParaRPr>
              <a:latin typeface="+mj-lt"/>
              <a:ea typeface="+mj-ea"/>
              <a:cs typeface="+mj-cs"/>
              <a:sym typeface="Calibri"/>
            </a:endParaRPr>
          </a:p>
          <a:p>
            <a:pPr>
              <a:defRPr sz="2000"/>
            </a:pPr>
            <a:r>
              <a:t>The interval may not contain the true value of the parameter: the probability </a:t>
            </a:r>
            <a14:m>
              <m:oMath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α</m:t>
                </m:r>
              </m:oMath>
            </a14:m>
            <a:r>
              <a:t> refers to the estimation procedure, not the specific interval. </a:t>
            </a:r>
          </a:p>
        </p:txBody>
      </p:sp>
      <p:sp>
        <p:nvSpPr>
          <p:cNvPr id="281" name="Slide Number Placeholder 2"/>
          <p:cNvSpPr txBox="1"/>
          <p:nvPr>
            <p:ph type="sldNum" sz="quarter" idx="2"/>
          </p:nvPr>
        </p:nvSpPr>
        <p:spPr>
          <a:xfrm>
            <a:off x="11684000" y="6402746"/>
            <a:ext cx="284372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82" name="The range of parameter values that are plausible given our dataset"/>
          <p:cNvSpPr txBox="1"/>
          <p:nvPr/>
        </p:nvSpPr>
        <p:spPr>
          <a:xfrm>
            <a:off x="840977" y="1312905"/>
            <a:ext cx="6941678" cy="747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000">
                <a:solidFill>
                  <a:schemeClr val="accent1">
                    <a:satOff val="-3547"/>
                    <a:lumOff val="-10352"/>
                  </a:schemeClr>
                </a:solidFill>
              </a:defRPr>
            </a:lvl1pPr>
          </a:lstStyle>
          <a:p>
            <a:pPr/>
            <a:r>
              <a:t>The range of parameter values that are plausible given our dataset</a:t>
            </a:r>
          </a:p>
        </p:txBody>
      </p:sp>
      <p:sp>
        <p:nvSpPr>
          <p:cNvPr id="283" name="If we repeat an experiment millions of times, the will result in X% CI, X% of the time"/>
          <p:cNvSpPr txBox="1"/>
          <p:nvPr/>
        </p:nvSpPr>
        <p:spPr>
          <a:xfrm>
            <a:off x="1056877" y="3319505"/>
            <a:ext cx="8692268" cy="747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000">
                <a:solidFill>
                  <a:schemeClr val="accent1">
                    <a:satOff val="-3547"/>
                    <a:lumOff val="-10352"/>
                  </a:schemeClr>
                </a:solidFill>
              </a:defRPr>
            </a:lvl1pPr>
          </a:lstStyle>
          <a:p>
            <a:pPr/>
            <a:r>
              <a:t>If we repeat an experiment millions of times, the will result in X% CI, X% of the time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C00000"/>
                </a:solidFill>
              </a:defRPr>
            </a:lvl1pPr>
          </a:lstStyle>
          <a:p>
            <a:pPr/>
            <a:r>
              <a:t>Confidence Interval</a:t>
            </a:r>
          </a:p>
        </p:txBody>
      </p:sp>
      <p:sp>
        <p:nvSpPr>
          <p:cNvPr id="288" name="Content Placeholder 8"/>
          <p:cNvSpPr txBox="1"/>
          <p:nvPr>
            <p:ph type="body" idx="1"/>
          </p:nvPr>
        </p:nvSpPr>
        <p:spPr>
          <a:xfrm>
            <a:off x="838200" y="187705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defRPr b="1" i="1" sz="2000">
                <a:solidFill>
                  <a:srgbClr val="C00000"/>
                </a:solidFill>
              </a:defRPr>
            </a:pPr>
            <a:r>
              <a:t>Conventional choice: </a:t>
            </a:r>
            <a:r>
              <a:rPr b="0" i="0">
                <a:solidFill>
                  <a:srgbClr val="000000"/>
                </a:solidFill>
              </a:rPr>
              <a:t>68%, which is that defined by </a:t>
            </a:r>
            <a14:m>
              <m:oMath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±</m:t>
                </m:r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θ</m:t>
                </m:r>
              </m:oMath>
            </a14:m>
            <a:r>
              <a:rPr>
                <a:solidFill>
                  <a:srgbClr val="000000"/>
                </a:solidFill>
              </a:rPr>
              <a:t>.  </a:t>
            </a:r>
            <a:r>
              <a:rPr b="0" i="0">
                <a:solidFill>
                  <a:srgbClr val="000000"/>
                </a:solidFill>
              </a:rPr>
              <a:t>This corresponds to </a:t>
            </a:r>
            <a:endParaRPr b="0" i="0">
              <a:solidFill>
                <a:srgbClr val="000000"/>
              </a:solidFill>
            </a:endParaRPr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</a:p>
          <a:p>
            <a:pPr>
              <a:defRPr sz="2000">
                <a:latin typeface="Cambria Math"/>
                <a:ea typeface="Cambria Math"/>
                <a:cs typeface="Cambria Math"/>
                <a:sym typeface="Cambria Math"/>
              </a:defRPr>
            </a:pPr>
          </a:p>
          <a:p>
            <a:pPr>
              <a:defRPr sz="2000"/>
            </a:pPr>
          </a:p>
          <a:p>
            <a:pPr>
              <a:defRPr b="1" i="1" sz="2000">
                <a:solidFill>
                  <a:srgbClr val="C00000"/>
                </a:solidFill>
              </a:defRPr>
            </a:pPr>
            <a:r>
              <a:t>Interpretation: </a:t>
            </a:r>
            <a:r>
              <a:rPr b="0" i="0">
                <a:solidFill>
                  <a:srgbClr val="000000"/>
                </a:solidFill>
              </a:rPr>
              <a:t>This is a confidence interval (range) for </a:t>
            </a:r>
            <a14:m>
              <m:oMath>
                <m:sSub>
                  <m:e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</m:t>
                    </m:r>
                  </m:e>
                  <m:sub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</m:oMath>
            </a14:m>
            <a:r>
              <a:rPr b="0" i="0">
                <a:solidFill>
                  <a:srgbClr val="000000"/>
                </a:solidFill>
              </a:rPr>
              <a:t>.  It indicates how often we expect to include </a:t>
            </a:r>
            <a14:m>
              <m:oMath>
                <m:sSub>
                  <m:e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</m:t>
                    </m:r>
                  </m:e>
                  <m:sub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</m:oMath>
            </a14:m>
            <a:r>
              <a:rPr b="0" i="0">
                <a:latin typeface="Times Roman"/>
                <a:ea typeface="Times Roman"/>
                <a:cs typeface="Times Roman"/>
                <a:sym typeface="Times Roman"/>
              </a:rPr>
              <a:t> </a:t>
            </a:r>
            <a:r>
              <a:rPr b="0" i="0">
                <a:solidFill>
                  <a:srgbClr val="000000"/>
                </a:solidFill>
              </a:rPr>
              <a:t>within our quoted range for a repeated series of experiments.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9" name="Slide Number Placeholder 2"/>
          <p:cNvSpPr txBox="1"/>
          <p:nvPr>
            <p:ph type="sldNum" sz="quarter" idx="2"/>
          </p:nvPr>
        </p:nvSpPr>
        <p:spPr>
          <a:xfrm>
            <a:off x="11684000" y="6402746"/>
            <a:ext cx="284372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90" name="Equation"/>
          <p:cNvSpPr txBox="1"/>
          <p:nvPr/>
        </p:nvSpPr>
        <p:spPr>
          <a:xfrm>
            <a:off x="3465717" y="2711974"/>
            <a:ext cx="3735012" cy="40965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limUpp>
                    <m:e>
                      <m:r>
                        <a:rPr xmlns:a="http://schemas.openxmlformats.org/drawingml/2006/main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e>
                    <m:lim>
                      <m:r>
                        <a:rPr xmlns:a="http://schemas.openxmlformats.org/drawingml/2006/main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̂</m:t>
                      </m:r>
                    </m:lim>
                  </m:limUpp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δ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sSub>
                    <m:e>
                      <m:r>
                        <a:rPr xmlns:a="http://schemas.openxmlformats.org/drawingml/2006/main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e>
                    <m:sub>
                      <m:r>
                        <a:rPr xmlns:a="http://schemas.openxmlformats.org/drawingml/2006/main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limUpp>
                    <m:e>
                      <m:r>
                        <a:rPr xmlns:a="http://schemas.openxmlformats.org/drawingml/2006/main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e>
                    <m:lim>
                      <m:r>
                        <a:rPr xmlns:a="http://schemas.openxmlformats.org/drawingml/2006/main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̂</m:t>
                      </m:r>
                    </m:lim>
                  </m:limUpp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δ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</m:oMath>
              </m:oMathPara>
            </a14:m>
            <a:endParaRPr sz="34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C00000"/>
                </a:solidFill>
              </a:defRPr>
            </a:lvl1pPr>
          </a:lstStyle>
          <a:p>
            <a:pPr/>
            <a:r>
              <a:t>Confidence levels – more than one variable</a:t>
            </a:r>
          </a:p>
        </p:txBody>
      </p:sp>
      <p:sp>
        <p:nvSpPr>
          <p:cNvPr id="293" name="Content Placeholder 8"/>
          <p:cNvSpPr txBox="1"/>
          <p:nvPr>
            <p:ph type="body" sz="half" idx="1"/>
          </p:nvPr>
        </p:nvSpPr>
        <p:spPr>
          <a:xfrm>
            <a:off x="838199" y="1825625"/>
            <a:ext cx="5458098" cy="4667250"/>
          </a:xfrm>
          <a:prstGeom prst="rect">
            <a:avLst/>
          </a:prstGeom>
        </p:spPr>
        <p:txBody>
          <a:bodyPr/>
          <a:lstStyle/>
          <a:p>
            <a:pPr>
              <a:defRPr b="1" i="1" sz="2000">
                <a:solidFill>
                  <a:srgbClr val="C00000"/>
                </a:solidFill>
              </a:defRPr>
            </a:pPr>
            <a:r>
              <a:t>Consider a function of two variables </a:t>
            </a:r>
            <a14:m>
              <m:oMath>
                <m:r>
                  <a:rPr xmlns:a="http://schemas.openxmlformats.org/drawingml/2006/main" sz="200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A</m:t>
                </m:r>
              </m:oMath>
            </a14:m>
            <a:r>
              <a:t> and </a:t>
            </a:r>
            <a14:m>
              <m:oMath>
                <m:r>
                  <a:rPr xmlns:a="http://schemas.openxmlformats.org/drawingml/2006/main" sz="200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B</m:t>
                </m:r>
              </m:oMath>
            </a14:m>
          </a:p>
          <a:p>
            <a:pPr>
              <a:defRPr sz="2000"/>
            </a:pPr>
            <a:r>
              <a:t>Errors on variables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</m:t>
                </m:r>
              </m:oMath>
            </a14:m>
            <a:r>
              <a:t> and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B</m:t>
                </m:r>
              </m:oMath>
            </a14:m>
            <a:r>
              <a:rPr i="1"/>
              <a:t> </a:t>
            </a:r>
            <a:r>
              <a:t>can be used to define an error ellipse. </a:t>
            </a:r>
          </a:p>
          <a:p>
            <a:pPr>
              <a:defRPr sz="2000"/>
            </a:pPr>
            <a:r>
              <a:t>Confidence region is calculated such that if a set of measurements were repeated many times and the confidence region calculated in the manner for each set of measurements, then a certain percentage of the time the confidence region would include the point representing the true values of the set of variables being estimated. </a:t>
            </a:r>
          </a:p>
        </p:txBody>
      </p:sp>
      <p:sp>
        <p:nvSpPr>
          <p:cNvPr id="294" name="Slide Number Placeholder 2"/>
          <p:cNvSpPr txBox="1"/>
          <p:nvPr>
            <p:ph type="sldNum" sz="quarter" idx="2"/>
          </p:nvPr>
        </p:nvSpPr>
        <p:spPr>
          <a:xfrm>
            <a:off x="11684000" y="6398513"/>
            <a:ext cx="284372" cy="2807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305" name="Group 17"/>
          <p:cNvGrpSpPr/>
          <p:nvPr/>
        </p:nvGrpSpPr>
        <p:grpSpPr>
          <a:xfrm>
            <a:off x="7050822" y="2518915"/>
            <a:ext cx="3957837" cy="3009208"/>
            <a:chOff x="0" y="0"/>
            <a:chExt cx="3957835" cy="3009206"/>
          </a:xfrm>
        </p:grpSpPr>
        <p:sp>
          <p:nvSpPr>
            <p:cNvPr id="295" name="Rectangle 18"/>
            <p:cNvSpPr/>
            <p:nvPr/>
          </p:nvSpPr>
          <p:spPr>
            <a:xfrm>
              <a:off x="0" y="-1"/>
              <a:ext cx="3957836" cy="3009208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304" name="Group 19"/>
            <p:cNvGrpSpPr/>
            <p:nvPr/>
          </p:nvGrpSpPr>
          <p:grpSpPr>
            <a:xfrm>
              <a:off x="177103" y="171797"/>
              <a:ext cx="3595477" cy="2653706"/>
              <a:chOff x="0" y="0"/>
              <a:chExt cx="3595475" cy="2653705"/>
            </a:xfrm>
          </p:grpSpPr>
          <p:grpSp>
            <p:nvGrpSpPr>
              <p:cNvPr id="298" name="Group 20"/>
              <p:cNvGrpSpPr/>
              <p:nvPr/>
            </p:nvGrpSpPr>
            <p:grpSpPr>
              <a:xfrm>
                <a:off x="0" y="0"/>
                <a:ext cx="3595476" cy="2653706"/>
                <a:chOff x="0" y="0"/>
                <a:chExt cx="3595475" cy="2653705"/>
              </a:xfrm>
            </p:grpSpPr>
            <p:sp>
              <p:nvSpPr>
                <p:cNvPr id="296" name="Straight Arrow Connector 26"/>
                <p:cNvSpPr/>
                <p:nvPr/>
              </p:nvSpPr>
              <p:spPr>
                <a:xfrm flipH="1" flipV="1">
                  <a:off x="0" y="0"/>
                  <a:ext cx="5601" cy="2653706"/>
                </a:xfrm>
                <a:prstGeom prst="line">
                  <a:avLst/>
                </a:prstGeom>
                <a:noFill/>
                <a:ln w="6350" cap="flat">
                  <a:solidFill>
                    <a:srgbClr val="000000"/>
                  </a:solidFill>
                  <a:prstDash val="solid"/>
                  <a:miter lim="800000"/>
                  <a:tailEnd type="triangle" w="med" len="med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97" name="Straight Arrow Connector 27"/>
                <p:cNvSpPr/>
                <p:nvPr/>
              </p:nvSpPr>
              <p:spPr>
                <a:xfrm>
                  <a:off x="0" y="2652432"/>
                  <a:ext cx="3595476" cy="1"/>
                </a:xfrm>
                <a:prstGeom prst="line">
                  <a:avLst/>
                </a:prstGeom>
                <a:noFill/>
                <a:ln w="6350" cap="flat">
                  <a:solidFill>
                    <a:srgbClr val="000000"/>
                  </a:solidFill>
                  <a:prstDash val="solid"/>
                  <a:miter lim="800000"/>
                  <a:tailEnd type="triangle" w="med" len="med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299" name="Oval 21"/>
              <p:cNvSpPr/>
              <p:nvPr/>
            </p:nvSpPr>
            <p:spPr>
              <a:xfrm rot="19771904">
                <a:off x="1239792" y="570466"/>
                <a:ext cx="1507039" cy="752601"/>
              </a:xfrm>
              <a:prstGeom prst="ellips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00" name="Straight Arrow Connector 22"/>
              <p:cNvSpPr/>
              <p:nvPr/>
            </p:nvSpPr>
            <p:spPr>
              <a:xfrm flipV="1">
                <a:off x="1972607" y="0"/>
                <a:ext cx="1" cy="1839883"/>
              </a:xfrm>
              <a:prstGeom prst="line">
                <a:avLst/>
              </a:prstGeom>
              <a:noFill/>
              <a:ln w="6350" cap="flat">
                <a:solidFill>
                  <a:srgbClr val="000000"/>
                </a:solidFill>
                <a:prstDash val="solid"/>
                <a:miter lim="800000"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01" name="Straight Arrow Connector 23"/>
              <p:cNvSpPr/>
              <p:nvPr/>
            </p:nvSpPr>
            <p:spPr>
              <a:xfrm>
                <a:off x="956960" y="955961"/>
                <a:ext cx="1921987" cy="1"/>
              </a:xfrm>
              <a:prstGeom prst="line">
                <a:avLst/>
              </a:prstGeom>
              <a:noFill/>
              <a:ln w="6350" cap="flat">
                <a:solidFill>
                  <a:srgbClr val="000000"/>
                </a:solidFill>
                <a:prstDash val="solid"/>
                <a:miter lim="800000"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02" name="TextBox 24"/>
              <p:cNvSpPr txBox="1"/>
              <p:nvPr/>
            </p:nvSpPr>
            <p:spPr>
              <a:xfrm>
                <a:off x="1766526" y="187409"/>
                <a:ext cx="169532" cy="1549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>
                    <m:oMathParaPr>
                      <m:jc m:val="centerGroup"/>
                    </m:oMathParaPr>
                    <m:oMath>
                      <m:sSub>
                        <m:e>
                          <m:r>
                            <a:rPr xmlns:a="http://schemas.openxmlformats.org/drawingml/2006/main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xmlns:a="http://schemas.openxmlformats.org/drawingml/2006/main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  <p:sp>
            <p:nvSpPr>
              <p:cNvPr id="303" name="TextBox 25"/>
              <p:cNvSpPr txBox="1"/>
              <p:nvPr/>
            </p:nvSpPr>
            <p:spPr>
              <a:xfrm>
                <a:off x="2480722" y="844115"/>
                <a:ext cx="182516" cy="1549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>
                    <m:oMathParaPr>
                      <m:jc m:val="centerGroup"/>
                    </m:oMathParaPr>
                    <m:oMath>
                      <m:sSub>
                        <m:e>
                          <m:r>
                            <a:rPr xmlns:a="http://schemas.openxmlformats.org/drawingml/2006/main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xmlns:a="http://schemas.openxmlformats.org/drawingml/2006/main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Rectangle"/>
          <p:cNvSpPr/>
          <p:nvPr/>
        </p:nvSpPr>
        <p:spPr>
          <a:xfrm>
            <a:off x="341256" y="2052629"/>
            <a:ext cx="4961197" cy="3486137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08" name="Title 1"/>
          <p:cNvSpPr txBox="1"/>
          <p:nvPr>
            <p:ph type="title"/>
          </p:nvPr>
        </p:nvSpPr>
        <p:spPr>
          <a:xfrm>
            <a:off x="460280" y="315831"/>
            <a:ext cx="10515601" cy="1325564"/>
          </a:xfrm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C00000"/>
                </a:solidFill>
              </a:defRPr>
            </a:lvl1pPr>
          </a:lstStyle>
          <a:p>
            <a:pPr/>
            <a:r>
              <a:t>Confidence levels and sigma</a:t>
            </a:r>
          </a:p>
        </p:txBody>
      </p:sp>
      <p:sp>
        <p:nvSpPr>
          <p:cNvPr id="309" name="Slide Number Placeholder 2"/>
          <p:cNvSpPr txBox="1"/>
          <p:nvPr>
            <p:ph type="sldNum" sz="quarter" idx="2"/>
          </p:nvPr>
        </p:nvSpPr>
        <p:spPr>
          <a:xfrm>
            <a:off x="11684000" y="6402746"/>
            <a:ext cx="284372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10" name="Commonly used values:"/>
          <p:cNvSpPr txBox="1"/>
          <p:nvPr/>
        </p:nvSpPr>
        <p:spPr>
          <a:xfrm>
            <a:off x="489010" y="1510907"/>
            <a:ext cx="3075197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b="1" i="1" sz="2400">
                <a:solidFill>
                  <a:srgbClr val="C00000"/>
                </a:solidFill>
              </a:defRPr>
            </a:lvl1pPr>
          </a:lstStyle>
          <a:p>
            <a:pPr/>
            <a:r>
              <a:t>Commonly used values:</a:t>
            </a:r>
          </a:p>
        </p:txBody>
      </p:sp>
      <p:pic>
        <p:nvPicPr>
          <p:cNvPr id="311" name="prob_hist.png" descr="prob_his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37086" y="1529968"/>
            <a:ext cx="6269398" cy="4374583"/>
          </a:xfrm>
          <a:prstGeom prst="rect">
            <a:avLst/>
          </a:prstGeom>
          <a:ln w="12700">
            <a:miter lim="400000"/>
          </a:ln>
        </p:spPr>
      </p:pic>
      <p:sp>
        <p:nvSpPr>
          <p:cNvPr id="312" name="Line"/>
          <p:cNvSpPr/>
          <p:nvPr/>
        </p:nvSpPr>
        <p:spPr>
          <a:xfrm>
            <a:off x="8046733" y="1707142"/>
            <a:ext cx="1997367" cy="1"/>
          </a:xfrm>
          <a:prstGeom prst="line">
            <a:avLst/>
          </a:prstGeom>
          <a:ln w="63500">
            <a:solidFill>
              <a:schemeClr val="accent6"/>
            </a:solidFill>
            <a:miter/>
            <a:headEnd type="triangle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13" name="area containing 68% of the probability"/>
          <p:cNvSpPr txBox="1"/>
          <p:nvPr/>
        </p:nvSpPr>
        <p:spPr>
          <a:xfrm>
            <a:off x="7079243" y="1122844"/>
            <a:ext cx="4033947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000">
                <a:solidFill>
                  <a:schemeClr val="accent6"/>
                </a:solidFill>
              </a:defRPr>
            </a:lvl1pPr>
          </a:lstStyle>
          <a:p>
            <a:pPr/>
            <a:r>
              <a:t>area containing 68% of the probability</a:t>
            </a:r>
          </a:p>
        </p:txBody>
      </p:sp>
      <p:sp>
        <p:nvSpPr>
          <p:cNvPr id="314" name="1  : area bounded from -1  to +1"/>
          <p:cNvSpPr txBox="1"/>
          <p:nvPr/>
        </p:nvSpPr>
        <p:spPr>
          <a:xfrm>
            <a:off x="548835" y="2190933"/>
            <a:ext cx="3620803" cy="40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  <a:r>
              <a:t>1</a:t>
            </a:r>
            <a14:m>
              <m:oMath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σ</m:t>
                </m:r>
              </m:oMath>
            </a14:m>
            <a:r>
              <a:rPr>
                <a:latin typeface="Times Roman"/>
                <a:ea typeface="Times Roman"/>
                <a:cs typeface="Times Roman"/>
                <a:sym typeface="Times Roman"/>
              </a:rPr>
              <a:t> : area bounded from -1</a:t>
            </a:r>
            <a14:m>
              <m:oMath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σ</m:t>
                </m:r>
              </m:oMath>
            </a14:m>
            <a:r>
              <a:rPr>
                <a:latin typeface="Times Roman"/>
                <a:ea typeface="Times Roman"/>
                <a:cs typeface="Times Roman"/>
                <a:sym typeface="Times Roman"/>
              </a:rPr>
              <a:t> to +1</a:t>
            </a:r>
            <a14:m>
              <m:oMath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σ</m:t>
                </m:r>
              </m:oMath>
            </a14:m>
          </a:p>
        </p:txBody>
      </p:sp>
      <p:sp>
        <p:nvSpPr>
          <p:cNvPr id="315" name="contains 68.3% of the probability"/>
          <p:cNvSpPr txBox="1"/>
          <p:nvPr/>
        </p:nvSpPr>
        <p:spPr>
          <a:xfrm>
            <a:off x="1610124" y="2582766"/>
            <a:ext cx="3509824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  <a:r>
              <a:t>contains </a:t>
            </a:r>
            <a:r>
              <a:rPr b="1"/>
              <a:t>68.3%</a:t>
            </a:r>
            <a:r>
              <a:t> of the probability</a:t>
            </a:r>
          </a:p>
        </p:txBody>
      </p:sp>
      <p:sp>
        <p:nvSpPr>
          <p:cNvPr id="316" name="2  : area bounded from -2  to +2"/>
          <p:cNvSpPr txBox="1"/>
          <p:nvPr/>
        </p:nvSpPr>
        <p:spPr>
          <a:xfrm>
            <a:off x="548835" y="3115112"/>
            <a:ext cx="3620803" cy="40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  <a:r>
              <a:t>2</a:t>
            </a:r>
            <a14:m>
              <m:oMath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σ</m:t>
                </m:r>
              </m:oMath>
            </a14:m>
            <a:r>
              <a:rPr>
                <a:latin typeface="Times Roman"/>
                <a:ea typeface="Times Roman"/>
                <a:cs typeface="Times Roman"/>
                <a:sym typeface="Times Roman"/>
              </a:rPr>
              <a:t> : area bounded from -2</a:t>
            </a:r>
            <a14:m>
              <m:oMath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σ</m:t>
                </m:r>
              </m:oMath>
            </a14:m>
            <a:r>
              <a:rPr>
                <a:latin typeface="Times Roman"/>
                <a:ea typeface="Times Roman"/>
                <a:cs typeface="Times Roman"/>
                <a:sym typeface="Times Roman"/>
              </a:rPr>
              <a:t> to +2</a:t>
            </a:r>
            <a14:m>
              <m:oMath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σ</m:t>
                </m:r>
              </m:oMath>
            </a14:m>
          </a:p>
        </p:txBody>
      </p:sp>
      <p:sp>
        <p:nvSpPr>
          <p:cNvPr id="317" name="contains 95.5% of the probability"/>
          <p:cNvSpPr txBox="1"/>
          <p:nvPr/>
        </p:nvSpPr>
        <p:spPr>
          <a:xfrm>
            <a:off x="1737124" y="3576937"/>
            <a:ext cx="3509824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  <a:r>
              <a:t>contains </a:t>
            </a:r>
            <a:r>
              <a:rPr b="1"/>
              <a:t>95.5%</a:t>
            </a:r>
            <a:r>
              <a:t> of the probability</a:t>
            </a:r>
          </a:p>
        </p:txBody>
      </p:sp>
      <p:sp>
        <p:nvSpPr>
          <p:cNvPr id="318" name="3  : area bounded from -3  to +3"/>
          <p:cNvSpPr txBox="1"/>
          <p:nvPr/>
        </p:nvSpPr>
        <p:spPr>
          <a:xfrm>
            <a:off x="548835" y="4039291"/>
            <a:ext cx="3620803" cy="40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  <a:r>
              <a:t>3</a:t>
            </a:r>
            <a14:m>
              <m:oMath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σ</m:t>
                </m:r>
              </m:oMath>
            </a14:m>
            <a:r>
              <a:rPr>
                <a:latin typeface="Times Roman"/>
                <a:ea typeface="Times Roman"/>
                <a:cs typeface="Times Roman"/>
                <a:sym typeface="Times Roman"/>
              </a:rPr>
              <a:t> : area bounded from -3</a:t>
            </a:r>
            <a14:m>
              <m:oMath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σ</m:t>
                </m:r>
              </m:oMath>
            </a14:m>
            <a:r>
              <a:rPr>
                <a:latin typeface="Times Roman"/>
                <a:ea typeface="Times Roman"/>
                <a:cs typeface="Times Roman"/>
                <a:sym typeface="Times Roman"/>
              </a:rPr>
              <a:t> to +3</a:t>
            </a:r>
            <a14:m>
              <m:oMath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σ</m:t>
                </m:r>
              </m:oMath>
            </a14:m>
          </a:p>
        </p:txBody>
      </p:sp>
      <p:sp>
        <p:nvSpPr>
          <p:cNvPr id="319" name="contains 99.7% of the probability"/>
          <p:cNvSpPr txBox="1"/>
          <p:nvPr/>
        </p:nvSpPr>
        <p:spPr>
          <a:xfrm>
            <a:off x="1737124" y="4501117"/>
            <a:ext cx="3509824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  <a:r>
              <a:t>contains </a:t>
            </a:r>
            <a:r>
              <a:rPr b="1"/>
              <a:t>99.7% </a:t>
            </a:r>
            <a:r>
              <a:t>of the probability</a:t>
            </a:r>
          </a:p>
        </p:txBody>
      </p:sp>
      <p:sp>
        <p:nvSpPr>
          <p:cNvPr id="320" name="5  : “discovery threshold” : 99.99994%!"/>
          <p:cNvSpPr txBox="1"/>
          <p:nvPr/>
        </p:nvSpPr>
        <p:spPr>
          <a:xfrm>
            <a:off x="548835" y="4963470"/>
            <a:ext cx="4232502" cy="40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  <a:r>
              <a:t>5</a:t>
            </a:r>
            <a14:m>
              <m:oMath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σ</m:t>
                </m:r>
              </m:oMath>
            </a14:m>
            <a:r>
              <a:rPr>
                <a:latin typeface="Times Roman"/>
                <a:ea typeface="Times Roman"/>
                <a:cs typeface="Times Roman"/>
                <a:sym typeface="Times Roman"/>
              </a:rPr>
              <a:t> : “discovery threshold” : 99.99994%!</a:t>
            </a:r>
          </a:p>
        </p:txBody>
      </p:sp>
      <p:sp>
        <p:nvSpPr>
          <p:cNvPr id="321" name="Area bounded from   to 1.28  is 90%"/>
          <p:cNvSpPr txBox="1"/>
          <p:nvPr/>
        </p:nvSpPr>
        <p:spPr>
          <a:xfrm>
            <a:off x="581824" y="5687562"/>
            <a:ext cx="4226061" cy="789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  <a:r>
              <a:t>Area bounded from 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m:rPr>
                    <m:sty m:val="p"/>
                  </m:rP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∞</m:t>
                </m:r>
              </m:oMath>
            </a14:m>
            <a:r>
              <a:t> to 1.28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σ</m:t>
                </m:r>
              </m:oMath>
            </a14:m>
            <a:r>
              <a:t> is 90%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Title 1"/>
          <p:cNvSpPr txBox="1"/>
          <p:nvPr>
            <p:ph type="title"/>
          </p:nvPr>
        </p:nvSpPr>
        <p:spPr>
          <a:xfrm>
            <a:off x="460280" y="315831"/>
            <a:ext cx="10515601" cy="1325564"/>
          </a:xfrm>
          <a:prstGeom prst="rect">
            <a:avLst/>
          </a:prstGeom>
        </p:spPr>
        <p:txBody>
          <a:bodyPr/>
          <a:lstStyle/>
          <a:p>
            <a:pPr>
              <a:defRPr i="1">
                <a:solidFill>
                  <a:srgbClr val="C00000"/>
                </a:solidFill>
              </a:defRPr>
            </a:pPr>
            <a:r>
              <a:t>Confidence levels &amp; </a:t>
            </a:r>
            <a14:m>
              <m:oMath>
                <m:sSup>
                  <m:e>
                    <m:r>
                      <a:rPr xmlns:a="http://schemas.openxmlformats.org/drawingml/2006/main" sz="49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χ</m:t>
                    </m:r>
                  </m:e>
                  <m:sup>
                    <m:r>
                      <a:rPr xmlns:a="http://schemas.openxmlformats.org/drawingml/2006/main" sz="49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</a:p>
        </p:txBody>
      </p:sp>
      <p:sp>
        <p:nvSpPr>
          <p:cNvPr id="324" name="Content Placeholder 8"/>
          <p:cNvSpPr txBox="1"/>
          <p:nvPr>
            <p:ph type="body" sz="quarter" idx="1"/>
          </p:nvPr>
        </p:nvSpPr>
        <p:spPr>
          <a:xfrm>
            <a:off x="499533" y="1833147"/>
            <a:ext cx="4081943" cy="689393"/>
          </a:xfrm>
          <a:prstGeom prst="rect">
            <a:avLst/>
          </a:prstGeom>
        </p:spPr>
        <p:txBody>
          <a:bodyPr/>
          <a:lstStyle/>
          <a:p>
            <a:pPr>
              <a:defRPr b="1" i="1" sz="2000">
                <a:solidFill>
                  <a:srgbClr val="C00000"/>
                </a:solidFill>
              </a:defRPr>
            </a:pPr>
            <a:r>
              <a:t>If our best-fit value has </a:t>
            </a:r>
            <a14:m>
              <m:oMath>
                <m:sSup>
                  <m:e>
                    <m:r>
                      <a:rPr xmlns:a="http://schemas.openxmlformats.org/drawingml/2006/main" sz="215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χ</m:t>
                    </m:r>
                  </m:e>
                  <m:sup>
                    <m:r>
                      <a:rPr xmlns:a="http://schemas.openxmlformats.org/drawingml/2006/main" sz="215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=</m:t>
                </m:r>
                <m:sSubSup>
                  <m:e>
                    <m:r>
                      <a:rPr xmlns:a="http://schemas.openxmlformats.org/drawingml/2006/main" sz="215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χ</m:t>
                    </m:r>
                  </m:e>
                  <m:sub>
                    <m:r>
                      <m:rPr>
                        <m:nor/>
                      </m:rPr>
                      <a:rPr xmlns:a="http://schemas.openxmlformats.org/drawingml/2006/main" sz="215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min</m:t>
                    </m:r>
                  </m:sub>
                  <m:sup>
                    <m:r>
                      <a:rPr xmlns:a="http://schemas.openxmlformats.org/drawingml/2006/main" sz="215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bSup>
              </m:oMath>
            </a14:m>
            <a:r>
              <a:t>:</a:t>
            </a:r>
          </a:p>
        </p:txBody>
      </p:sp>
      <p:sp>
        <p:nvSpPr>
          <p:cNvPr id="325" name="Slide Number Placeholder 2"/>
          <p:cNvSpPr txBox="1"/>
          <p:nvPr>
            <p:ph type="sldNum" sz="quarter" idx="2"/>
          </p:nvPr>
        </p:nvSpPr>
        <p:spPr>
          <a:xfrm>
            <a:off x="11684000" y="6402746"/>
            <a:ext cx="284372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26" name="Equation"/>
          <p:cNvSpPr txBox="1"/>
          <p:nvPr/>
        </p:nvSpPr>
        <p:spPr>
          <a:xfrm>
            <a:off x="2077728" y="3080237"/>
            <a:ext cx="1997930" cy="44378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p>
                    <m:e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χ</m:t>
                      </m:r>
                    </m:e>
                    <m:sup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Sup>
                    <m:e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χ</m:t>
                      </m:r>
                    </m:e>
                    <m:sub>
                      <m:r>
                        <m:rPr>
                          <m:nor/>
                        </m:rP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</m:sub>
                    <m:sup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m:rPr>
                      <m:sty m:val="p"/>
                    </m:rP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Δ</m:t>
                  </m:r>
                </m:oMath>
              </m:oMathPara>
            </a14:m>
            <a:endParaRPr sz="2600"/>
          </a:p>
        </p:txBody>
      </p:sp>
      <p:grpSp>
        <p:nvGrpSpPr>
          <p:cNvPr id="339" name="Group"/>
          <p:cNvGrpSpPr/>
          <p:nvPr/>
        </p:nvGrpSpPr>
        <p:grpSpPr>
          <a:xfrm>
            <a:off x="807603" y="4099201"/>
            <a:ext cx="4081943" cy="1628671"/>
            <a:chOff x="0" y="0"/>
            <a:chExt cx="4081942" cy="1628669"/>
          </a:xfrm>
        </p:grpSpPr>
        <p:sp>
          <p:nvSpPr>
            <p:cNvPr id="327" name="Equation"/>
            <p:cNvSpPr txBox="1"/>
            <p:nvPr/>
          </p:nvSpPr>
          <p:spPr>
            <a:xfrm>
              <a:off x="2518116" y="0"/>
              <a:ext cx="966389" cy="2743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latinLnBrk="1"/>
              <a14:m>
                <m:oMathPara>
                  <m:oMathParaPr>
                    <m:jc m:val="centerGroup"/>
                  </m:oMathParaPr>
                  <m:oMath>
                    <m:sSub>
                      <m:e>
                        <m:r>
                          <a:rPr xmlns:a="http://schemas.openxmlformats.org/drawingml/2006/mai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m:rPr>
                            <m:nor/>
                          </m:rPr>
                          <a:rPr xmlns:a="http://schemas.openxmlformats.org/drawingml/2006/mai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params</m:t>
                        </m:r>
                      </m:sub>
                    </m:sSub>
                  </m:oMath>
                </m:oMathPara>
              </a14:m>
              <a:endParaRPr sz="2000">
                <a:solidFill>
                  <a:srgbClr val="C00000"/>
                </a:solidFill>
              </a:endParaRPr>
            </a:p>
          </p:txBody>
        </p:sp>
        <p:sp>
          <p:nvSpPr>
            <p:cNvPr id="328" name="CI"/>
            <p:cNvSpPr txBox="1"/>
            <p:nvPr/>
          </p:nvSpPr>
          <p:spPr>
            <a:xfrm rot="16200000">
              <a:off x="24730" y="961445"/>
              <a:ext cx="283627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solidFill>
                    <a:srgbClr val="C00000"/>
                  </a:solidFill>
                </a:defRPr>
              </a:lvl1pPr>
            </a:lstStyle>
            <a:p>
              <a:pPr/>
              <a:r>
                <a:t>CI</a:t>
              </a:r>
            </a:p>
          </p:txBody>
        </p:sp>
        <p:sp>
          <p:nvSpPr>
            <p:cNvPr id="329" name="68%…"/>
            <p:cNvSpPr txBox="1"/>
            <p:nvPr/>
          </p:nvSpPr>
          <p:spPr>
            <a:xfrm>
              <a:off x="397780" y="672966"/>
              <a:ext cx="736040" cy="9052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lnSpc>
                  <a:spcPct val="40000"/>
                </a:lnSpc>
                <a:spcBef>
                  <a:spcPts val="1000"/>
                </a:spcBef>
                <a:buFont typeface="Arial"/>
                <a:defRPr sz="2000">
                  <a:solidFill>
                    <a:schemeClr val="accent1">
                      <a:satOff val="-3547"/>
                      <a:lumOff val="-10352"/>
                    </a:schemeClr>
                  </a:solidFill>
                </a:defRPr>
              </a:pPr>
              <a:r>
                <a:t>68%</a:t>
              </a:r>
            </a:p>
            <a:p>
              <a:pPr>
                <a:lnSpc>
                  <a:spcPct val="40000"/>
                </a:lnSpc>
                <a:spcBef>
                  <a:spcPts val="1000"/>
                </a:spcBef>
                <a:buFont typeface="Arial"/>
                <a:defRPr sz="2000">
                  <a:solidFill>
                    <a:schemeClr val="accent1">
                      <a:satOff val="-3547"/>
                      <a:lumOff val="-10352"/>
                    </a:schemeClr>
                  </a:solidFill>
                </a:defRPr>
              </a:pPr>
              <a:r>
                <a:t>95.4%</a:t>
              </a:r>
            </a:p>
            <a:p>
              <a:pPr>
                <a:lnSpc>
                  <a:spcPct val="40000"/>
                </a:lnSpc>
                <a:spcBef>
                  <a:spcPts val="1000"/>
                </a:spcBef>
                <a:buFont typeface="Arial"/>
                <a:defRPr sz="2000">
                  <a:solidFill>
                    <a:schemeClr val="accent1">
                      <a:satOff val="-3547"/>
                      <a:lumOff val="-10352"/>
                    </a:schemeClr>
                  </a:solidFill>
                </a:defRPr>
              </a:pPr>
              <a:r>
                <a:t>99.7%</a:t>
              </a:r>
            </a:p>
          </p:txBody>
        </p:sp>
        <p:sp>
          <p:nvSpPr>
            <p:cNvPr id="330" name="1.0…"/>
            <p:cNvSpPr txBox="1"/>
            <p:nvPr/>
          </p:nvSpPr>
          <p:spPr>
            <a:xfrm>
              <a:off x="2052079" y="675343"/>
              <a:ext cx="425734" cy="9052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lnSpc>
                  <a:spcPct val="40000"/>
                </a:lnSpc>
                <a:spcBef>
                  <a:spcPts val="1000"/>
                </a:spcBef>
                <a:buFont typeface="Arial"/>
                <a:defRPr sz="2000"/>
              </a:pPr>
              <a:r>
                <a:t>1.0</a:t>
              </a:r>
            </a:p>
            <a:p>
              <a:pPr>
                <a:lnSpc>
                  <a:spcPct val="40000"/>
                </a:lnSpc>
                <a:spcBef>
                  <a:spcPts val="1000"/>
                </a:spcBef>
                <a:buFont typeface="Arial"/>
                <a:defRPr sz="2000"/>
              </a:pPr>
              <a:r>
                <a:t>4.0</a:t>
              </a:r>
            </a:p>
            <a:p>
              <a:pPr>
                <a:lnSpc>
                  <a:spcPct val="40000"/>
                </a:lnSpc>
                <a:spcBef>
                  <a:spcPts val="1000"/>
                </a:spcBef>
                <a:buFont typeface="Arial"/>
                <a:defRPr sz="2000"/>
              </a:pPr>
              <a:r>
                <a:t>9.0</a:t>
              </a:r>
            </a:p>
          </p:txBody>
        </p:sp>
        <p:sp>
          <p:nvSpPr>
            <p:cNvPr id="331" name="2.30…"/>
            <p:cNvSpPr txBox="1"/>
            <p:nvPr/>
          </p:nvSpPr>
          <p:spPr>
            <a:xfrm>
              <a:off x="2724075" y="675343"/>
              <a:ext cx="554470" cy="9052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lnSpc>
                  <a:spcPct val="40000"/>
                </a:lnSpc>
                <a:spcBef>
                  <a:spcPts val="1000"/>
                </a:spcBef>
                <a:buFont typeface="Arial"/>
                <a:defRPr sz="2000"/>
              </a:pPr>
              <a:r>
                <a:t>2.30</a:t>
              </a:r>
            </a:p>
            <a:p>
              <a:pPr>
                <a:lnSpc>
                  <a:spcPct val="40000"/>
                </a:lnSpc>
                <a:spcBef>
                  <a:spcPts val="1000"/>
                </a:spcBef>
                <a:buFont typeface="Arial"/>
                <a:defRPr sz="2000"/>
              </a:pPr>
              <a:r>
                <a:t>6.17</a:t>
              </a:r>
            </a:p>
            <a:p>
              <a:pPr>
                <a:lnSpc>
                  <a:spcPct val="40000"/>
                </a:lnSpc>
                <a:spcBef>
                  <a:spcPts val="1000"/>
                </a:spcBef>
                <a:buFont typeface="Arial"/>
                <a:defRPr sz="2000"/>
              </a:pPr>
              <a:r>
                <a:t>11.8</a:t>
              </a:r>
            </a:p>
          </p:txBody>
        </p:sp>
        <p:sp>
          <p:nvSpPr>
            <p:cNvPr id="332" name="3.53…"/>
            <p:cNvSpPr txBox="1"/>
            <p:nvPr/>
          </p:nvSpPr>
          <p:spPr>
            <a:xfrm>
              <a:off x="3524808" y="675343"/>
              <a:ext cx="554470" cy="9052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lnSpc>
                  <a:spcPct val="40000"/>
                </a:lnSpc>
                <a:spcBef>
                  <a:spcPts val="1000"/>
                </a:spcBef>
                <a:buFont typeface="Arial"/>
                <a:defRPr sz="2000"/>
              </a:pPr>
              <a:r>
                <a:t>3.53</a:t>
              </a:r>
            </a:p>
            <a:p>
              <a:pPr>
                <a:lnSpc>
                  <a:spcPct val="40000"/>
                </a:lnSpc>
                <a:spcBef>
                  <a:spcPts val="1000"/>
                </a:spcBef>
                <a:buFont typeface="Arial"/>
                <a:defRPr sz="2000"/>
              </a:pPr>
              <a:r>
                <a:t>8.02</a:t>
              </a:r>
            </a:p>
            <a:p>
              <a:pPr>
                <a:lnSpc>
                  <a:spcPct val="40000"/>
                </a:lnSpc>
                <a:spcBef>
                  <a:spcPts val="1000"/>
                </a:spcBef>
                <a:buFont typeface="Arial"/>
                <a:defRPr sz="2000"/>
              </a:pPr>
              <a:r>
                <a:t>14.2</a:t>
              </a:r>
            </a:p>
          </p:txBody>
        </p:sp>
        <p:sp>
          <p:nvSpPr>
            <p:cNvPr id="333" name="1"/>
            <p:cNvSpPr txBox="1"/>
            <p:nvPr/>
          </p:nvSpPr>
          <p:spPr>
            <a:xfrm>
              <a:off x="2148507" y="298422"/>
              <a:ext cx="232877" cy="340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lnSpc>
                  <a:spcPct val="40000"/>
                </a:lnSpc>
                <a:spcBef>
                  <a:spcPts val="1000"/>
                </a:spcBef>
                <a:buFont typeface="Arial"/>
                <a:defRPr sz="2000">
                  <a:solidFill>
                    <a:schemeClr val="accent1">
                      <a:satOff val="-3547"/>
                      <a:lumOff val="-10352"/>
                    </a:schemeClr>
                  </a:solid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334" name="2"/>
            <p:cNvSpPr txBox="1"/>
            <p:nvPr/>
          </p:nvSpPr>
          <p:spPr>
            <a:xfrm>
              <a:off x="2884871" y="298422"/>
              <a:ext cx="232878" cy="340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lnSpc>
                  <a:spcPct val="40000"/>
                </a:lnSpc>
                <a:spcBef>
                  <a:spcPts val="1000"/>
                </a:spcBef>
                <a:buFont typeface="Arial"/>
                <a:defRPr sz="2000">
                  <a:solidFill>
                    <a:schemeClr val="accent1">
                      <a:satOff val="-3547"/>
                      <a:lumOff val="-10352"/>
                    </a:schemeClr>
                  </a:solid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335" name="3"/>
            <p:cNvSpPr txBox="1"/>
            <p:nvPr/>
          </p:nvSpPr>
          <p:spPr>
            <a:xfrm>
              <a:off x="3685604" y="298422"/>
              <a:ext cx="232877" cy="340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lnSpc>
                  <a:spcPct val="40000"/>
                </a:lnSpc>
                <a:spcBef>
                  <a:spcPts val="1000"/>
                </a:spcBef>
                <a:buFont typeface="Arial"/>
                <a:defRPr sz="2000">
                  <a:solidFill>
                    <a:schemeClr val="accent1">
                      <a:satOff val="-3547"/>
                      <a:lumOff val="-10352"/>
                    </a:schemeClr>
                  </a:solid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336" name="Line"/>
            <p:cNvSpPr/>
            <p:nvPr/>
          </p:nvSpPr>
          <p:spPr>
            <a:xfrm flipV="1">
              <a:off x="1928947" y="672966"/>
              <a:ext cx="1" cy="905293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7" name="Line"/>
            <p:cNvSpPr/>
            <p:nvPr/>
          </p:nvSpPr>
          <p:spPr>
            <a:xfrm flipH="1" flipV="1">
              <a:off x="1928947" y="660266"/>
              <a:ext cx="2152996" cy="1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8" name="1…"/>
            <p:cNvSpPr txBox="1"/>
            <p:nvPr/>
          </p:nvSpPr>
          <p:spPr>
            <a:xfrm>
              <a:off x="1274906" y="576508"/>
              <a:ext cx="370114" cy="1052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lnSpc>
                  <a:spcPct val="40000"/>
                </a:lnSpc>
                <a:spcBef>
                  <a:spcPts val="1000"/>
                </a:spcBef>
                <a:buFont typeface="Arial"/>
                <a:defRPr baseline="-30000" sz="2000">
                  <a:solidFill>
                    <a:schemeClr val="accent1">
                      <a:satOff val="-3547"/>
                      <a:lumOff val="-10352"/>
                    </a:schemeClr>
                  </a:solidFill>
                </a:defRPr>
              </a:pPr>
              <a:r>
                <a:t>1</a:t>
              </a:r>
              <a14:m>
                <m:oMath>
                  <m:r>
                    <a:rPr xmlns:a="http://schemas.openxmlformats.org/drawingml/2006/main" sz="2150" i="1">
                      <a:solidFill>
                        <a:srgbClr val="365B9C"/>
                      </a:solidFill>
                      <a:latin typeface="Cambria Math" panose="02040503050406030204" pitchFamily="18" charset="0"/>
                    </a:rPr>
                    <m:t>σ</m:t>
                  </m:r>
                </m:oMath>
              </a14:m>
            </a:p>
            <a:p>
              <a:pPr>
                <a:lnSpc>
                  <a:spcPct val="40000"/>
                </a:lnSpc>
                <a:spcBef>
                  <a:spcPts val="1000"/>
                </a:spcBef>
                <a:buFont typeface="Arial"/>
                <a:defRPr baseline="-30000" sz="2000">
                  <a:solidFill>
                    <a:schemeClr val="accent1">
                      <a:satOff val="-3547"/>
                      <a:lumOff val="-10352"/>
                    </a:schemeClr>
                  </a:solidFill>
                </a:defRPr>
              </a:pPr>
              <a:r>
                <a:t>2</a:t>
              </a:r>
              <a14:m>
                <m:oMath>
                  <m:r>
                    <a:rPr xmlns:a="http://schemas.openxmlformats.org/drawingml/2006/main" sz="2150" i="1">
                      <a:solidFill>
                        <a:srgbClr val="365B9C"/>
                      </a:solidFill>
                      <a:latin typeface="Cambria Math" panose="02040503050406030204" pitchFamily="18" charset="0"/>
                    </a:rPr>
                    <m:t>σ</m:t>
                  </m:r>
                </m:oMath>
              </a14:m>
            </a:p>
            <a:p>
              <a:pPr>
                <a:lnSpc>
                  <a:spcPct val="10000"/>
                </a:lnSpc>
                <a:spcBef>
                  <a:spcPts val="1000"/>
                </a:spcBef>
                <a:buFont typeface="Arial"/>
                <a:defRPr baseline="-30000" sz="2000">
                  <a:solidFill>
                    <a:schemeClr val="accent1">
                      <a:satOff val="-3547"/>
                      <a:lumOff val="-10352"/>
                    </a:schemeClr>
                  </a:solidFill>
                </a:defRPr>
              </a:pPr>
              <a:r>
                <a:t>3</a:t>
              </a:r>
              <a14:m>
                <m:oMath>
                  <m:r>
                    <a:rPr xmlns:a="http://schemas.openxmlformats.org/drawingml/2006/main" sz="2150" i="1">
                      <a:solidFill>
                        <a:srgbClr val="365B9C"/>
                      </a:solidFill>
                      <a:latin typeface="Cambria Math" panose="02040503050406030204" pitchFamily="18" charset="0"/>
                    </a:rPr>
                    <m:t>σ</m:t>
                  </m:r>
                </m:oMath>
              </a14:m>
              <a:endParaRPr>
                <a:solidFill>
                  <a:srgbClr val="365B9D"/>
                </a:solidFill>
              </a:endParaRPr>
            </a:p>
          </p:txBody>
        </p:sp>
      </p:grpSp>
      <p:sp>
        <p:nvSpPr>
          <p:cNvPr id="340" name="Contours of equal probability are defined by"/>
          <p:cNvSpPr txBox="1"/>
          <p:nvPr/>
        </p:nvSpPr>
        <p:spPr>
          <a:xfrm>
            <a:off x="523650" y="2631297"/>
            <a:ext cx="4649848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000"/>
            </a:lvl1pPr>
          </a:lstStyle>
          <a:p>
            <a:pPr/>
            <a:r>
              <a:t>Contours of equal probability are defined by</a:t>
            </a:r>
          </a:p>
        </p:txBody>
      </p:sp>
      <p:pic>
        <p:nvPicPr>
          <p:cNvPr id="341" name="prob_hist.png" descr="prob_his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37086" y="1529968"/>
            <a:ext cx="6269398" cy="4374583"/>
          </a:xfrm>
          <a:prstGeom prst="rect">
            <a:avLst/>
          </a:prstGeom>
          <a:ln w="12700">
            <a:miter lim="400000"/>
          </a:ln>
        </p:spPr>
      </p:pic>
      <p:sp>
        <p:nvSpPr>
          <p:cNvPr id="342" name="Line"/>
          <p:cNvSpPr/>
          <p:nvPr/>
        </p:nvSpPr>
        <p:spPr>
          <a:xfrm>
            <a:off x="8046733" y="1707142"/>
            <a:ext cx="1997367" cy="1"/>
          </a:xfrm>
          <a:prstGeom prst="line">
            <a:avLst/>
          </a:prstGeom>
          <a:ln w="63500">
            <a:solidFill>
              <a:schemeClr val="accent6"/>
            </a:solidFill>
            <a:miter/>
            <a:headEnd type="triangle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43" name="Text"/>
          <p:cNvSpPr txBox="1"/>
          <p:nvPr/>
        </p:nvSpPr>
        <p:spPr>
          <a:xfrm>
            <a:off x="8217094" y="1057119"/>
            <a:ext cx="1656644" cy="504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000">
                <a:solidFill>
                  <a:schemeClr val="accent6"/>
                </a:solidFill>
              </a:defRPr>
            </a:lvl1pPr>
          </a:lstStyle>
          <a:p>
            <a:pPr/>
            <a14:m>
              <m:oMathPara>
                <m:oMathParaPr>
                  <m:jc m:val="left"/>
                </m:oMathParaPr>
                <m:oMath>
                  <m:sSup>
                    <m:e>
                      <m:r>
                        <a:rPr xmlns:a="http://schemas.openxmlformats.org/drawingml/2006/main" sz="2150" i="1">
                          <a:solidFill>
                            <a:srgbClr val="70AD47"/>
                          </a:solidFill>
                          <a:latin typeface="Cambria Math" panose="02040503050406030204" pitchFamily="18" charset="0"/>
                        </a:rPr>
                        <m:t>χ</m:t>
                      </m:r>
                    </m:e>
                    <m:sup>
                      <m:r>
                        <a:rPr xmlns:a="http://schemas.openxmlformats.org/drawingml/2006/main" sz="2150" i="1">
                          <a:solidFill>
                            <a:srgbClr val="70AD47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2150" i="1">
                      <a:solidFill>
                        <a:srgbClr val="70AD47"/>
                      </a:solidFill>
                      <a:latin typeface="Cambria Math" panose="02040503050406030204" pitchFamily="18" charset="0"/>
                    </a:rPr>
                    <m:t>&lt;</m:t>
                  </m:r>
                  <m:sSubSup>
                    <m:e>
                      <m:r>
                        <a:rPr xmlns:a="http://schemas.openxmlformats.org/drawingml/2006/main" sz="2150" i="1">
                          <a:solidFill>
                            <a:srgbClr val="70AD47"/>
                          </a:solidFill>
                          <a:latin typeface="Cambria Math" panose="02040503050406030204" pitchFamily="18" charset="0"/>
                        </a:rPr>
                        <m:t>χ</m:t>
                      </m:r>
                    </m:e>
                    <m:sub>
                      <m:r>
                        <m:rPr>
                          <m:nor/>
                        </m:rPr>
                        <a:rPr xmlns:a="http://schemas.openxmlformats.org/drawingml/2006/main" sz="2150" i="1">
                          <a:solidFill>
                            <a:srgbClr val="70AD47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</m:sub>
                    <m:sup>
                      <m:r>
                        <a:rPr xmlns:a="http://schemas.openxmlformats.org/drawingml/2006/main" sz="2150" i="1">
                          <a:solidFill>
                            <a:srgbClr val="70AD47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r>
                    <a:rPr xmlns:a="http://schemas.openxmlformats.org/drawingml/2006/main" sz="2150" i="1">
                      <a:solidFill>
                        <a:srgbClr val="70AD47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2150" i="1">
                      <a:solidFill>
                        <a:srgbClr val="70AD47"/>
                      </a:solidFill>
                      <a:latin typeface="Cambria Math" panose="02040503050406030204" pitchFamily="18" charset="0"/>
                    </a:rPr>
                    <m:t>1</m:t>
                  </m:r>
                </m:oMath>
              </m:oMathPara>
            </a14:m>
            <a:endParaRPr>
              <a:solidFill>
                <a:srgbClr val="70AD47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46" name="(3) Hypothesis testing"/>
          <p:cNvSpPr txBox="1"/>
          <p:nvPr>
            <p:ph type="title" idx="4294967295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  <a:latin typeface="Carlito"/>
                <a:ea typeface="Carlito"/>
                <a:cs typeface="Carlito"/>
                <a:sym typeface="Carlito"/>
              </a:defRPr>
            </a:lvl1pPr>
          </a:lstStyle>
          <a:p>
            <a:pPr/>
            <a:r>
              <a:t>(3) Hypothesis testing</a:t>
            </a:r>
          </a:p>
        </p:txBody>
      </p:sp>
      <p:sp>
        <p:nvSpPr>
          <p:cNvPr id="347" name="How good is the model?"/>
          <p:cNvSpPr txBox="1"/>
          <p:nvPr/>
        </p:nvSpPr>
        <p:spPr>
          <a:xfrm>
            <a:off x="880510" y="1350506"/>
            <a:ext cx="2600980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defRPr sz="2000">
                <a:solidFill>
                  <a:schemeClr val="accent1">
                    <a:satOff val="-3547"/>
                    <a:lumOff val="-10352"/>
                  </a:schemeClr>
                </a:solidFill>
                <a:latin typeface="Carlito"/>
                <a:ea typeface="Carlito"/>
                <a:cs typeface="Carlito"/>
                <a:sym typeface="Carlito"/>
              </a:defRPr>
            </a:lvl1pPr>
          </a:lstStyle>
          <a:p>
            <a:pPr/>
            <a:r>
              <a:t>How good is the model?</a:t>
            </a:r>
          </a:p>
        </p:txBody>
      </p:sp>
      <p:sp>
        <p:nvSpPr>
          <p:cNvPr id="348" name="Fundamental question:  Is the model that we are testing a good fit to our measured data?"/>
          <p:cNvSpPr txBox="1"/>
          <p:nvPr>
            <p:ph type="body" sz="quarter" idx="4294967295"/>
          </p:nvPr>
        </p:nvSpPr>
        <p:spPr>
          <a:xfrm>
            <a:off x="838200" y="1876425"/>
            <a:ext cx="10515600" cy="485048"/>
          </a:xfrm>
          <a:prstGeom prst="rect">
            <a:avLst/>
          </a:prstGeom>
        </p:spPr>
        <p:txBody>
          <a:bodyPr/>
          <a:lstStyle/>
          <a:p>
            <a:pPr>
              <a:defRPr sz="2200"/>
            </a:pPr>
            <a:r>
              <a:rPr b="1"/>
              <a:t>Fundamental question: </a:t>
            </a:r>
            <a:r>
              <a:t> Is the model that we are testing a good fit to our measured data?</a:t>
            </a:r>
          </a:p>
        </p:txBody>
      </p:sp>
      <p:sp>
        <p:nvSpPr>
          <p:cNvPr id="349" name="Plenty more on hypothesis testing next week"/>
          <p:cNvSpPr txBox="1"/>
          <p:nvPr/>
        </p:nvSpPr>
        <p:spPr>
          <a:xfrm>
            <a:off x="7186116" y="200855"/>
            <a:ext cx="4725502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chemeClr val="accent6"/>
                </a:solidFill>
              </a:defRPr>
            </a:lvl1pPr>
          </a:lstStyle>
          <a:p>
            <a:pPr/>
            <a:r>
              <a:t>Plenty more on hypothesis testing next week</a:t>
            </a:r>
          </a:p>
        </p:txBody>
      </p:sp>
      <p:sp>
        <p:nvSpPr>
          <p:cNvPr id="350" name="Text"/>
          <p:cNvSpPr txBox="1"/>
          <p:nvPr/>
        </p:nvSpPr>
        <p:spPr>
          <a:xfrm>
            <a:off x="263544" y="4711061"/>
            <a:ext cx="127001" cy="1154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</a:p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</a:p>
        </p:txBody>
      </p:sp>
      <p:sp>
        <p:nvSpPr>
          <p:cNvPr id="351" name="Null Hypothesis:"/>
          <p:cNvSpPr txBox="1"/>
          <p:nvPr/>
        </p:nvSpPr>
        <p:spPr>
          <a:xfrm>
            <a:off x="858367" y="2835076"/>
            <a:ext cx="2003324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b="1" sz="2200"/>
            </a:lvl1pPr>
          </a:lstStyle>
          <a:p>
            <a:pPr>
              <a:defRPr b="0"/>
            </a:pPr>
            <a:r>
              <a:rPr b="1"/>
              <a:t>Null Hypothesis:</a:t>
            </a:r>
          </a:p>
        </p:txBody>
      </p:sp>
      <p:sp>
        <p:nvSpPr>
          <p:cNvPr id="352" name="Is there a more likely alternative?"/>
          <p:cNvSpPr txBox="1"/>
          <p:nvPr/>
        </p:nvSpPr>
        <p:spPr>
          <a:xfrm>
            <a:off x="3653537" y="2272061"/>
            <a:ext cx="3877405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200"/>
            </a:lvl1pPr>
          </a:lstStyle>
          <a:p>
            <a:pPr/>
            <a:r>
              <a:t>Is there a more likely alternative?</a:t>
            </a:r>
          </a:p>
        </p:txBody>
      </p:sp>
      <p:sp>
        <p:nvSpPr>
          <p:cNvPr id="353" name="Our starting assumption"/>
          <p:cNvSpPr txBox="1"/>
          <p:nvPr/>
        </p:nvSpPr>
        <p:spPr>
          <a:xfrm>
            <a:off x="3641724" y="2835076"/>
            <a:ext cx="2843025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200"/>
            </a:lvl1pPr>
          </a:lstStyle>
          <a:p>
            <a:pPr/>
            <a:r>
              <a:t>Our starting assumption</a:t>
            </a:r>
          </a:p>
        </p:txBody>
      </p:sp>
      <p:sp>
        <p:nvSpPr>
          <p:cNvPr id="354" name="Can be either parameter values or choice of model"/>
          <p:cNvSpPr txBox="1"/>
          <p:nvPr/>
        </p:nvSpPr>
        <p:spPr>
          <a:xfrm>
            <a:off x="3641724" y="3236312"/>
            <a:ext cx="584521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200"/>
            </a:lvl1pPr>
          </a:lstStyle>
          <a:p>
            <a:pPr/>
            <a:r>
              <a:t>Can be either parameter values or choice of model</a:t>
            </a:r>
          </a:p>
        </p:txBody>
      </p:sp>
      <p:sp>
        <p:nvSpPr>
          <p:cNvPr id="355" name="In practice:"/>
          <p:cNvSpPr txBox="1"/>
          <p:nvPr/>
        </p:nvSpPr>
        <p:spPr>
          <a:xfrm>
            <a:off x="858367" y="3862845"/>
            <a:ext cx="1389818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b="1" sz="2200"/>
            </a:lvl1pPr>
          </a:lstStyle>
          <a:p>
            <a:pPr>
              <a:defRPr b="0"/>
            </a:pPr>
            <a:r>
              <a:rPr b="1"/>
              <a:t>In practice:</a:t>
            </a:r>
          </a:p>
        </p:txBody>
      </p:sp>
      <p:sp>
        <p:nvSpPr>
          <p:cNvPr id="356" name="Compares our assumption (or prediction) with experimental  measurements e.g. does the luminosity distribution of galaxies match a Schechter function?"/>
          <p:cNvSpPr txBox="1"/>
          <p:nvPr/>
        </p:nvSpPr>
        <p:spPr>
          <a:xfrm>
            <a:off x="3667020" y="3976462"/>
            <a:ext cx="7489042" cy="1179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  <a:r>
              <a:t>Compares our assumption (or prediction) with experimental  measurements</a:t>
            </a:r>
            <a:br/>
            <a:r>
              <a:t>e.g. does the luminosity distribution of galaxies match a Schechter function? </a:t>
            </a:r>
          </a:p>
        </p:txBody>
      </p:sp>
      <p:sp>
        <p:nvSpPr>
          <p:cNvPr id="357" name="Make a statement on the probability of obtaining our result  (see confidence level slides)."/>
          <p:cNvSpPr txBox="1"/>
          <p:nvPr/>
        </p:nvSpPr>
        <p:spPr>
          <a:xfrm>
            <a:off x="3674251" y="5511196"/>
            <a:ext cx="6280260" cy="620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  <a:r>
              <a:t>Make a statement on the probability of obtaining our result </a:t>
            </a:r>
            <a:br/>
            <a:r>
              <a:t>(see confidence level slides).</a:t>
            </a:r>
          </a:p>
        </p:txBody>
      </p:sp>
      <p:sp>
        <p:nvSpPr>
          <p:cNvPr id="358" name="Outcome:"/>
          <p:cNvSpPr txBox="1"/>
          <p:nvPr/>
        </p:nvSpPr>
        <p:spPr>
          <a:xfrm>
            <a:off x="858367" y="5437645"/>
            <a:ext cx="1246980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b="1" sz="2200"/>
            </a:lvl1pPr>
          </a:lstStyle>
          <a:p>
            <a:pPr>
              <a:defRPr b="0"/>
            </a:pPr>
            <a:r>
              <a:rPr b="1"/>
              <a:t>Outcome: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Rectangle"/>
          <p:cNvSpPr/>
          <p:nvPr/>
        </p:nvSpPr>
        <p:spPr>
          <a:xfrm>
            <a:off x="1512110" y="5180339"/>
            <a:ext cx="2571155" cy="1040643"/>
          </a:xfrm>
          <a:prstGeom prst="rect">
            <a:avLst/>
          </a:prstGeom>
          <a:solidFill>
            <a:srgbClr val="DDDDDD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61" name="Rectangle"/>
          <p:cNvSpPr/>
          <p:nvPr/>
        </p:nvSpPr>
        <p:spPr>
          <a:xfrm>
            <a:off x="7660034" y="2318585"/>
            <a:ext cx="3214291" cy="1171842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62" name="Rectangle"/>
          <p:cNvSpPr/>
          <p:nvPr/>
        </p:nvSpPr>
        <p:spPr>
          <a:xfrm>
            <a:off x="1143226" y="2318585"/>
            <a:ext cx="5252497" cy="1171842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6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i="1">
                <a:solidFill>
                  <a:srgbClr val="C00000"/>
                </a:solidFill>
              </a:defRPr>
            </a:pPr>
            <a:r>
              <a:t>Goodness-of-fit: Reduced </a:t>
            </a:r>
            <a14:m>
              <m:oMath>
                <m:sSup>
                  <m:e>
                    <m:r>
                      <a:rPr xmlns:a="http://schemas.openxmlformats.org/drawingml/2006/main" sz="4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𝜒</m:t>
                    </m:r>
                  </m:e>
                  <m:sup>
                    <m:r>
                      <a:rPr xmlns:a="http://schemas.openxmlformats.org/drawingml/2006/main" sz="4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  <a:r>
              <a:t> test</a:t>
            </a:r>
            <a:endParaRPr sz="4151"/>
          </a:p>
        </p:txBody>
      </p:sp>
      <p:sp>
        <p:nvSpPr>
          <p:cNvPr id="364" name="Content Placeholder 8"/>
          <p:cNvSpPr txBox="1"/>
          <p:nvPr>
            <p:ph type="body" sz="quarter" idx="1"/>
          </p:nvPr>
        </p:nvSpPr>
        <p:spPr>
          <a:xfrm>
            <a:off x="482600" y="1605491"/>
            <a:ext cx="9890194" cy="71956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2000"/>
            </a:pPr>
            <a:r>
              <a:t>To determine if our fitted model is a good match to the data we apply a </a:t>
            </a:r>
            <a14:m>
              <m:oMath>
                <m:sSup>
                  <m:e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χ</m:t>
                    </m:r>
                  </m:e>
                  <m:sup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  <a:r>
              <a:t>-test (NB: slide 22):</a:t>
            </a:r>
          </a:p>
        </p:txBody>
      </p:sp>
      <p:sp>
        <p:nvSpPr>
          <p:cNvPr id="365" name="Slide Number Placeholder 2"/>
          <p:cNvSpPr txBox="1"/>
          <p:nvPr>
            <p:ph type="sldNum" sz="quarter" idx="2"/>
          </p:nvPr>
        </p:nvSpPr>
        <p:spPr>
          <a:xfrm>
            <a:off x="11684000" y="6398513"/>
            <a:ext cx="284372" cy="2807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66" name="Equation"/>
          <p:cNvSpPr txBox="1"/>
          <p:nvPr/>
        </p:nvSpPr>
        <p:spPr>
          <a:xfrm>
            <a:off x="1342426" y="2490755"/>
            <a:ext cx="4854097" cy="82750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bSup>
                    <m:e>
                      <m:bar>
                        <m:barPr>
                          <m:ctrlP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pos m:val="top"/>
                        </m:barPr>
                        <m:e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</m:bar>
                    </m:e>
                    <m:sub>
                      <m:r>
                        <m:rPr>
                          <m:nor/>
                        </m:rP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red</m:t>
                      </m:r>
                    </m:sub>
                    <m:sup>
                      <m: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r>
                    <a:rPr xmlns:a="http://schemas.openxmlformats.org/drawingml/2006/main" sz="2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sSub>
                        <m:e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dof</m:t>
                          </m:r>
                        </m:sub>
                      </m:sSub>
                    </m:den>
                  </m:f>
                  <m:sSup>
                    <m:e>
                      <m: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χ</m:t>
                      </m:r>
                    </m:e>
                    <m:sup>
                      <m: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2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sSub>
                        <m:e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dof</m:t>
                          </m:r>
                        </m:sub>
                      </m:sSub>
                    </m:den>
                  </m:f>
                  <m:limUpp>
                    <m:e>
                      <m:limLow>
                        <m:e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lim>
                      </m:limLow>
                    </m:e>
                    <m:lim>
                      <m: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lim>
                  </m:limUpp>
                  <m:f>
                    <m:fPr>
                      <m:ctrlP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e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e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xmlns:a="http://schemas.openxmlformats.org/drawingml/2006/main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e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num>
                    <m:den>
                      <m:sSubSup>
                        <m:e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  <m:sup>
                          <m:r>
                            <a:rPr xmlns:a="http://schemas.openxmlformats.org/drawingml/2006/main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den>
                  </m:f>
                </m:oMath>
              </m:oMathPara>
            </a14:m>
            <a:endParaRPr sz="2300"/>
          </a:p>
        </p:txBody>
      </p:sp>
      <p:sp>
        <p:nvSpPr>
          <p:cNvPr id="367" name="Equation"/>
          <p:cNvSpPr txBox="1"/>
          <p:nvPr/>
        </p:nvSpPr>
        <p:spPr>
          <a:xfrm>
            <a:off x="7931269" y="2767252"/>
            <a:ext cx="2671821" cy="27450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e>
                    <m:sub>
                      <m:r>
                        <m:rPr>
                          <m:nor/>
                        </m:rP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dof</m:t>
                      </m:r>
                    </m:sub>
                  </m:sSub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e>
                    <m:sub>
                      <m:r>
                        <m:rPr>
                          <m:nor/>
                        </m:rP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data</m:t>
                      </m:r>
                    </m:sub>
                  </m:sSub>
                  <m:r>
                    <a:rPr xmlns:a="http://schemas.openxmlformats.org/drawingml/2006/main" sz="2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sSub>
                    <m:e>
                      <m: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e>
                    <m:sub>
                      <m:r>
                        <m:rPr>
                          <m:nor/>
                        </m:rPr>
                        <a:rPr xmlns:a="http://schemas.openxmlformats.org/drawingml/2006/ma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params</m:t>
                      </m:r>
                    </m:sub>
                  </m:sSub>
                </m:oMath>
              </m:oMathPara>
            </a14:m>
            <a:endParaRPr sz="2000"/>
          </a:p>
        </p:txBody>
      </p:sp>
      <p:sp>
        <p:nvSpPr>
          <p:cNvPr id="368" name="Recall (slide 21) that to determine the best-fit in the least-squares process we minimised"/>
          <p:cNvSpPr txBox="1"/>
          <p:nvPr/>
        </p:nvSpPr>
        <p:spPr>
          <a:xfrm>
            <a:off x="1242889" y="3645000"/>
            <a:ext cx="9486088" cy="443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>
                <a:solidFill>
                  <a:srgbClr val="C00000"/>
                </a:solidFill>
              </a:defRPr>
            </a:pPr>
            <a:r>
              <a:t>Recall (slide 21) that to determine the best-fit in the least-squares process we minimised </a:t>
            </a:r>
            <a14:m>
              <m:oMath>
                <m:sSup>
                  <m:e>
                    <m:r>
                      <a:rPr xmlns:a="http://schemas.openxmlformats.org/drawingml/2006/main" sz="215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χ</m:t>
                    </m:r>
                  </m:e>
                  <m:sup>
                    <m:r>
                      <a:rPr xmlns:a="http://schemas.openxmlformats.org/drawingml/2006/main" sz="215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</a:p>
        </p:txBody>
      </p:sp>
      <p:sp>
        <p:nvSpPr>
          <p:cNvPr id="369" name="If our data points are drawn from the model and follow a normal distribution"/>
          <p:cNvSpPr txBox="1"/>
          <p:nvPr/>
        </p:nvSpPr>
        <p:spPr>
          <a:xfrm>
            <a:off x="2006600" y="4534723"/>
            <a:ext cx="10515600" cy="410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  <a:r>
              <a:rPr i="1"/>
              <a:t>If</a:t>
            </a:r>
            <a:r>
              <a:t> our data points are drawn from the model and follow a normal distribution</a:t>
            </a:r>
          </a:p>
        </p:txBody>
      </p:sp>
      <p:sp>
        <p:nvSpPr>
          <p:cNvPr id="370" name="Expect:"/>
          <p:cNvSpPr txBox="1"/>
          <p:nvPr/>
        </p:nvSpPr>
        <p:spPr>
          <a:xfrm>
            <a:off x="1626554" y="5395775"/>
            <a:ext cx="2381146" cy="584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800"/>
            </a:pPr>
            <a:r>
              <a:t>Expect: </a:t>
            </a:r>
            <a14:m>
              <m:oMath>
                <m:sSup>
                  <m:e>
                    <m:r>
                      <a:rPr xmlns:a="http://schemas.openxmlformats.org/drawingml/2006/main" sz="3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χ</m:t>
                    </m:r>
                  </m:e>
                  <m:sup>
                    <m:r>
                      <a:rPr xmlns:a="http://schemas.openxmlformats.org/drawingml/2006/main" sz="3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xmlns:a="http://schemas.openxmlformats.org/drawingml/2006/main" sz="3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∼</m:t>
                </m:r>
                <m:r>
                  <a:rPr xmlns:a="http://schemas.openxmlformats.org/drawingml/2006/main" sz="3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</m:oMath>
            </a14:m>
          </a:p>
        </p:txBody>
      </p:sp>
      <p:sp>
        <p:nvSpPr>
          <p:cNvPr id="371" name="evidence that our data are NOT drawn from the model…"/>
          <p:cNvSpPr txBox="1"/>
          <p:nvPr/>
        </p:nvSpPr>
        <p:spPr>
          <a:xfrm>
            <a:off x="5050789" y="5098174"/>
            <a:ext cx="6490495" cy="748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000"/>
            </a:pPr>
            <a14:m>
              <m:oMath>
                <m:sSup>
                  <m:e>
                    <m:bar>
                      <m:barPr>
                        <m:ctrlPr>
                          <a:rPr xmlns:a="http://schemas.openxmlformats.org/drawingml/2006/main"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  <m:pos m:val="top"/>
                      </m:barPr>
                      <m:e>
                        <m:r>
                          <a:rPr xmlns:a="http://schemas.openxmlformats.org/drawingml/2006/main"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χ</m:t>
                        </m:r>
                      </m:e>
                    </m:bar>
                  </m:e>
                  <m:sup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&gt;</m:t>
                </m:r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</m:oMath>
            </a14:m>
            <a:r>
              <a:t> evidence that our data are NOT drawn from the model</a:t>
            </a:r>
          </a:p>
          <a:p>
            <a:pPr lvl="1">
              <a:defRPr sz="2000"/>
            </a:pPr>
            <a:r>
              <a:t>     (see lookup tables for probabilities)</a:t>
            </a:r>
          </a:p>
        </p:txBody>
      </p:sp>
      <p:sp>
        <p:nvSpPr>
          <p:cNvPr id="372" name="evidence that the model has too much freedom"/>
          <p:cNvSpPr txBox="1"/>
          <p:nvPr/>
        </p:nvSpPr>
        <p:spPr>
          <a:xfrm>
            <a:off x="5080422" y="5983132"/>
            <a:ext cx="5798320" cy="443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000"/>
            </a:pPr>
            <a14:m>
              <m:oMath>
                <m:sSup>
                  <m:e>
                    <m:bar>
                      <m:barPr>
                        <m:ctrlPr>
                          <a:rPr xmlns:a="http://schemas.openxmlformats.org/drawingml/2006/main"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  <m:pos m:val="top"/>
                      </m:barPr>
                      <m:e>
                        <m:r>
                          <a:rPr xmlns:a="http://schemas.openxmlformats.org/drawingml/2006/main"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χ</m:t>
                        </m:r>
                      </m:e>
                    </m:bar>
                  </m:e>
                  <m:sup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&lt;</m:t>
                </m:r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</m:oMath>
            </a14:m>
            <a:r>
              <a:t> evidence that the model has too much freedom</a:t>
            </a:r>
          </a:p>
        </p:txBody>
      </p:sp>
      <p:sp>
        <p:nvSpPr>
          <p:cNvPr id="373" name="Line"/>
          <p:cNvSpPr/>
          <p:nvPr/>
        </p:nvSpPr>
        <p:spPr>
          <a:xfrm>
            <a:off x="2123433" y="4208215"/>
            <a:ext cx="7302955" cy="1"/>
          </a:xfrm>
          <a:prstGeom prst="line">
            <a:avLst/>
          </a:prstGeom>
          <a:ln w="12700">
            <a:solidFill>
              <a:srgbClr val="A7A7A7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74" name="Interpretation:"/>
          <p:cNvSpPr txBox="1"/>
          <p:nvPr/>
        </p:nvSpPr>
        <p:spPr>
          <a:xfrm>
            <a:off x="134887" y="4534723"/>
            <a:ext cx="1657534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b="1" i="1" sz="2000">
                <a:solidFill>
                  <a:srgbClr val="C00000"/>
                </a:solidFill>
              </a:defRPr>
            </a:lvl1pPr>
          </a:lstStyle>
          <a:p>
            <a:pPr/>
            <a:r>
              <a:t>Interpretation:</a:t>
            </a:r>
          </a:p>
        </p:txBody>
      </p:sp>
      <p:sp>
        <p:nvSpPr>
          <p:cNvPr id="375" name="Plenty more on hypothesis testing next week"/>
          <p:cNvSpPr txBox="1"/>
          <p:nvPr/>
        </p:nvSpPr>
        <p:spPr>
          <a:xfrm>
            <a:off x="7186116" y="200855"/>
            <a:ext cx="4725502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chemeClr val="accent6"/>
                </a:solidFill>
              </a:defRPr>
            </a:lvl1pPr>
          </a:lstStyle>
          <a:p>
            <a:pPr/>
            <a:r>
              <a:t>Plenty more on hypothesis testing next week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data_scatter_fit.png" descr="data_scatter_fi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8530" y="1625251"/>
            <a:ext cx="6777143" cy="4890246"/>
          </a:xfrm>
          <a:prstGeom prst="rect">
            <a:avLst/>
          </a:prstGeom>
          <a:ln w="12700">
            <a:miter lim="400000"/>
          </a:ln>
        </p:spPr>
      </p:pic>
      <p:sp>
        <p:nvSpPr>
          <p:cNvPr id="378" name="Rectangle"/>
          <p:cNvSpPr/>
          <p:nvPr/>
        </p:nvSpPr>
        <p:spPr>
          <a:xfrm>
            <a:off x="7647334" y="2699585"/>
            <a:ext cx="4001753" cy="1171842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79" name="Title 1"/>
          <p:cNvSpPr txBox="1"/>
          <p:nvPr>
            <p:ph type="title"/>
          </p:nvPr>
        </p:nvSpPr>
        <p:spPr>
          <a:xfrm>
            <a:off x="838200" y="263525"/>
            <a:ext cx="10515600" cy="1325563"/>
          </a:xfrm>
          <a:prstGeom prst="rect">
            <a:avLst/>
          </a:prstGeom>
        </p:spPr>
        <p:txBody>
          <a:bodyPr/>
          <a:lstStyle/>
          <a:p>
            <a:pPr>
              <a:defRPr i="1">
                <a:solidFill>
                  <a:srgbClr val="C00000"/>
                </a:solidFill>
              </a:defRPr>
            </a:pPr>
            <a:r>
              <a:t>The </a:t>
            </a:r>
            <a14:m>
              <m:oMath>
                <m:sSup>
                  <m:e>
                    <m:r>
                      <a:rPr xmlns:a="http://schemas.openxmlformats.org/drawingml/2006/main" sz="4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𝜒</m:t>
                    </m:r>
                  </m:e>
                  <m:sup>
                    <m:r>
                      <a:rPr xmlns:a="http://schemas.openxmlformats.org/drawingml/2006/main" sz="4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  <a:r>
              <a:t> test : practical implications</a:t>
            </a:r>
            <a:endParaRPr sz="4151"/>
          </a:p>
        </p:txBody>
      </p:sp>
      <p:sp>
        <p:nvSpPr>
          <p:cNvPr id="380" name="Slide Number Placeholder 2"/>
          <p:cNvSpPr txBox="1"/>
          <p:nvPr>
            <p:ph type="sldNum" sz="quarter" idx="2"/>
          </p:nvPr>
        </p:nvSpPr>
        <p:spPr>
          <a:xfrm>
            <a:off x="11684000" y="6398513"/>
            <a:ext cx="284372" cy="2807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81" name="A measure of the averaged normalised distance to the best-fit model"/>
          <p:cNvSpPr txBox="1"/>
          <p:nvPr/>
        </p:nvSpPr>
        <p:spPr>
          <a:xfrm>
            <a:off x="7903078" y="4181089"/>
            <a:ext cx="3680414" cy="949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000"/>
            </a:lvl1pPr>
          </a:lstStyle>
          <a:p>
            <a:pPr/>
            <a:r>
              <a:t>A measure of the averaged normalised distance to the best-fit model</a:t>
            </a:r>
          </a:p>
        </p:txBody>
      </p:sp>
      <p:sp>
        <p:nvSpPr>
          <p:cNvPr id="382" name="Equation"/>
          <p:cNvSpPr txBox="1"/>
          <p:nvPr/>
        </p:nvSpPr>
        <p:spPr>
          <a:xfrm>
            <a:off x="7808004" y="2878726"/>
            <a:ext cx="3680413" cy="86348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bSup>
                    <m:e>
                      <m:bar>
                        <m:barPr>
                          <m:ctrlP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pos m:val="top"/>
                        </m:barPr>
                        <m:e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</m:bar>
                    </m:e>
                    <m:sub>
                      <m:r>
                        <m:rPr>
                          <m:nor/>
                        </m:r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red</m:t>
                      </m:r>
                    </m:sub>
                    <m:sup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sSub>
                        <m:e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dof</m:t>
                          </m:r>
                        </m:sub>
                      </m:sSub>
                    </m:den>
                  </m:f>
                  <m:limUpp>
                    <m:e>
                      <m:limLow>
                        <m:e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lim>
                      </m:limLow>
                    </m:e>
                    <m:lim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lim>
                  </m:limUpp>
                  <m:f>
                    <m:f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e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e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e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num>
                    <m:den>
                      <m:sSubSup>
                        <m:e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  <m:sup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den>
                  </m:f>
                </m:oMath>
              </m:oMathPara>
            </a14:m>
            <a:endParaRPr sz="2400"/>
          </a:p>
        </p:txBody>
      </p:sp>
      <p:sp>
        <p:nvSpPr>
          <p:cNvPr id="383" name="Line"/>
          <p:cNvSpPr/>
          <p:nvPr/>
        </p:nvSpPr>
        <p:spPr>
          <a:xfrm flipV="1">
            <a:off x="3271149" y="2230831"/>
            <a:ext cx="1" cy="1609156"/>
          </a:xfrm>
          <a:prstGeom prst="line">
            <a:avLst/>
          </a:prstGeom>
          <a:ln w="50800">
            <a:solidFill>
              <a:srgbClr val="C00000"/>
            </a:solidFill>
            <a:miter/>
            <a:headEnd type="triangle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84" name="Line"/>
          <p:cNvSpPr/>
          <p:nvPr/>
        </p:nvSpPr>
        <p:spPr>
          <a:xfrm flipV="1">
            <a:off x="2967455" y="1855486"/>
            <a:ext cx="1" cy="488044"/>
          </a:xfrm>
          <a:prstGeom prst="line">
            <a:avLst/>
          </a:prstGeom>
          <a:ln w="31750">
            <a:solidFill>
              <a:srgbClr val="C00000"/>
            </a:solidFill>
            <a:miter/>
            <a:headEnd type="triangle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85" name="Equation"/>
          <p:cNvSpPr txBox="1"/>
          <p:nvPr/>
        </p:nvSpPr>
        <p:spPr>
          <a:xfrm>
            <a:off x="2577447" y="2001522"/>
            <a:ext cx="243796" cy="27217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2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 xmlns:a="http://schemas.openxmlformats.org/drawingml/2006/main" sz="2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sub>
                  </m:sSub>
                </m:oMath>
              </m:oMathPara>
            </a14:m>
            <a:endParaRPr sz="2600">
              <a:solidFill>
                <a:srgbClr val="C00000"/>
              </a:solidFill>
            </a:endParaRPr>
          </a:p>
        </p:txBody>
      </p:sp>
      <p:sp>
        <p:nvSpPr>
          <p:cNvPr id="386" name="Equation"/>
          <p:cNvSpPr txBox="1"/>
          <p:nvPr/>
        </p:nvSpPr>
        <p:spPr>
          <a:xfrm>
            <a:off x="3612367" y="2505352"/>
            <a:ext cx="1103008" cy="30900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2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e>
                    <m:sub>
                      <m:r>
                        <a:rPr xmlns:a="http://schemas.openxmlformats.org/drawingml/2006/main" sz="2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2600" i="1">
                      <a:solidFill>
                        <a:srgbClr val="C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2600" i="1">
                      <a:solidFill>
                        <a:srgbClr val="C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2600" i="1">
                      <a:solidFill>
                        <a:srgbClr val="C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2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2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2600" i="1">
                      <a:solidFill>
                        <a:srgbClr val="C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 sz="260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89" name="Week 11: Learning outcomes"/>
          <p:cNvSpPr txBox="1"/>
          <p:nvPr>
            <p:ph type="title" idx="4294967295"/>
          </p:nvPr>
        </p:nvSpPr>
        <p:spPr>
          <a:xfrm>
            <a:off x="310352" y="146261"/>
            <a:ext cx="10515601" cy="1325564"/>
          </a:xfrm>
          <a:prstGeom prst="rect">
            <a:avLst/>
          </a:prstGeom>
        </p:spPr>
        <p:txBody>
          <a:bodyPr/>
          <a:lstStyle>
            <a:lvl1pPr>
              <a:defRPr i="1" sz="3600">
                <a:solidFill>
                  <a:srgbClr val="C00000"/>
                </a:solidFill>
              </a:defRPr>
            </a:lvl1pPr>
          </a:lstStyle>
          <a:p>
            <a:pPr/>
            <a:r>
              <a:t>Week 11: Learning outcomes</a:t>
            </a:r>
          </a:p>
        </p:txBody>
      </p:sp>
      <p:sp>
        <p:nvSpPr>
          <p:cNvPr id="390" name="Today you have learnt…"/>
          <p:cNvSpPr txBox="1"/>
          <p:nvPr>
            <p:ph type="body" idx="4294967295"/>
          </p:nvPr>
        </p:nvSpPr>
        <p:spPr>
          <a:xfrm>
            <a:off x="914466" y="1478813"/>
            <a:ext cx="9956668" cy="4287707"/>
          </a:xfrm>
          <a:prstGeom prst="rect">
            <a:avLst/>
          </a:prstGeom>
        </p:spPr>
        <p:txBody>
          <a:bodyPr/>
          <a:lstStyle/>
          <a:p>
            <a:pPr defTabSz="905255">
              <a:spcBef>
                <a:spcPts val="1900"/>
              </a:spcBef>
              <a:defRPr sz="2772">
                <a:solidFill>
                  <a:srgbClr val="C00000"/>
                </a:solidFill>
              </a:defRPr>
            </a:pPr>
            <a:r>
              <a:rPr i="1"/>
              <a:t>Today you have learnt</a:t>
            </a:r>
          </a:p>
          <a:p>
            <a:pPr lvl="1" marL="867536" indent="-226313" defTabSz="905255">
              <a:spcBef>
                <a:spcPts val="400"/>
              </a:spcBef>
              <a:buSzPct val="100000"/>
              <a:buChar char="-"/>
              <a:defRPr sz="2178"/>
            </a:pPr>
            <a:r>
              <a:t>The relevance of data analysis in experimentation</a:t>
            </a:r>
          </a:p>
          <a:p>
            <a:pPr lvl="1" marL="867536" indent="-226313" defTabSz="905255">
              <a:spcBef>
                <a:spcPts val="400"/>
              </a:spcBef>
              <a:buSzPct val="100000"/>
              <a:buChar char="-"/>
              <a:defRPr sz="2178" u="sng"/>
            </a:pPr>
            <a:r>
              <a:t>Measurements are drawn from underlying distributions</a:t>
            </a:r>
          </a:p>
          <a:p>
            <a:pPr lvl="2" marL="1131569" indent="-226313" defTabSz="905255">
              <a:spcBef>
                <a:spcPts val="400"/>
              </a:spcBef>
              <a:buSzPct val="100000"/>
              <a:buChar char="-"/>
              <a:defRPr sz="2178"/>
            </a:pPr>
            <a:r>
              <a:t>The Gaussian distribution is a principal example</a:t>
            </a:r>
          </a:p>
          <a:p>
            <a:pPr lvl="1" marL="867536" indent="-226313" defTabSz="905255">
              <a:spcBef>
                <a:spcPts val="400"/>
              </a:spcBef>
              <a:buSzPct val="100000"/>
              <a:buChar char="-"/>
              <a:defRPr sz="2178" u="sng"/>
            </a:pPr>
            <a:r>
              <a:t>How to estimate the value of a model parameter given a dataset</a:t>
            </a:r>
          </a:p>
          <a:p>
            <a:pPr lvl="2" marL="1131569" indent="-226313" defTabSz="905255">
              <a:spcBef>
                <a:spcPts val="400"/>
              </a:spcBef>
              <a:buSzPct val="100000"/>
              <a:buChar char="-"/>
              <a:defRPr sz="2178"/>
            </a:pPr>
            <a:r>
              <a:t>For a linear model, this is commonly known as linear regression</a:t>
            </a:r>
          </a:p>
          <a:p>
            <a:pPr lvl="2" marL="1131569" indent="-226313" defTabSz="905255">
              <a:spcBef>
                <a:spcPts val="400"/>
              </a:spcBef>
              <a:buSzPct val="100000"/>
              <a:buChar char="-"/>
              <a:defRPr sz="2178"/>
            </a:pPr>
            <a:r>
              <a:t>How least-squares fitting is related to the Gaussian distribution</a:t>
            </a:r>
          </a:p>
          <a:p>
            <a:pPr lvl="2" marL="1131569" indent="-226313" defTabSz="905255">
              <a:spcBef>
                <a:spcPts val="400"/>
              </a:spcBef>
              <a:buSzPct val="100000"/>
              <a:buChar char="-"/>
              <a:defRPr sz="2178"/>
            </a:pPr>
            <a:r>
              <a:t>Confidence Intervals : expressing our results</a:t>
            </a:r>
          </a:p>
          <a:p>
            <a:pPr lvl="1" marL="867536" indent="-226313" defTabSz="905255">
              <a:spcBef>
                <a:spcPts val="400"/>
              </a:spcBef>
              <a:buSzPct val="100000"/>
              <a:buChar char="-"/>
              <a:defRPr sz="2178" u="sng"/>
            </a:pPr>
            <a:r>
              <a:t>Goodness-of-fit metrics: (dis)favouring a given model</a:t>
            </a:r>
          </a:p>
          <a:p>
            <a:pPr lvl="2" marL="1131569" indent="-226313" defTabSz="905255">
              <a:spcBef>
                <a:spcPts val="400"/>
              </a:spcBef>
              <a:buSzPct val="100000"/>
              <a:buChar char="-"/>
              <a:defRPr sz="2178"/>
            </a:pPr>
            <a:r>
              <a:t>The </a:t>
            </a:r>
            <a14:m>
              <m:oMath>
                <m:sSubSup>
                  <m:e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χ</m:t>
                    </m:r>
                  </m:e>
                  <m:sub>
                    <m:r>
                      <m:rPr>
                        <m:nor/>
                      </m:rP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red</m:t>
                    </m:r>
                  </m:sub>
                  <m:sup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bSup>
              </m:oMath>
            </a14:m>
            <a:r>
              <a:t> test</a:t>
            </a:r>
            <a:endParaRPr sz="2200"/>
          </a:p>
        </p:txBody>
      </p:sp>
      <p:sp>
        <p:nvSpPr>
          <p:cNvPr id="391" name="Practical examples on Friday!"/>
          <p:cNvSpPr txBox="1"/>
          <p:nvPr/>
        </p:nvSpPr>
        <p:spPr>
          <a:xfrm>
            <a:off x="7969679" y="6010575"/>
            <a:ext cx="3097695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>
                <a:solidFill>
                  <a:schemeClr val="accent1">
                    <a:satOff val="-3547"/>
                    <a:lumOff val="-10352"/>
                  </a:schemeClr>
                </a:solidFill>
              </a:defRPr>
            </a:lvl1pPr>
          </a:lstStyle>
          <a:p>
            <a:pPr/>
            <a:r>
              <a:t>Practical examples on Friday!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