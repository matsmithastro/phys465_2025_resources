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/>
      <a:tcStyle>
        <a:tcBdr/>
        <a:fill>
          <a:solidFill>
            <a:srgbClr val="F0F0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/>
      <a:tcStyle>
        <a:tcBdr/>
        <a:fill>
          <a:solidFill>
            <a:srgbClr val="E8EBF5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/>
      <a:tcStyle>
        <a:tcBdr/>
        <a:fill>
          <a:solidFill>
            <a:srgbClr val="EBF1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Shape 125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26" name="Shape 126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Calibri"/>
      </a:defRPr>
    </a:lvl1pPr>
    <a:lvl2pPr indent="228600" latinLnBrk="0">
      <a:defRPr sz="1200">
        <a:latin typeface="+mj-lt"/>
        <a:ea typeface="+mj-ea"/>
        <a:cs typeface="+mj-cs"/>
        <a:sym typeface="Calibri"/>
      </a:defRPr>
    </a:lvl2pPr>
    <a:lvl3pPr indent="457200" latinLnBrk="0">
      <a:defRPr sz="1200">
        <a:latin typeface="+mj-lt"/>
        <a:ea typeface="+mj-ea"/>
        <a:cs typeface="+mj-cs"/>
        <a:sym typeface="Calibri"/>
      </a:defRPr>
    </a:lvl3pPr>
    <a:lvl4pPr indent="685800" latinLnBrk="0">
      <a:defRPr sz="1200">
        <a:latin typeface="+mj-lt"/>
        <a:ea typeface="+mj-ea"/>
        <a:cs typeface="+mj-cs"/>
        <a:sym typeface="Calibri"/>
      </a:defRPr>
    </a:lvl4pPr>
    <a:lvl5pPr indent="914400" latinLnBrk="0">
      <a:defRPr sz="1200">
        <a:latin typeface="+mj-lt"/>
        <a:ea typeface="+mj-ea"/>
        <a:cs typeface="+mj-cs"/>
        <a:sym typeface="Calibri"/>
      </a:defRPr>
    </a:lvl5pPr>
    <a:lvl6pPr indent="1143000" latinLnBrk="0">
      <a:defRPr sz="1200">
        <a:latin typeface="+mj-lt"/>
        <a:ea typeface="+mj-ea"/>
        <a:cs typeface="+mj-cs"/>
        <a:sym typeface="Calibri"/>
      </a:defRPr>
    </a:lvl6pPr>
    <a:lvl7pPr indent="1371600" latinLnBrk="0">
      <a:defRPr sz="1200">
        <a:latin typeface="+mj-lt"/>
        <a:ea typeface="+mj-ea"/>
        <a:cs typeface="+mj-cs"/>
        <a:sym typeface="Calibri"/>
      </a:defRPr>
    </a:lvl7pPr>
    <a:lvl8pPr indent="1600200" latinLnBrk="0">
      <a:defRPr sz="1200">
        <a:latin typeface="+mj-lt"/>
        <a:ea typeface="+mj-ea"/>
        <a:cs typeface="+mj-cs"/>
        <a:sym typeface="Calibri"/>
      </a:defRPr>
    </a:lvl8pPr>
    <a:lvl9pPr indent="18288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>
            <a:spLocks noGrp="1"/>
          </p:cNvSpPr>
          <p:nvPr>
            <p:ph type="title"/>
          </p:nvPr>
        </p:nvSpPr>
        <p:spPr>
          <a:xfrm>
            <a:off x="1524000" y="1122362"/>
            <a:ext cx="9144000" cy="2387601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12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24000" y="3602037"/>
            <a:ext cx="9144000" cy="1655763"/>
          </a:xfrm>
          <a:prstGeom prst="rect">
            <a:avLst/>
          </a:prstGeom>
        </p:spPr>
        <p:txBody>
          <a:bodyPr/>
          <a:lstStyle>
            <a:lvl1pPr algn="ctr">
              <a:buFontTx/>
              <a:defRPr sz="2400"/>
            </a:lvl1pPr>
            <a:lvl2pPr algn="ctr">
              <a:buFontTx/>
              <a:defRPr sz="2400"/>
            </a:lvl2pPr>
            <a:lvl3pPr algn="ctr">
              <a:buFontTx/>
              <a:defRPr sz="2400"/>
            </a:lvl3pPr>
            <a:lvl4pPr algn="ctr">
              <a:buFontTx/>
              <a:defRPr sz="2400"/>
            </a:lvl4pPr>
            <a:lvl5pPr algn="ctr">
              <a:buFontTx/>
              <a:defRPr sz="24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1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30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31850" y="4589462"/>
            <a:ext cx="10515600" cy="1500188"/>
          </a:xfrm>
          <a:prstGeom prst="rect">
            <a:avLst/>
          </a:prstGeom>
        </p:spPr>
        <p:txBody>
          <a:bodyPr/>
          <a:lstStyle>
            <a:lvl1pPr>
              <a:buFontTx/>
              <a:defRPr sz="2400">
                <a:solidFill>
                  <a:srgbClr val="888888"/>
                </a:solidFill>
              </a:defRPr>
            </a:lvl1pPr>
            <a:lvl2pPr>
              <a:buFontTx/>
              <a:defRPr sz="2400">
                <a:solidFill>
                  <a:srgbClr val="888888"/>
                </a:solidFill>
              </a:defRPr>
            </a:lvl2pPr>
            <a:lvl3pPr>
              <a:buFontTx/>
              <a:defRPr sz="2400">
                <a:solidFill>
                  <a:srgbClr val="888888"/>
                </a:solidFill>
              </a:defRPr>
            </a:lvl3pPr>
            <a:lvl4pPr>
              <a:buFontTx/>
              <a:defRPr sz="2400">
                <a:solidFill>
                  <a:srgbClr val="888888"/>
                </a:solidFill>
              </a:defRPr>
            </a:lvl4pPr>
            <a:lvl5pPr>
              <a:buFontTx/>
              <a:defRPr sz="2400">
                <a:solidFill>
                  <a:srgbClr val="888888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9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>
            <a:spLocks noGrp="1"/>
          </p:cNvSpPr>
          <p:nvPr>
            <p:ph type="title"/>
          </p:nvPr>
        </p:nvSpPr>
        <p:spPr>
          <a:xfrm>
            <a:off x="839787" y="365125"/>
            <a:ext cx="10515601" cy="1325563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8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39787" y="1681163"/>
            <a:ext cx="5157789" cy="823913"/>
          </a:xfrm>
          <a:prstGeom prst="rect">
            <a:avLst/>
          </a:prstGeom>
        </p:spPr>
        <p:txBody>
          <a:bodyPr anchor="b"/>
          <a:lstStyle>
            <a:lvl1pPr>
              <a:buFontTx/>
              <a:defRPr sz="2400" b="1"/>
            </a:lvl1pPr>
            <a:lvl2pPr>
              <a:buFontTx/>
              <a:defRPr sz="2400" b="1"/>
            </a:lvl2pPr>
            <a:lvl3pPr>
              <a:buFontTx/>
              <a:defRPr sz="2400" b="1"/>
            </a:lvl3pPr>
            <a:lvl4pPr>
              <a:buFontTx/>
              <a:defRPr sz="2400" b="1"/>
            </a:lvl4pPr>
            <a:lvl5pPr>
              <a:buFontTx/>
              <a:defRPr sz="2400" b="1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>
            <a:spLocks noGrp="1"/>
          </p:cNvSpPr>
          <p:nvPr>
            <p:ph type="body" sz="quarter" idx="21"/>
          </p:nvPr>
        </p:nvSpPr>
        <p:spPr>
          <a:xfrm>
            <a:off x="6172200" y="1681163"/>
            <a:ext cx="5183188" cy="823913"/>
          </a:xfrm>
          <a:prstGeom prst="rect">
            <a:avLst/>
          </a:prstGeom>
        </p:spPr>
        <p:txBody>
          <a:bodyPr anchor="b"/>
          <a:lstStyle/>
          <a:p>
            <a:pPr>
              <a:buFontTx/>
              <a:defRPr sz="2400" b="1"/>
            </a:pPr>
            <a:endParaRPr/>
          </a:p>
        </p:txBody>
      </p:sp>
      <p:sp>
        <p:nvSpPr>
          <p:cNvPr id="5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5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>
            <a:spLocks noGrp="1"/>
          </p:cNvSpPr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t>Title Text</a:t>
            </a:r>
          </a:p>
        </p:txBody>
      </p:sp>
      <p:sp>
        <p:nvSpPr>
          <p:cNvPr id="73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>
              <a:defRPr sz="32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>
            <a:spLocks noGrp="1"/>
          </p:cNvSpPr>
          <p:nvPr>
            <p:ph type="body" sz="quarter" idx="21"/>
          </p:nvPr>
        </p:nvSpPr>
        <p:spPr>
          <a:xfrm>
            <a:off x="839787" y="2057400"/>
            <a:ext cx="3932238" cy="3811588"/>
          </a:xfrm>
          <a:prstGeom prst="rect">
            <a:avLst/>
          </a:prstGeom>
        </p:spPr>
        <p:txBody>
          <a:bodyPr/>
          <a:lstStyle/>
          <a:p>
            <a:pPr>
              <a:buFontTx/>
              <a:defRPr sz="1600"/>
            </a:pPr>
            <a:endParaRPr/>
          </a:p>
        </p:txBody>
      </p:sp>
      <p:sp>
        <p:nvSpPr>
          <p:cNvPr id="7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>
            <a:spLocks noGrp="1"/>
          </p:cNvSpPr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t>Title Text</a:t>
            </a:r>
          </a:p>
        </p:txBody>
      </p:sp>
      <p:sp>
        <p:nvSpPr>
          <p:cNvPr id="83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8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/>
          <a:lstStyle>
            <a:lvl1pPr>
              <a:buFontTx/>
              <a:defRPr sz="1600"/>
            </a:lvl1pPr>
            <a:lvl2pPr>
              <a:buFontTx/>
              <a:defRPr sz="1600"/>
            </a:lvl2pPr>
            <a:lvl3pPr>
              <a:buFontTx/>
              <a:defRPr sz="1600"/>
            </a:lvl3pPr>
            <a:lvl4pPr>
              <a:buFontTx/>
              <a:defRPr sz="1600"/>
            </a:lvl4pPr>
            <a:lvl5pPr>
              <a:buFontTx/>
              <a:defRPr sz="16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93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>
            <a:lvl1pPr marL="228600" indent="-228600">
              <a:buSzPct val="100000"/>
              <a:buChar char="•"/>
            </a:lvl1pPr>
            <a:lvl2pPr marL="723900" indent="-266700">
              <a:buSzPct val="100000"/>
              <a:buChar char="•"/>
            </a:lvl2pPr>
            <a:lvl3pPr marL="1234439" indent="-320039">
              <a:buSzPct val="100000"/>
              <a:buChar char="•"/>
            </a:lvl3pPr>
            <a:lvl4pPr marL="1727200" indent="-355600">
              <a:buSzPct val="100000"/>
              <a:buChar char="•"/>
            </a:lvl4pPr>
            <a:lvl5pPr marL="2184400" indent="-355600">
              <a:buSzPct val="100000"/>
              <a:buChar char="•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9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102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>
            <a:lvl1pPr marL="228600" indent="-228600">
              <a:buSzPct val="100000"/>
              <a:buChar char="•"/>
            </a:lvl1pPr>
            <a:lvl2pPr marL="723900" indent="-266700">
              <a:buSzPct val="100000"/>
              <a:buChar char="•"/>
            </a:lvl2pPr>
            <a:lvl3pPr marL="1234439" indent="-320039">
              <a:buSzPct val="100000"/>
              <a:buChar char="•"/>
            </a:lvl3pPr>
            <a:lvl4pPr marL="1727200" indent="-355600">
              <a:buSzPct val="100000"/>
              <a:buChar char="•"/>
            </a:lvl4pPr>
            <a:lvl5pPr marL="2184400" indent="-355600">
              <a:buSzPct val="100000"/>
              <a:buChar char="•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0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111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1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684000" y="6402746"/>
            <a:ext cx="284372" cy="280800"/>
          </a:xfrm>
          <a:prstGeom prst="rect">
            <a:avLst/>
          </a:prstGeom>
        </p:spPr>
        <p:txBody>
          <a:bodyPr/>
          <a:lstStyle>
            <a:lvl1pPr>
              <a:defRPr sz="14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679029" y="6398513"/>
            <a:ext cx="284372" cy="280799"/>
          </a:xfrm>
          <a:prstGeom prst="rect">
            <a:avLst/>
          </a:prstGeom>
        </p:spPr>
        <p:txBody>
          <a:bodyPr/>
          <a:lstStyle>
            <a:lvl1pPr>
              <a:defRPr sz="14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095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ransition spd="med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0" marR="0" indent="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Tx/>
        <a:buFont typeface="Arial"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0" marR="0" indent="4572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Tx/>
        <a:buFont typeface="Arial"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0" marR="0" indent="9144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Tx/>
        <a:buFont typeface="Arial"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0" marR="0" indent="1371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Tx/>
        <a:buFont typeface="Arial"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0" marR="0" indent="18288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Tx/>
        <a:buFont typeface="Arial"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0" marR="0" indent="22860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Tx/>
        <a:buFont typeface="Arial"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0" marR="0" indent="27432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Tx/>
        <a:buFont typeface="Arial"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0" marR="0" indent="32004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Tx/>
        <a:buFont typeface="Arial"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0" marR="0" indent="3657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Tx/>
        <a:buFont typeface="Arial"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mat.smith@lancaster.ac.uk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5.png"/><Relationship Id="rId18" Type="http://schemas.openxmlformats.org/officeDocument/2006/relationships/image" Target="../media/image3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image" Target="../media/image24.png"/><Relationship Id="rId17" Type="http://schemas.openxmlformats.org/officeDocument/2006/relationships/image" Target="../media/image29.png"/><Relationship Id="rId2" Type="http://schemas.openxmlformats.org/officeDocument/2006/relationships/image" Target="../media/image14.png"/><Relationship Id="rId16" Type="http://schemas.openxmlformats.org/officeDocument/2006/relationships/image" Target="../media/image28.png"/><Relationship Id="rId20" Type="http://schemas.openxmlformats.org/officeDocument/2006/relationships/image" Target="../media/image32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5" Type="http://schemas.openxmlformats.org/officeDocument/2006/relationships/image" Target="../media/image27.png"/><Relationship Id="rId10" Type="http://schemas.openxmlformats.org/officeDocument/2006/relationships/image" Target="../media/image22.png"/><Relationship Id="rId19" Type="http://schemas.openxmlformats.org/officeDocument/2006/relationships/image" Target="../media/image31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Relationship Id="rId14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7" Type="http://schemas.openxmlformats.org/officeDocument/2006/relationships/image" Target="../media/image4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7" Type="http://schemas.openxmlformats.org/officeDocument/2006/relationships/image" Target="../media/image57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image" Target="../media/image59.png"/><Relationship Id="rId7" Type="http://schemas.openxmlformats.org/officeDocument/2006/relationships/image" Target="../media/image63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60.png"/><Relationship Id="rId9" Type="http://schemas.openxmlformats.org/officeDocument/2006/relationships/image" Target="../media/image6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png"/><Relationship Id="rId3" Type="http://schemas.openxmlformats.org/officeDocument/2006/relationships/image" Target="../media/image70.png"/><Relationship Id="rId7" Type="http://schemas.openxmlformats.org/officeDocument/2006/relationships/image" Target="../media/image74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3.png"/><Relationship Id="rId5" Type="http://schemas.openxmlformats.org/officeDocument/2006/relationships/image" Target="../media/image72.png"/><Relationship Id="rId4" Type="http://schemas.openxmlformats.org/officeDocument/2006/relationships/image" Target="../media/image7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0.png"/><Relationship Id="rId5" Type="http://schemas.openxmlformats.org/officeDocument/2006/relationships/image" Target="../media/image79.png"/><Relationship Id="rId4" Type="http://schemas.openxmlformats.org/officeDocument/2006/relationships/image" Target="../media/image7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7" Type="http://schemas.openxmlformats.org/officeDocument/2006/relationships/image" Target="../media/image86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5.png"/><Relationship Id="rId5" Type="http://schemas.openxmlformats.org/officeDocument/2006/relationships/image" Target="../media/image84.png"/><Relationship Id="rId4" Type="http://schemas.openxmlformats.org/officeDocument/2006/relationships/image" Target="../media/image8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2.png"/><Relationship Id="rId5" Type="http://schemas.openxmlformats.org/officeDocument/2006/relationships/image" Target="../media/image91.png"/><Relationship Id="rId4" Type="http://schemas.openxmlformats.org/officeDocument/2006/relationships/image" Target="../media/image9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6.png"/><Relationship Id="rId5" Type="http://schemas.openxmlformats.org/officeDocument/2006/relationships/image" Target="../media/image95.png"/><Relationship Id="rId4" Type="http://schemas.openxmlformats.org/officeDocument/2006/relationships/image" Target="../media/image9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7" Type="http://schemas.openxmlformats.org/officeDocument/2006/relationships/image" Target="../media/image101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0.png"/><Relationship Id="rId5" Type="http://schemas.openxmlformats.org/officeDocument/2006/relationships/image" Target="../media/image99.png"/><Relationship Id="rId4" Type="http://schemas.openxmlformats.org/officeDocument/2006/relationships/image" Target="../media/image98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7.png"/><Relationship Id="rId3" Type="http://schemas.openxmlformats.org/officeDocument/2006/relationships/image" Target="../media/image103.png"/><Relationship Id="rId7" Type="http://schemas.openxmlformats.org/officeDocument/2006/relationships/image" Target="../media/image75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6.png"/><Relationship Id="rId5" Type="http://schemas.openxmlformats.org/officeDocument/2006/relationships/image" Target="../media/image105.png"/><Relationship Id="rId4" Type="http://schemas.openxmlformats.org/officeDocument/2006/relationships/image" Target="../media/image10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7" Type="http://schemas.openxmlformats.org/officeDocument/2006/relationships/image" Target="../media/image113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2.png"/><Relationship Id="rId5" Type="http://schemas.openxmlformats.org/officeDocument/2006/relationships/image" Target="../media/image111.png"/><Relationship Id="rId4" Type="http://schemas.openxmlformats.org/officeDocument/2006/relationships/image" Target="../media/image11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7" Type="http://schemas.openxmlformats.org/officeDocument/2006/relationships/image" Target="../media/image119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8.png"/><Relationship Id="rId5" Type="http://schemas.openxmlformats.org/officeDocument/2006/relationships/image" Target="../media/image117.png"/><Relationship Id="rId4" Type="http://schemas.openxmlformats.org/officeDocument/2006/relationships/image" Target="../media/image116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Title 1"/>
          <p:cNvSpPr txBox="1">
            <a:spLocks noGrp="1"/>
          </p:cNvSpPr>
          <p:nvPr>
            <p:ph type="ctrTitle"/>
          </p:nvPr>
        </p:nvSpPr>
        <p:spPr>
          <a:xfrm>
            <a:off x="511628" y="1122362"/>
            <a:ext cx="11179630" cy="3351667"/>
          </a:xfrm>
          <a:prstGeom prst="rect">
            <a:avLst/>
          </a:prstGeom>
        </p:spPr>
        <p:txBody>
          <a:bodyPr anchor="t"/>
          <a:lstStyle/>
          <a:p>
            <a:pPr>
              <a:defRPr sz="4800">
                <a:solidFill>
                  <a:srgbClr val="C00000"/>
                </a:solidFill>
              </a:defRPr>
            </a:pPr>
            <a:r>
              <a:t>PHYS465: Statistical Data Analysis in Physics</a:t>
            </a:r>
            <a:br/>
            <a:br/>
            <a:r>
              <a:rPr i="1">
                <a:solidFill>
                  <a:srgbClr val="000000"/>
                </a:solidFill>
              </a:rPr>
              <a:t>Week 2: Hypothesis Testing, Common distributions, Model testing</a:t>
            </a:r>
          </a:p>
        </p:txBody>
      </p:sp>
      <p:sp>
        <p:nvSpPr>
          <p:cNvPr id="129" name="Subtitle 2"/>
          <p:cNvSpPr txBox="1">
            <a:spLocks noGrp="1"/>
          </p:cNvSpPr>
          <p:nvPr>
            <p:ph type="subTitle" sz="quarter" idx="1"/>
          </p:nvPr>
        </p:nvSpPr>
        <p:spPr>
          <a:xfrm>
            <a:off x="1524000" y="4907755"/>
            <a:ext cx="9144000" cy="1287536"/>
          </a:xfrm>
          <a:prstGeom prst="rect">
            <a:avLst/>
          </a:prstGeom>
        </p:spPr>
        <p:txBody>
          <a:bodyPr/>
          <a:lstStyle/>
          <a:p>
            <a:pPr>
              <a:defRPr sz="2000"/>
            </a:pPr>
            <a:r>
              <a:t>Dr. Mathew Smith</a:t>
            </a:r>
          </a:p>
          <a:p>
            <a:pPr>
              <a:defRPr sz="2000"/>
            </a:pP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2"/>
              </a:rPr>
              <a:t>mat.smith@lancaster.ac.uk</a:t>
            </a:r>
          </a:p>
          <a:p>
            <a:pPr>
              <a:defRPr sz="2000"/>
            </a:pPr>
            <a:r>
              <a:t>Physics Building; C46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ounded Rectangle"/>
          <p:cNvSpPr/>
          <p:nvPr/>
        </p:nvSpPr>
        <p:spPr>
          <a:xfrm>
            <a:off x="800429" y="1679620"/>
            <a:ext cx="10591142" cy="2460934"/>
          </a:xfrm>
          <a:prstGeom prst="roundRect">
            <a:avLst>
              <a:gd name="adj" fmla="val 10616"/>
            </a:avLst>
          </a:prstGeom>
          <a:solidFill>
            <a:srgbClr val="FFFFFF"/>
          </a:solidFill>
          <a:ln w="12700">
            <a:solidFill>
              <a:schemeClr val="accent1"/>
            </a:solidFill>
            <a:miter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32" name="Rounded Rectangle"/>
          <p:cNvSpPr/>
          <p:nvPr/>
        </p:nvSpPr>
        <p:spPr>
          <a:xfrm>
            <a:off x="800429" y="4357302"/>
            <a:ext cx="10591142" cy="1875570"/>
          </a:xfrm>
          <a:prstGeom prst="roundRect">
            <a:avLst>
              <a:gd name="adj" fmla="val 13930"/>
            </a:avLst>
          </a:prstGeom>
          <a:solidFill>
            <a:srgbClr val="FFFFFF"/>
          </a:solidFill>
          <a:ln w="12700">
            <a:solidFill>
              <a:schemeClr val="accent1"/>
            </a:solidFill>
            <a:miter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33" name="Title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i="1">
                <a:solidFill>
                  <a:srgbClr val="C00000"/>
                </a:solidFill>
              </a:defRPr>
            </a:lvl1pPr>
          </a:lstStyle>
          <a:p>
            <a:r>
              <a:t>Module Structure</a:t>
            </a:r>
          </a:p>
        </p:txBody>
      </p:sp>
      <p:sp>
        <p:nvSpPr>
          <p:cNvPr id="134" name="Rectangle"/>
          <p:cNvSpPr/>
          <p:nvPr/>
        </p:nvSpPr>
        <p:spPr>
          <a:xfrm>
            <a:off x="863512" y="3020825"/>
            <a:ext cx="10439576" cy="484347"/>
          </a:xfrm>
          <a:prstGeom prst="rect">
            <a:avLst/>
          </a:prstGeom>
          <a:solidFill>
            <a:srgbClr val="F0F0F0"/>
          </a:solidFill>
          <a:ln w="6350">
            <a:solidFill>
              <a:schemeClr val="accent1"/>
            </a:solidFill>
            <a:miter/>
          </a:ln>
        </p:spPr>
        <p:txBody>
          <a:bodyPr lIns="45719" rIns="45719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5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908487" y="2545400"/>
            <a:ext cx="10221965" cy="4163324"/>
          </a:xfrm>
          <a:prstGeom prst="rect">
            <a:avLst/>
          </a:prstGeom>
        </p:spPr>
        <p:txBody>
          <a:bodyPr/>
          <a:lstStyle/>
          <a:p>
            <a:pPr>
              <a:defRPr>
                <a:solidFill>
                  <a:srgbClr val="C00000"/>
                </a:solidFill>
              </a:defRPr>
            </a:pPr>
            <a:r>
              <a:t>Week 11: </a:t>
            </a:r>
            <a:r>
              <a:rPr>
                <a:solidFill>
                  <a:srgbClr val="000000"/>
                </a:solidFill>
              </a:rPr>
              <a:t>Fitting a model to data; estimating parameters</a:t>
            </a:r>
          </a:p>
          <a:p>
            <a:pPr>
              <a:defRPr>
                <a:solidFill>
                  <a:srgbClr val="C00000"/>
                </a:solidFill>
              </a:defRPr>
            </a:pPr>
            <a:r>
              <a:t>Week 12: </a:t>
            </a:r>
            <a:r>
              <a:rPr>
                <a:solidFill>
                  <a:srgbClr val="000000"/>
                </a:solidFill>
              </a:rPr>
              <a:t>Hypothesis testing; the likelihood; estimating uncertainties</a:t>
            </a:r>
          </a:p>
          <a:p>
            <a:pPr>
              <a:defRPr>
                <a:solidFill>
                  <a:srgbClr val="C00000"/>
                </a:solidFill>
              </a:defRPr>
            </a:pPr>
            <a:r>
              <a:t>Week 13: </a:t>
            </a:r>
            <a:r>
              <a:rPr>
                <a:solidFill>
                  <a:srgbClr val="000000"/>
                </a:solidFill>
              </a:rPr>
              <a:t>Posterior sampling; Bayesian statistics</a:t>
            </a:r>
          </a:p>
          <a:p>
            <a:pPr>
              <a:defRPr>
                <a:solidFill>
                  <a:srgbClr val="C00000"/>
                </a:solidFill>
              </a:defRPr>
            </a:pPr>
            <a:endParaRPr>
              <a:solidFill>
                <a:srgbClr val="000000"/>
              </a:solidFill>
            </a:endParaRPr>
          </a:p>
          <a:p>
            <a:pPr>
              <a:defRPr>
                <a:solidFill>
                  <a:srgbClr val="C00000"/>
                </a:solidFill>
              </a:defRPr>
            </a:pPr>
            <a:endParaRPr>
              <a:solidFill>
                <a:srgbClr val="000000"/>
              </a:solidFill>
            </a:endParaRPr>
          </a:p>
          <a:p>
            <a:pPr>
              <a:defRPr>
                <a:solidFill>
                  <a:srgbClr val="C00000"/>
                </a:solidFill>
              </a:defRPr>
            </a:pPr>
            <a:r>
              <a:t>Week 14: </a:t>
            </a:r>
            <a:r>
              <a:rPr>
                <a:solidFill>
                  <a:srgbClr val="000000"/>
                </a:solidFill>
              </a:rPr>
              <a:t>Clustering and Classification algorithms</a:t>
            </a:r>
          </a:p>
          <a:p>
            <a:pPr>
              <a:defRPr>
                <a:solidFill>
                  <a:srgbClr val="C00000"/>
                </a:solidFill>
              </a:defRPr>
            </a:pPr>
            <a:r>
              <a:t>Week 15: </a:t>
            </a:r>
            <a:r>
              <a:rPr>
                <a:solidFill>
                  <a:srgbClr val="000000"/>
                </a:solidFill>
              </a:rPr>
              <a:t>Machine learning techniques</a:t>
            </a:r>
          </a:p>
        </p:txBody>
      </p:sp>
      <p:sp>
        <p:nvSpPr>
          <p:cNvPr id="136" name="Slide Number Placeholder 3"/>
          <p:cNvSpPr txBox="1">
            <a:spLocks noGrp="1"/>
          </p:cNvSpPr>
          <p:nvPr>
            <p:ph type="sldNum" sz="quarter" idx="2"/>
          </p:nvPr>
        </p:nvSpPr>
        <p:spPr>
          <a:xfrm>
            <a:off x="11774115" y="6402746"/>
            <a:ext cx="194257" cy="280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2</a:t>
            </a:fld>
            <a:endParaRPr/>
          </a:p>
        </p:txBody>
      </p:sp>
      <p:sp>
        <p:nvSpPr>
          <p:cNvPr id="137" name="‘data driven’: what does our data tell us?"/>
          <p:cNvSpPr txBox="1"/>
          <p:nvPr/>
        </p:nvSpPr>
        <p:spPr>
          <a:xfrm>
            <a:off x="2604875" y="4529537"/>
            <a:ext cx="6829188" cy="497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sz="3200">
                <a:solidFill>
                  <a:schemeClr val="accent5">
                    <a:satOff val="-19091"/>
                    <a:lumOff val="-11921"/>
                  </a:schemeClr>
                </a:solidFill>
              </a:defRPr>
            </a:pPr>
            <a:r>
              <a:t>‘d</a:t>
            </a:r>
            <a:r>
              <a:rPr i="1"/>
              <a:t>ata driven</a:t>
            </a:r>
            <a:r>
              <a:t>’: what does our data tell us?</a:t>
            </a:r>
          </a:p>
        </p:txBody>
      </p:sp>
      <p:sp>
        <p:nvSpPr>
          <p:cNvPr id="138" name="‘model testing’: does our data agree with our model?"/>
          <p:cNvSpPr txBox="1"/>
          <p:nvPr/>
        </p:nvSpPr>
        <p:spPr>
          <a:xfrm>
            <a:off x="1590265" y="1907620"/>
            <a:ext cx="8858409" cy="497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sz="3200">
                <a:solidFill>
                  <a:schemeClr val="accent5">
                    <a:satOff val="-19091"/>
                    <a:lumOff val="-11921"/>
                  </a:schemeClr>
                </a:solidFill>
              </a:defRPr>
            </a:pPr>
            <a:r>
              <a:t>‘</a:t>
            </a:r>
            <a:r>
              <a:rPr i="1"/>
              <a:t>model testing</a:t>
            </a:r>
            <a:r>
              <a:t>’: does our data agree with our model?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769144" y="6398513"/>
            <a:ext cx="194257" cy="280799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3</a:t>
            </a:fld>
            <a:endParaRPr/>
          </a:p>
        </p:txBody>
      </p:sp>
      <p:sp>
        <p:nvSpPr>
          <p:cNvPr id="141" name="Week 12: Previous session"/>
          <p:cNvSpPr txBox="1">
            <a:spLocks noGrp="1"/>
          </p:cNvSpPr>
          <p:nvPr>
            <p:ph type="title" idx="4294967295"/>
          </p:nvPr>
        </p:nvSpPr>
        <p:spPr>
          <a:xfrm>
            <a:off x="310352" y="146261"/>
            <a:ext cx="10515601" cy="1325564"/>
          </a:xfrm>
          <a:prstGeom prst="rect">
            <a:avLst/>
          </a:prstGeom>
        </p:spPr>
        <p:txBody>
          <a:bodyPr/>
          <a:lstStyle>
            <a:lvl1pPr>
              <a:defRPr sz="3600" i="1">
                <a:solidFill>
                  <a:srgbClr val="C00000"/>
                </a:solidFill>
              </a:defRPr>
            </a:lvl1pPr>
          </a:lstStyle>
          <a:p>
            <a:r>
              <a:t>Week 12: Previous session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2" name="Last week we learnt:…"/>
              <p:cNvSpPr txBox="1">
                <a:spLocks noGrp="1"/>
              </p:cNvSpPr>
              <p:nvPr>
                <p:ph type="body" idx="4294967295"/>
              </p:nvPr>
            </p:nvSpPr>
            <p:spPr>
              <a:xfrm>
                <a:off x="914466" y="1478813"/>
                <a:ext cx="9956668" cy="5029430"/>
              </a:xfrm>
              <a:prstGeom prst="rect">
                <a:avLst/>
              </a:prstGeom>
            </p:spPr>
            <p:txBody>
              <a:bodyPr/>
              <a:lstStyle/>
              <a:p>
                <a:pPr>
                  <a:spcBef>
                    <a:spcPts val="2000"/>
                  </a:spcBef>
                  <a:defRPr>
                    <a:solidFill>
                      <a:srgbClr val="C00000"/>
                    </a:solidFill>
                  </a:defRPr>
                </a:pPr>
                <a:r>
                  <a:rPr i="1"/>
                  <a:t>Last week we learnt: </a:t>
                </a:r>
              </a:p>
              <a:p>
                <a:pPr marL="876300" lvl="1" indent="-228600">
                  <a:spcBef>
                    <a:spcPts val="500"/>
                  </a:spcBef>
                  <a:buSzPct val="100000"/>
                  <a:buChar char="-"/>
                  <a:defRPr sz="2200"/>
                </a:pPr>
                <a:r>
                  <a:t>Our measurements drawn from an underlying continuous distribution</a:t>
                </a:r>
              </a:p>
              <a:p>
                <a:pPr marL="1143000" lvl="2" indent="-228600">
                  <a:spcBef>
                    <a:spcPts val="500"/>
                  </a:spcBef>
                  <a:buSzPct val="100000"/>
                  <a:buChar char="-"/>
                  <a:defRPr sz="2200"/>
                </a:pPr>
                <a:r>
                  <a:t>The shape of this distribution is dependent on our experiment</a:t>
                </a:r>
              </a:p>
              <a:p>
                <a:pPr marL="1143000" lvl="2" indent="-228600">
                  <a:spcBef>
                    <a:spcPts val="500"/>
                  </a:spcBef>
                  <a:buSzPct val="100000"/>
                  <a:buChar char="-"/>
                  <a:defRPr sz="2200"/>
                </a:pPr>
                <a:r>
                  <a:t>The probability of our data can be described through a PDF</a:t>
                </a:r>
              </a:p>
              <a:p>
                <a:pPr marL="876300" lvl="1" indent="-228600">
                  <a:spcBef>
                    <a:spcPts val="500"/>
                  </a:spcBef>
                  <a:buSzPct val="100000"/>
                  <a:buChar char="-"/>
                  <a:defRPr sz="2200"/>
                </a:pPr>
                <a:r>
                  <a:t>Given a model we can find the best-fit parameters using least-squares fitting</a:t>
                </a:r>
              </a:p>
              <a:p>
                <a:pPr marL="876300" lvl="1" indent="-228600">
                  <a:spcBef>
                    <a:spcPts val="500"/>
                  </a:spcBef>
                  <a:buSzPct val="100000"/>
                  <a:buChar char="-"/>
                  <a:defRPr sz="2200"/>
                </a:pPr>
                <a:r>
                  <a:t>This is generalised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sz="215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sz="21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sz="21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t>-fitting in the presence of gaussian uncertainties</a:t>
                </a:r>
              </a:p>
              <a:p>
                <a:pPr marL="876300" lvl="1" indent="-228600">
                  <a:spcBef>
                    <a:spcPts val="500"/>
                  </a:spcBef>
                  <a:buSzPct val="100000"/>
                  <a:buChar char="-"/>
                  <a:defRPr sz="2200"/>
                </a:pPr>
                <a:r>
                  <a:t>A good model will have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sz="215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sz="21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sz="21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𝑟𝑒𝑑</m:t>
                        </m:r>
                      </m:sub>
                      <m:sup>
                        <m:r>
                          <a:rPr sz="21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sz="21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∼1</m:t>
                    </m:r>
                  </m:oMath>
                </a14:m>
                <a:endParaRPr/>
              </a:p>
              <a:p>
                <a:pPr marL="1143000" lvl="2" indent="-228600">
                  <a:spcBef>
                    <a:spcPts val="500"/>
                  </a:spcBef>
                  <a:buSzPct val="100000"/>
                  <a:buChar char="-"/>
                  <a:defRPr sz="2200"/>
                </a:pPr>
                <a:r>
                  <a:t>Where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sz="215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sz="21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sz="21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𝑟𝑒𝑑</m:t>
                        </m:r>
                      </m:sub>
                      <m:sup>
                        <m:r>
                          <a:rPr sz="21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sz="21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sz="21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sz="21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sz="21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sz="21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sz="21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1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sz="21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𝑑𝑜𝑓</m:t>
                        </m:r>
                      </m:sub>
                    </m:sSub>
                  </m:oMath>
                </a14:m>
                <a:endParaRPr sz="2000"/>
              </a:p>
              <a:p>
                <a:pPr marL="1122218" lvl="2" indent="-207818">
                  <a:spcBef>
                    <a:spcPts val="500"/>
                  </a:spcBef>
                  <a:buSzPct val="100000"/>
                  <a:buChar char="-"/>
                  <a:defRPr sz="2200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sz="215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sz="21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sz="21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𝑟𝑒𝑑</m:t>
                        </m:r>
                      </m:sub>
                      <m:sup>
                        <m:r>
                          <a:rPr sz="21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sz="21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r>
                  <a:rPr sz="2000"/>
                  <a:t> suggests the need for more complicated models;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sz="215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sz="21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sz="21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𝑟𝑒𝑑</m:t>
                        </m:r>
                      </m:sub>
                      <m:sup>
                        <m:r>
                          <a:rPr sz="21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sz="21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sz="2000"/>
                  <a:t> is the reverse</a:t>
                </a:r>
              </a:p>
              <a:p>
                <a:pPr marL="855518" lvl="1" indent="-207818">
                  <a:spcBef>
                    <a:spcPts val="500"/>
                  </a:spcBef>
                  <a:buSzPct val="100000"/>
                  <a:buChar char="-"/>
                  <a:defRPr sz="2200"/>
                </a:pPr>
                <a:r>
                  <a:rPr sz="2000"/>
                  <a:t>Our knowledge of model parameters is expressed through confidence intervals </a:t>
                </a:r>
              </a:p>
              <a:p>
                <a:pPr marL="855518" lvl="1" indent="-207818">
                  <a:spcBef>
                    <a:spcPts val="500"/>
                  </a:spcBef>
                  <a:buSzPct val="100000"/>
                  <a:buChar char="-"/>
                  <a:defRPr sz="2200" u="sng"/>
                </a:pPr>
                <a:r>
                  <a:rPr sz="2000"/>
                  <a:t>Question: how do we measure a confidence interval or parameter uncertainty?</a:t>
                </a:r>
              </a:p>
            </p:txBody>
          </p:sp>
        </mc:Choice>
        <mc:Fallback>
          <p:sp>
            <p:nvSpPr>
              <p:cNvPr id="142" name="Last week we learnt: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914466" y="1478813"/>
                <a:ext cx="9956668" cy="5029430"/>
              </a:xfrm>
              <a:prstGeom prst="rect">
                <a:avLst/>
              </a:prstGeom>
              <a:blipFill>
                <a:blip r:embed="rId2"/>
                <a:stretch>
                  <a:fillRect l="-1786" t="-2015" r="-1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769144" y="6398513"/>
            <a:ext cx="194257" cy="280799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4</a:t>
            </a:fld>
            <a:endParaRPr/>
          </a:p>
        </p:txBody>
      </p:sp>
      <p:sp>
        <p:nvSpPr>
          <p:cNvPr id="145" name="Week 12: Learning aims"/>
          <p:cNvSpPr txBox="1">
            <a:spLocks noGrp="1"/>
          </p:cNvSpPr>
          <p:nvPr>
            <p:ph type="title" idx="4294967295"/>
          </p:nvPr>
        </p:nvSpPr>
        <p:spPr>
          <a:xfrm>
            <a:off x="310352" y="146261"/>
            <a:ext cx="10515601" cy="1325564"/>
          </a:xfrm>
          <a:prstGeom prst="rect">
            <a:avLst/>
          </a:prstGeom>
        </p:spPr>
        <p:txBody>
          <a:bodyPr/>
          <a:lstStyle>
            <a:lvl1pPr>
              <a:defRPr sz="3600" i="1">
                <a:solidFill>
                  <a:srgbClr val="C00000"/>
                </a:solidFill>
              </a:defRPr>
            </a:lvl1pPr>
          </a:lstStyle>
          <a:p>
            <a:r>
              <a:t>Week 12: Learning aims</a:t>
            </a:r>
          </a:p>
        </p:txBody>
      </p:sp>
      <p:sp>
        <p:nvSpPr>
          <p:cNvPr id="146" name="Today we will introduce…"/>
          <p:cNvSpPr txBox="1">
            <a:spLocks noGrp="1"/>
          </p:cNvSpPr>
          <p:nvPr>
            <p:ph type="body" idx="4294967295"/>
          </p:nvPr>
        </p:nvSpPr>
        <p:spPr>
          <a:xfrm>
            <a:off x="914466" y="1478813"/>
            <a:ext cx="9956668" cy="4287707"/>
          </a:xfrm>
          <a:prstGeom prst="rect">
            <a:avLst/>
          </a:prstGeom>
        </p:spPr>
        <p:txBody>
          <a:bodyPr/>
          <a:lstStyle/>
          <a:p>
            <a:pPr>
              <a:spcBef>
                <a:spcPts val="2000"/>
              </a:spcBef>
              <a:defRPr>
                <a:solidFill>
                  <a:srgbClr val="C00000"/>
                </a:solidFill>
              </a:defRPr>
            </a:pPr>
            <a:r>
              <a:rPr i="1"/>
              <a:t>Today we will introduce</a:t>
            </a:r>
          </a:p>
          <a:p>
            <a:pPr marL="876300" lvl="1" indent="-228600">
              <a:spcBef>
                <a:spcPts val="500"/>
              </a:spcBef>
              <a:buSzPct val="100000"/>
              <a:buChar char="-"/>
              <a:defRPr sz="2200"/>
            </a:pPr>
            <a:r>
              <a:t>Probabilities and how they relate to measurements</a:t>
            </a:r>
          </a:p>
          <a:p>
            <a:pPr marL="876300" lvl="1" indent="-228600">
              <a:spcBef>
                <a:spcPts val="500"/>
              </a:spcBef>
              <a:buSzPct val="100000"/>
              <a:buChar char="-"/>
              <a:defRPr sz="2200" u="sng"/>
            </a:pPr>
            <a:r>
              <a:t>The Null Hypothesis</a:t>
            </a:r>
          </a:p>
          <a:p>
            <a:pPr marL="1143000" lvl="2" indent="-228600">
              <a:spcBef>
                <a:spcPts val="500"/>
              </a:spcBef>
              <a:buSzPct val="100000"/>
              <a:buChar char="-"/>
              <a:defRPr sz="2200"/>
            </a:pPr>
            <a:r>
              <a:t>And how to test it</a:t>
            </a:r>
          </a:p>
          <a:p>
            <a:pPr marL="876300" lvl="1" indent="-228600">
              <a:spcBef>
                <a:spcPts val="500"/>
              </a:spcBef>
              <a:buSzPct val="100000"/>
              <a:buChar char="-"/>
              <a:defRPr sz="2200" u="sng"/>
            </a:pPr>
            <a:r>
              <a:t>How our experiment will change how the data is distributed</a:t>
            </a:r>
          </a:p>
          <a:p>
            <a:pPr marL="876300" lvl="1" indent="-228600">
              <a:spcBef>
                <a:spcPts val="500"/>
              </a:spcBef>
              <a:buSzPct val="100000"/>
              <a:buChar char="-"/>
              <a:defRPr sz="2200"/>
            </a:pPr>
            <a:r>
              <a:t>How to test which distribution is correct</a:t>
            </a:r>
          </a:p>
          <a:p>
            <a:pPr marL="876300" lvl="1" indent="-228600">
              <a:spcBef>
                <a:spcPts val="500"/>
              </a:spcBef>
              <a:buSzPct val="100000"/>
              <a:buChar char="-"/>
              <a:defRPr sz="2200"/>
            </a:pPr>
            <a:r>
              <a:t>How do we estimate confidence intervals?</a:t>
            </a:r>
          </a:p>
          <a:p>
            <a:pPr marL="876300" lvl="1" indent="-228600">
              <a:spcBef>
                <a:spcPts val="500"/>
              </a:spcBef>
              <a:buSzPct val="100000"/>
              <a:buChar char="-"/>
              <a:defRPr sz="2200" u="sng"/>
            </a:pPr>
            <a:r>
              <a:t>How to select which model is most likely</a:t>
            </a:r>
          </a:p>
        </p:txBody>
      </p:sp>
      <p:sp>
        <p:nvSpPr>
          <p:cNvPr id="147" name="Practical examples on Friday!"/>
          <p:cNvSpPr txBox="1"/>
          <p:nvPr/>
        </p:nvSpPr>
        <p:spPr>
          <a:xfrm>
            <a:off x="7969679" y="6010575"/>
            <a:ext cx="3097695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500"/>
              </a:spcBef>
              <a:defRPr sz="2000">
                <a:solidFill>
                  <a:schemeClr val="accent1">
                    <a:satOff val="-3547"/>
                    <a:lumOff val="-10352"/>
                  </a:schemeClr>
                </a:solidFill>
              </a:defRPr>
            </a:lvl1pPr>
          </a:lstStyle>
          <a:p>
            <a:r>
              <a:t>Practical examples on Friday!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769144" y="6398513"/>
            <a:ext cx="194257" cy="280799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5</a:t>
            </a:fld>
            <a:endParaRPr/>
          </a:p>
        </p:txBody>
      </p:sp>
      <p:sp>
        <p:nvSpPr>
          <p:cNvPr id="150" name="Revision: Probabilities"/>
          <p:cNvSpPr txBox="1">
            <a:spLocks noGrp="1"/>
          </p:cNvSpPr>
          <p:nvPr>
            <p:ph type="title" idx="4294967295"/>
          </p:nvPr>
        </p:nvSpPr>
        <p:spPr>
          <a:xfrm>
            <a:off x="381000" y="153283"/>
            <a:ext cx="10515600" cy="132556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C00000"/>
                </a:solidFill>
                <a:latin typeface="Carlito"/>
                <a:ea typeface="Carlito"/>
                <a:cs typeface="Carlito"/>
                <a:sym typeface="Carlito"/>
              </a:defRPr>
            </a:lvl1pPr>
          </a:lstStyle>
          <a:p>
            <a:r>
              <a:t>Revision: Probabilities</a:t>
            </a:r>
          </a:p>
        </p:txBody>
      </p:sp>
      <p:sp>
        <p:nvSpPr>
          <p:cNvPr id="151" name="Text"/>
          <p:cNvSpPr txBox="1"/>
          <p:nvPr/>
        </p:nvSpPr>
        <p:spPr>
          <a:xfrm>
            <a:off x="263544" y="4711061"/>
            <a:ext cx="127001" cy="11540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000"/>
            </a:pPr>
            <a:endParaRPr/>
          </a:p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000"/>
            </a:pPr>
            <a:endParaRPr/>
          </a:p>
        </p:txBody>
      </p:sp>
      <p:pic>
        <p:nvPicPr>
          <p:cNvPr id="152" name="Screenshot 2025-01-18 at 11.58.56.png" descr="Screenshot 2025-01-18 at 11.58.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4918" y="999181"/>
            <a:ext cx="3724965" cy="5152287"/>
          </a:xfrm>
          <a:prstGeom prst="rect">
            <a:avLst/>
          </a:prstGeom>
          <a:ln w="12700">
            <a:solidFill>
              <a:srgbClr val="A7A7A7"/>
            </a:solidFill>
            <a:miter lim="400000"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53" name="Given an experiment:…"/>
              <p:cNvSpPr txBox="1"/>
              <p:nvPr/>
            </p:nvSpPr>
            <p:spPr>
              <a:xfrm>
                <a:off x="426089" y="1356712"/>
                <a:ext cx="5075786" cy="858800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none" lIns="45719" rIns="45719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ts val="1000"/>
                  </a:spcBef>
                  <a:buFont typeface="Arial"/>
                  <a:defRPr sz="2200"/>
                </a:pPr>
                <a:r>
                  <a:t>Given an experiment: </a:t>
                </a:r>
              </a:p>
              <a:p>
                <a:pPr marL="895350" lvl="1" indent="-228600">
                  <a:lnSpc>
                    <a:spcPct val="90000"/>
                  </a:lnSpc>
                  <a:spcBef>
                    <a:spcPts val="1000"/>
                  </a:spcBef>
                  <a:buSzPct val="100000"/>
                  <a:buFont typeface="Arial"/>
                  <a:buChar char="-"/>
                  <a:defRPr sz="2200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r>
                  <a:t>is the list of all possible outcomes</a:t>
                </a:r>
              </a:p>
            </p:txBody>
          </p:sp>
        </mc:Choice>
        <mc:Fallback>
          <p:sp>
            <p:nvSpPr>
              <p:cNvPr id="153" name="Given an experiment:…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089" y="1356712"/>
                <a:ext cx="5075786" cy="858800"/>
              </a:xfrm>
              <a:prstGeom prst="rect">
                <a:avLst/>
              </a:prstGeom>
              <a:blipFill>
                <a:blip r:embed="rId3"/>
                <a:stretch>
                  <a:fillRect l="-2244" t="-10294" r="-748" b="-11765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4" name="Axioms:"/>
              <p:cNvSpPr txBox="1"/>
              <p:nvPr/>
            </p:nvSpPr>
            <p:spPr>
              <a:xfrm>
                <a:off x="426089" y="2296576"/>
                <a:ext cx="7097810" cy="1858448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none" lIns="45719" rIns="45719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ts val="1000"/>
                  </a:spcBef>
                  <a:buFont typeface="Arial"/>
                  <a:defRPr sz="2200"/>
                </a:pPr>
                <a:r>
                  <a:t>Axioms:</a:t>
                </a:r>
              </a:p>
              <a:p>
                <a:pPr marL="895350" lvl="1" indent="-228600">
                  <a:lnSpc>
                    <a:spcPct val="90000"/>
                  </a:lnSpc>
                  <a:spcBef>
                    <a:spcPts val="1000"/>
                  </a:spcBef>
                  <a:buSzPct val="100000"/>
                  <a:buFont typeface="Arial"/>
                  <a:buChar char="-"/>
                  <a:defRPr sz="2200"/>
                </a:pPr>
                <a14:m>
                  <m:oMath xmlns:m="http://schemas.openxmlformats.org/officeDocument/2006/math"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0≤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)≤1</m:t>
                    </m:r>
                  </m:oMath>
                </a14:m>
                <a:endParaRPr/>
              </a:p>
              <a:p>
                <a:pPr marL="895350" lvl="1" indent="-228600">
                  <a:lnSpc>
                    <a:spcPct val="90000"/>
                  </a:lnSpc>
                  <a:spcBef>
                    <a:spcPts val="1000"/>
                  </a:spcBef>
                  <a:buSzPct val="100000"/>
                  <a:buFont typeface="Arial"/>
                  <a:buChar char="-"/>
                  <a:defRPr sz="2200"/>
                </a:pPr>
                <a14:m>
                  <m:oMath xmlns:m="http://schemas.openxmlformats.org/officeDocument/2006/math"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Ω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)=1</m:t>
                    </m:r>
                  </m:oMath>
                </a14:m>
                <a:endParaRPr/>
              </a:p>
              <a:p>
                <a:pPr marL="895350" lvl="1" indent="-228600">
                  <a:lnSpc>
                    <a:spcPct val="90000"/>
                  </a:lnSpc>
                  <a:spcBef>
                    <a:spcPts val="1000"/>
                  </a:spcBef>
                  <a:buSzPct val="100000"/>
                  <a:buFont typeface="Arial"/>
                  <a:buChar char="-"/>
                  <a:defRPr sz="2200"/>
                </a:pPr>
                <a14:m>
                  <m:oMath xmlns:m="http://schemas.openxmlformats.org/officeDocument/2006/math"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∪</m:t>
                    </m:r>
                    <m:sSub>
                      <m:sSubPr>
                        <m:ctrlP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∪</m:t>
                    </m:r>
                    <m:sSub>
                      <m:sSubPr>
                        <m:ctrlP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...)=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)+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)+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)+...</m:t>
                    </m:r>
                  </m:oMath>
                </a14:m>
                <a:endParaRPr/>
              </a:p>
            </p:txBody>
          </p:sp>
        </mc:Choice>
        <mc:Fallback>
          <p:sp>
            <p:nvSpPr>
              <p:cNvPr id="154" name="Axioms: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089" y="2296576"/>
                <a:ext cx="7097810" cy="1858448"/>
              </a:xfrm>
              <a:prstGeom prst="rect">
                <a:avLst/>
              </a:prstGeom>
              <a:blipFill>
                <a:blip r:embed="rId4"/>
                <a:stretch>
                  <a:fillRect l="-1607" t="-4054" r="-2679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5" name="Consequences:…"/>
              <p:cNvSpPr txBox="1"/>
              <p:nvPr/>
            </p:nvSpPr>
            <p:spPr>
              <a:xfrm>
                <a:off x="426089" y="4430176"/>
                <a:ext cx="6647969" cy="1835246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none" lIns="45719" rIns="45719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ts val="1000"/>
                  </a:spcBef>
                  <a:buFont typeface="Arial"/>
                  <a:defRPr sz="2200"/>
                </a:pPr>
                <a:r>
                  <a:t>Consequences:</a:t>
                </a:r>
              </a:p>
              <a:p>
                <a:pPr marL="895350" lvl="1" indent="-228600">
                  <a:lnSpc>
                    <a:spcPct val="90000"/>
                  </a:lnSpc>
                  <a:spcBef>
                    <a:spcPts val="1000"/>
                  </a:spcBef>
                  <a:buSzPct val="100000"/>
                  <a:buFont typeface="Arial"/>
                  <a:buChar char="-"/>
                  <a:defRPr sz="2200"/>
                </a:pPr>
                <a14:m>
                  <m:oMath xmlns:m="http://schemas.openxmlformats.org/officeDocument/2006/math"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)+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p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)=1</m:t>
                    </m:r>
                  </m:oMath>
                </a14:m>
                <a:endParaRPr/>
              </a:p>
              <a:p>
                <a:pPr marL="895350" lvl="1" indent="-228600">
                  <a:lnSpc>
                    <a:spcPct val="90000"/>
                  </a:lnSpc>
                  <a:spcBef>
                    <a:spcPts val="1000"/>
                  </a:spcBef>
                  <a:buSzPct val="100000"/>
                  <a:buFont typeface="Arial"/>
                  <a:buChar char="-"/>
                  <a:defRPr sz="2200"/>
                </a:pPr>
                <a14:m>
                  <m:oMath xmlns:m="http://schemas.openxmlformats.org/officeDocument/2006/math"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∪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)=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)+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)+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∩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/>
              </a:p>
              <a:p>
                <a:pPr marL="895350" lvl="1" indent="-228600">
                  <a:lnSpc>
                    <a:spcPct val="90000"/>
                  </a:lnSpc>
                  <a:spcBef>
                    <a:spcPts val="1000"/>
                  </a:spcBef>
                  <a:buSzPct val="100000"/>
                  <a:buFont typeface="Arial"/>
                  <a:buChar char="-"/>
                  <a:defRPr sz="2200"/>
                </a:pPr>
                <a14:m>
                  <m:oMath xmlns:m="http://schemas.openxmlformats.org/officeDocument/2006/math"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∩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)=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)×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t> if </a:t>
                </a:r>
                <a14:m>
                  <m:oMath xmlns:m="http://schemas.openxmlformats.org/officeDocument/2006/math"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t> are independent</a:t>
                </a:r>
              </a:p>
            </p:txBody>
          </p:sp>
        </mc:Choice>
        <mc:Fallback>
          <p:sp>
            <p:nvSpPr>
              <p:cNvPr id="155" name="Consequences:…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089" y="4430176"/>
                <a:ext cx="6647969" cy="1835246"/>
              </a:xfrm>
              <a:prstGeom prst="rect">
                <a:avLst/>
              </a:prstGeom>
              <a:blipFill>
                <a:blip r:embed="rId5"/>
                <a:stretch>
                  <a:fillRect l="-1718" t="-4110" r="-3626" b="-1370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6" name="Rectangle"/>
          <p:cNvSpPr/>
          <p:nvPr/>
        </p:nvSpPr>
        <p:spPr>
          <a:xfrm>
            <a:off x="7682230" y="941782"/>
            <a:ext cx="4032264" cy="5466321"/>
          </a:xfrm>
          <a:prstGeom prst="rect">
            <a:avLst/>
          </a:prstGeom>
          <a:solidFill>
            <a:srgbClr val="CEF0D1"/>
          </a:solidFill>
          <a:ln w="12700">
            <a:solidFill>
              <a:srgbClr val="A7A7A7"/>
            </a:solidFill>
            <a:miter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57" name="Oval"/>
          <p:cNvSpPr/>
          <p:nvPr/>
        </p:nvSpPr>
        <p:spPr>
          <a:xfrm>
            <a:off x="7848869" y="1134741"/>
            <a:ext cx="3698985" cy="5080402"/>
          </a:xfrm>
          <a:prstGeom prst="ellipse">
            <a:avLst/>
          </a:prstGeom>
          <a:solidFill>
            <a:srgbClr val="FFFFFF"/>
          </a:solidFill>
          <a:ln w="12700">
            <a:solidFill>
              <a:schemeClr val="accent1"/>
            </a:solidFill>
            <a:miter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58" name="Oval"/>
          <p:cNvSpPr/>
          <p:nvPr/>
        </p:nvSpPr>
        <p:spPr>
          <a:xfrm>
            <a:off x="8442362" y="1757661"/>
            <a:ext cx="1628190" cy="2181956"/>
          </a:xfrm>
          <a:prstGeom prst="ellipse">
            <a:avLst/>
          </a:prstGeom>
          <a:solidFill>
            <a:srgbClr val="FFA900">
              <a:alpha val="59663"/>
            </a:srgbClr>
          </a:solidFill>
          <a:ln w="25400">
            <a:solidFill>
              <a:srgbClr val="7C4118">
                <a:alpha val="59663"/>
              </a:srgbClr>
            </a:solidFill>
            <a:miter/>
          </a:ln>
        </p:spPr>
        <p:txBody>
          <a:bodyPr lIns="45719" rIns="45719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59" name="Oval"/>
          <p:cNvSpPr/>
          <p:nvPr/>
        </p:nvSpPr>
        <p:spPr>
          <a:xfrm>
            <a:off x="8840839" y="3061424"/>
            <a:ext cx="2108956" cy="2785233"/>
          </a:xfrm>
          <a:prstGeom prst="ellipse">
            <a:avLst/>
          </a:prstGeom>
          <a:solidFill>
            <a:srgbClr val="B6FEFC">
              <a:alpha val="50987"/>
            </a:srgbClr>
          </a:solidFill>
          <a:ln w="25400">
            <a:solidFill>
              <a:schemeClr val="accent5">
                <a:satOff val="-19091"/>
                <a:lumOff val="-11921"/>
                <a:alpha val="50987"/>
              </a:schemeClr>
            </a:solidFill>
            <a:miter/>
          </a:ln>
        </p:spPr>
        <p:txBody>
          <a:bodyPr lIns="45719" rIns="45719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0" name="Equation"/>
              <p:cNvSpPr txBox="1"/>
              <p:nvPr/>
            </p:nvSpPr>
            <p:spPr>
              <a:xfrm>
                <a:off x="10216032" y="1673047"/>
                <a:ext cx="627279" cy="480772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sz="5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sz="5600"/>
              </a:p>
            </p:txBody>
          </p:sp>
        </mc:Choice>
        <mc:Fallback>
          <p:sp>
            <p:nvSpPr>
              <p:cNvPr id="160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16032" y="1673047"/>
                <a:ext cx="627279" cy="480772"/>
              </a:xfrm>
              <a:prstGeom prst="rect">
                <a:avLst/>
              </a:prstGeom>
              <a:blipFill>
                <a:blip r:embed="rId6"/>
                <a:stretch>
                  <a:fillRect l="-26000" r="-28000" b="-89744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1" name="Equation"/>
              <p:cNvSpPr txBox="1"/>
              <p:nvPr/>
            </p:nvSpPr>
            <p:spPr>
              <a:xfrm>
                <a:off x="8820927" y="2083197"/>
                <a:ext cx="200516" cy="234864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</m:oMath>
                  </m:oMathPara>
                </a14:m>
                <a:endParaRPr sz="2900"/>
              </a:p>
            </p:txBody>
          </p:sp>
        </mc:Choice>
        <mc:Fallback>
          <p:sp>
            <p:nvSpPr>
              <p:cNvPr id="161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20927" y="2083197"/>
                <a:ext cx="200516" cy="234864"/>
              </a:xfrm>
              <a:prstGeom prst="rect">
                <a:avLst/>
              </a:prstGeom>
              <a:blipFill>
                <a:blip r:embed="rId7"/>
                <a:stretch>
                  <a:fillRect l="-58824" r="-70588" b="-100000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2" name="Equation"/>
              <p:cNvSpPr txBox="1"/>
              <p:nvPr/>
            </p:nvSpPr>
            <p:spPr>
              <a:xfrm>
                <a:off x="10185713" y="4853036"/>
                <a:ext cx="153399" cy="232706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</m:oMath>
                  </m:oMathPara>
                </a14:m>
                <a:endParaRPr sz="2900"/>
              </a:p>
            </p:txBody>
          </p:sp>
        </mc:Choice>
        <mc:Fallback>
          <p:sp>
            <p:nvSpPr>
              <p:cNvPr id="162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5713" y="4853036"/>
                <a:ext cx="153399" cy="232706"/>
              </a:xfrm>
              <a:prstGeom prst="rect">
                <a:avLst/>
              </a:prstGeom>
              <a:blipFill>
                <a:blip r:embed="rId8"/>
                <a:stretch>
                  <a:fillRect l="-76923" r="-115385" b="-100000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3" name="Equation"/>
              <p:cNvSpPr txBox="1"/>
              <p:nvPr/>
            </p:nvSpPr>
            <p:spPr>
              <a:xfrm>
                <a:off x="9139047" y="3423925"/>
                <a:ext cx="702157" cy="219837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sz="2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sz="2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∩</m:t>
                      </m:r>
                      <m:r>
                        <m:rPr>
                          <m:nor/>
                        </m:rPr>
                        <a:rPr sz="2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</m:oMath>
                  </m:oMathPara>
                </a14:m>
                <a:endParaRPr sz="2600"/>
              </a:p>
            </p:txBody>
          </p:sp>
        </mc:Choice>
        <mc:Fallback>
          <p:sp>
            <p:nvSpPr>
              <p:cNvPr id="163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9047" y="3423925"/>
                <a:ext cx="702157" cy="219837"/>
              </a:xfrm>
              <a:prstGeom prst="rect">
                <a:avLst/>
              </a:prstGeom>
              <a:blipFill>
                <a:blip r:embed="rId9"/>
                <a:stretch>
                  <a:fillRect l="-16071" r="-26786" b="-78947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Rectangle"/>
          <p:cNvSpPr/>
          <p:nvPr/>
        </p:nvSpPr>
        <p:spPr>
          <a:xfrm>
            <a:off x="596316" y="1302052"/>
            <a:ext cx="6307516" cy="2110620"/>
          </a:xfrm>
          <a:prstGeom prst="rect">
            <a:avLst/>
          </a:prstGeom>
          <a:solidFill>
            <a:srgbClr val="FFFFFF">
              <a:alpha val="87136"/>
            </a:srgbClr>
          </a:solidFill>
          <a:ln w="12700">
            <a:solidFill>
              <a:schemeClr val="accent1">
                <a:alpha val="87136"/>
              </a:schemeClr>
            </a:solidFill>
            <a:miter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6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769144" y="6398513"/>
            <a:ext cx="194257" cy="280799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6</a:t>
            </a:fld>
            <a:endParaRPr/>
          </a:p>
        </p:txBody>
      </p:sp>
      <p:sp>
        <p:nvSpPr>
          <p:cNvPr id="167" name="Conditional Probabilities"/>
          <p:cNvSpPr txBox="1">
            <a:spLocks noGrp="1"/>
          </p:cNvSpPr>
          <p:nvPr>
            <p:ph type="title" idx="4294967295"/>
          </p:nvPr>
        </p:nvSpPr>
        <p:spPr>
          <a:xfrm>
            <a:off x="381000" y="153283"/>
            <a:ext cx="10515600" cy="132556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C00000"/>
                </a:solidFill>
                <a:latin typeface="Carlito"/>
                <a:ea typeface="Carlito"/>
                <a:cs typeface="Carlito"/>
                <a:sym typeface="Carlito"/>
              </a:defRPr>
            </a:lvl1pPr>
          </a:lstStyle>
          <a:p>
            <a:r>
              <a:t>Conditional Probabilities</a:t>
            </a:r>
          </a:p>
        </p:txBody>
      </p:sp>
      <p:sp>
        <p:nvSpPr>
          <p:cNvPr id="168" name="Text"/>
          <p:cNvSpPr txBox="1"/>
          <p:nvPr/>
        </p:nvSpPr>
        <p:spPr>
          <a:xfrm>
            <a:off x="263544" y="4711061"/>
            <a:ext cx="127001" cy="11540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000"/>
            </a:pPr>
            <a:endParaRPr/>
          </a:p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000"/>
            </a:pPr>
            <a:endParaRPr/>
          </a:p>
        </p:txBody>
      </p:sp>
      <p:pic>
        <p:nvPicPr>
          <p:cNvPr id="169" name="Screenshot 2025-01-18 at 11.58.56.png" descr="Screenshot 2025-01-18 at 11.58.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4918" y="999181"/>
            <a:ext cx="3724965" cy="5152287"/>
          </a:xfrm>
          <a:prstGeom prst="rect">
            <a:avLst/>
          </a:prstGeom>
          <a:ln w="12700">
            <a:solidFill>
              <a:srgbClr val="A7A7A7"/>
            </a:solidFill>
            <a:miter lim="400000"/>
          </a:ln>
        </p:spPr>
      </p:pic>
      <p:sp>
        <p:nvSpPr>
          <p:cNvPr id="170" name="Rectangle"/>
          <p:cNvSpPr/>
          <p:nvPr/>
        </p:nvSpPr>
        <p:spPr>
          <a:xfrm>
            <a:off x="7682230" y="941782"/>
            <a:ext cx="4032264" cy="5466321"/>
          </a:xfrm>
          <a:prstGeom prst="rect">
            <a:avLst/>
          </a:prstGeom>
          <a:solidFill>
            <a:srgbClr val="CEF0D1"/>
          </a:solidFill>
          <a:ln w="12700">
            <a:solidFill>
              <a:srgbClr val="A7A7A7"/>
            </a:solidFill>
            <a:miter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71" name="Oval"/>
          <p:cNvSpPr/>
          <p:nvPr/>
        </p:nvSpPr>
        <p:spPr>
          <a:xfrm>
            <a:off x="7848869" y="1134741"/>
            <a:ext cx="3698985" cy="5080402"/>
          </a:xfrm>
          <a:prstGeom prst="ellipse">
            <a:avLst/>
          </a:prstGeom>
          <a:solidFill>
            <a:srgbClr val="FFFFFF"/>
          </a:solidFill>
          <a:ln w="12700">
            <a:solidFill>
              <a:schemeClr val="accent1"/>
            </a:solidFill>
            <a:miter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72" name="Oval"/>
          <p:cNvSpPr/>
          <p:nvPr/>
        </p:nvSpPr>
        <p:spPr>
          <a:xfrm>
            <a:off x="8442362" y="1757661"/>
            <a:ext cx="1628190" cy="2181956"/>
          </a:xfrm>
          <a:prstGeom prst="ellipse">
            <a:avLst/>
          </a:prstGeom>
          <a:solidFill>
            <a:srgbClr val="FFA900">
              <a:alpha val="59663"/>
            </a:srgbClr>
          </a:solidFill>
          <a:ln w="25400">
            <a:solidFill>
              <a:srgbClr val="7C4118">
                <a:alpha val="59663"/>
              </a:srgbClr>
            </a:solidFill>
            <a:miter/>
          </a:ln>
        </p:spPr>
        <p:txBody>
          <a:bodyPr lIns="45719" rIns="45719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3" name="Oval"/>
          <p:cNvSpPr/>
          <p:nvPr/>
        </p:nvSpPr>
        <p:spPr>
          <a:xfrm>
            <a:off x="8840839" y="3061424"/>
            <a:ext cx="2108956" cy="2785233"/>
          </a:xfrm>
          <a:prstGeom prst="ellipse">
            <a:avLst/>
          </a:prstGeom>
          <a:solidFill>
            <a:srgbClr val="B6FEFC">
              <a:alpha val="50987"/>
            </a:srgbClr>
          </a:solidFill>
          <a:ln w="25400">
            <a:solidFill>
              <a:schemeClr val="accent5">
                <a:satOff val="-19091"/>
                <a:lumOff val="-11921"/>
                <a:alpha val="50987"/>
              </a:schemeClr>
            </a:solidFill>
            <a:miter/>
          </a:ln>
        </p:spPr>
        <p:txBody>
          <a:bodyPr lIns="45719" rIns="45719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4" name="Equation"/>
              <p:cNvSpPr txBox="1"/>
              <p:nvPr/>
            </p:nvSpPr>
            <p:spPr>
              <a:xfrm>
                <a:off x="10216032" y="1673047"/>
                <a:ext cx="627279" cy="480772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sz="5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sz="5600"/>
              </a:p>
            </p:txBody>
          </p:sp>
        </mc:Choice>
        <mc:Fallback>
          <p:sp>
            <p:nvSpPr>
              <p:cNvPr id="174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16032" y="1673047"/>
                <a:ext cx="627279" cy="480772"/>
              </a:xfrm>
              <a:prstGeom prst="rect">
                <a:avLst/>
              </a:prstGeom>
              <a:blipFill>
                <a:blip r:embed="rId3"/>
                <a:stretch>
                  <a:fillRect l="-26000" r="-28000" b="-89744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5" name="Equation"/>
              <p:cNvSpPr txBox="1"/>
              <p:nvPr/>
            </p:nvSpPr>
            <p:spPr>
              <a:xfrm>
                <a:off x="8820927" y="2083197"/>
                <a:ext cx="200516" cy="234864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</m:oMath>
                  </m:oMathPara>
                </a14:m>
                <a:endParaRPr sz="2900"/>
              </a:p>
            </p:txBody>
          </p:sp>
        </mc:Choice>
        <mc:Fallback>
          <p:sp>
            <p:nvSpPr>
              <p:cNvPr id="175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20927" y="2083197"/>
                <a:ext cx="200516" cy="234864"/>
              </a:xfrm>
              <a:prstGeom prst="rect">
                <a:avLst/>
              </a:prstGeom>
              <a:blipFill>
                <a:blip r:embed="rId4"/>
                <a:stretch>
                  <a:fillRect l="-58824" r="-70588" b="-100000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6" name="Equation"/>
              <p:cNvSpPr txBox="1"/>
              <p:nvPr/>
            </p:nvSpPr>
            <p:spPr>
              <a:xfrm>
                <a:off x="10185713" y="4853036"/>
                <a:ext cx="153399" cy="232706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</m:oMath>
                  </m:oMathPara>
                </a14:m>
                <a:endParaRPr sz="2900"/>
              </a:p>
            </p:txBody>
          </p:sp>
        </mc:Choice>
        <mc:Fallback>
          <p:sp>
            <p:nvSpPr>
              <p:cNvPr id="176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5713" y="4853036"/>
                <a:ext cx="153399" cy="232706"/>
              </a:xfrm>
              <a:prstGeom prst="rect">
                <a:avLst/>
              </a:prstGeom>
              <a:blipFill>
                <a:blip r:embed="rId5"/>
                <a:stretch>
                  <a:fillRect l="-76923" r="-115385" b="-100000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7" name="Equation"/>
              <p:cNvSpPr txBox="1"/>
              <p:nvPr/>
            </p:nvSpPr>
            <p:spPr>
              <a:xfrm>
                <a:off x="9139047" y="3423925"/>
                <a:ext cx="702157" cy="219837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sz="2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sz="2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∩</m:t>
                      </m:r>
                      <m:r>
                        <m:rPr>
                          <m:nor/>
                        </m:rPr>
                        <a:rPr sz="2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</m:oMath>
                  </m:oMathPara>
                </a14:m>
                <a:endParaRPr sz="2600"/>
              </a:p>
            </p:txBody>
          </p:sp>
        </mc:Choice>
        <mc:Fallback>
          <p:sp>
            <p:nvSpPr>
              <p:cNvPr id="177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9047" y="3423925"/>
                <a:ext cx="702157" cy="219837"/>
              </a:xfrm>
              <a:prstGeom prst="rect">
                <a:avLst/>
              </a:prstGeom>
              <a:blipFill>
                <a:blip r:embed="rId6"/>
                <a:stretch>
                  <a:fillRect l="-16071" r="-26786" b="-78947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8" name="Equation"/>
              <p:cNvSpPr txBox="1"/>
              <p:nvPr/>
            </p:nvSpPr>
            <p:spPr>
              <a:xfrm>
                <a:off x="2246638" y="1615414"/>
                <a:ext cx="2981472" cy="850037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sz="2900"/>
              </a:p>
            </p:txBody>
          </p:sp>
        </mc:Choice>
        <mc:Fallback>
          <p:sp>
            <p:nvSpPr>
              <p:cNvPr id="178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6638" y="1615414"/>
                <a:ext cx="2981472" cy="850037"/>
              </a:xfrm>
              <a:prstGeom prst="rect">
                <a:avLst/>
              </a:prstGeom>
              <a:blipFill>
                <a:blip r:embed="rId7"/>
                <a:stretch>
                  <a:fillRect l="-4255" t="-4478" r="-8936" b="-29851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9" name="The probability of   given   (an event or condition)"/>
              <p:cNvSpPr txBox="1">
                <a:spLocks noGrp="1"/>
              </p:cNvSpPr>
              <p:nvPr>
                <p:ph type="body" sz="quarter" idx="4294967295"/>
              </p:nvPr>
            </p:nvSpPr>
            <p:spPr>
              <a:xfrm>
                <a:off x="776610" y="2736068"/>
                <a:ext cx="5946928" cy="480772"/>
              </a:xfrm>
              <a:prstGeom prst="rect">
                <a:avLst/>
              </a:prstGeom>
            </p:spPr>
            <p:txBody>
              <a:bodyPr/>
              <a:lstStyle/>
              <a:p>
                <a:pPr>
                  <a:defRPr sz="2200" i="1"/>
                </a:pPr>
                <a:r>
                  <a:t>The probability of </a:t>
                </a:r>
                <a14:m>
                  <m:oMath xmlns:m="http://schemas.openxmlformats.org/officeDocument/2006/math"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t> given </a:t>
                </a:r>
                <a14:m>
                  <m:oMath xmlns:m="http://schemas.openxmlformats.org/officeDocument/2006/math"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t> (an event or condition)</a:t>
                </a:r>
              </a:p>
            </p:txBody>
          </p:sp>
        </mc:Choice>
        <mc:Fallback>
          <p:sp>
            <p:nvSpPr>
              <p:cNvPr id="179" name="The probability of   given   (an event or condition)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4294967295"/>
              </p:nvPr>
            </p:nvSpPr>
            <p:spPr>
              <a:xfrm>
                <a:off x="776610" y="2736068"/>
                <a:ext cx="5946928" cy="480772"/>
              </a:xfrm>
              <a:prstGeom prst="rect">
                <a:avLst/>
              </a:prstGeom>
              <a:blipFill>
                <a:blip r:embed="rId8"/>
                <a:stretch>
                  <a:fillRect l="-1915" t="-12821" r="-1277" b="-10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0" name="is called the likelihood:"/>
              <p:cNvSpPr txBox="1"/>
              <p:nvPr/>
            </p:nvSpPr>
            <p:spPr>
              <a:xfrm>
                <a:off x="1621601" y="4327281"/>
                <a:ext cx="4734323" cy="437498"/>
              </a:xfrm>
              <a:prstGeom prst="rect">
                <a:avLst/>
              </a:prstGeom>
              <a:ln w="12700">
                <a:solidFill>
                  <a:schemeClr val="accent1"/>
                </a:solidFill>
                <a:miter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none" lIns="45719" rIns="45719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ts val="1000"/>
                  </a:spcBef>
                  <a:buFont typeface="Arial"/>
                  <a:defRPr sz="2200"/>
                </a:pPr>
                <a14:m>
                  <m:oMath xmlns:m="http://schemas.openxmlformats.org/officeDocument/2006/math"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t> is called the</a:t>
                </a:r>
                <a:r>
                  <a:rPr b="1" i="1"/>
                  <a:t> likelihood: </a:t>
                </a:r>
                <a14:m>
                  <m:oMath xmlns:m="http://schemas.openxmlformats.org/officeDocument/2006/math"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ℒ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b="1" i="1"/>
              </a:p>
            </p:txBody>
          </p:sp>
        </mc:Choice>
        <mc:Fallback>
          <p:sp>
            <p:nvSpPr>
              <p:cNvPr id="180" name="is called the likelihood: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1601" y="4327281"/>
                <a:ext cx="4734323" cy="437498"/>
              </a:xfrm>
              <a:prstGeom prst="rect">
                <a:avLst/>
              </a:prstGeom>
              <a:blipFill>
                <a:blip r:embed="rId9"/>
                <a:stretch>
                  <a:fillRect l="-1333" t="-13889" b="-19444"/>
                </a:stretch>
              </a:blipFill>
              <a:ln w="12700">
                <a:solidFill>
                  <a:schemeClr val="accent1"/>
                </a:solidFill>
                <a:miter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1" name="“the likelihood of obtaining the data ‘A’ given the model”"/>
          <p:cNvSpPr txBox="1"/>
          <p:nvPr/>
        </p:nvSpPr>
        <p:spPr>
          <a:xfrm>
            <a:off x="716783" y="5095390"/>
            <a:ext cx="6569359" cy="385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200"/>
            </a:pPr>
            <a:r>
              <a:t>“the</a:t>
            </a:r>
            <a:r>
              <a:rPr b="1" i="1"/>
              <a:t> likelihood </a:t>
            </a:r>
            <a:r>
              <a:t>of obtaining the data ‘A’ given the model”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2" name="when   is a model, or parameter"/>
              <p:cNvSpPr txBox="1"/>
              <p:nvPr/>
            </p:nvSpPr>
            <p:spPr>
              <a:xfrm>
                <a:off x="690456" y="3793670"/>
                <a:ext cx="3796988" cy="406200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none" lIns="45719" rIns="45719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ts val="1000"/>
                  </a:spcBef>
                  <a:buFont typeface="Arial"/>
                  <a:defRPr sz="2200"/>
                </a:pPr>
                <a:r>
                  <a:t>when </a:t>
                </a:r>
                <a14:m>
                  <m:oMath xmlns:m="http://schemas.openxmlformats.org/officeDocument/2006/math"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t> is a model, or parameter</a:t>
                </a:r>
              </a:p>
            </p:txBody>
          </p:sp>
        </mc:Choice>
        <mc:Fallback>
          <p:sp>
            <p:nvSpPr>
              <p:cNvPr id="182" name="when   is a model, or parameter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456" y="3793670"/>
                <a:ext cx="3796988" cy="406200"/>
              </a:xfrm>
              <a:prstGeom prst="rect">
                <a:avLst/>
              </a:prstGeom>
              <a:blipFill>
                <a:blip r:embed="rId10"/>
                <a:stretch>
                  <a:fillRect l="-3333" t="-15152" r="-4000" b="-30303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3" name="Plenty more on this with Bayesian statistics next week"/>
          <p:cNvSpPr txBox="1"/>
          <p:nvPr/>
        </p:nvSpPr>
        <p:spPr>
          <a:xfrm>
            <a:off x="923071" y="5805028"/>
            <a:ext cx="6182183" cy="385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200" i="1">
                <a:solidFill>
                  <a:schemeClr val="accent6"/>
                </a:solidFill>
              </a:defRPr>
            </a:lvl1pPr>
          </a:lstStyle>
          <a:p>
            <a:r>
              <a:t>Plenty more on this with Bayesian statistics next week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769144" y="6398513"/>
            <a:ext cx="194257" cy="280799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7</a:t>
            </a:fld>
            <a:endParaRPr/>
          </a:p>
        </p:txBody>
      </p:sp>
      <p:sp>
        <p:nvSpPr>
          <p:cNvPr id="186" name="Hypothesis testing"/>
          <p:cNvSpPr txBox="1">
            <a:spLocks noGrp="1"/>
          </p:cNvSpPr>
          <p:nvPr>
            <p:ph type="title" idx="4294967295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C00000"/>
                </a:solidFill>
                <a:latin typeface="Carlito"/>
                <a:ea typeface="Carlito"/>
                <a:cs typeface="Carlito"/>
                <a:sym typeface="Carlito"/>
              </a:defRPr>
            </a:lvl1pPr>
          </a:lstStyle>
          <a:p>
            <a:r>
              <a:t>Hypothesis testing</a:t>
            </a:r>
          </a:p>
        </p:txBody>
      </p:sp>
      <p:sp>
        <p:nvSpPr>
          <p:cNvPr id="187" name="How good is the model?"/>
          <p:cNvSpPr txBox="1"/>
          <p:nvPr/>
        </p:nvSpPr>
        <p:spPr>
          <a:xfrm>
            <a:off x="880510" y="1350506"/>
            <a:ext cx="2600980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defRPr sz="2000">
                <a:solidFill>
                  <a:schemeClr val="accent1">
                    <a:satOff val="-3547"/>
                    <a:lumOff val="-10352"/>
                  </a:schemeClr>
                </a:solidFill>
                <a:latin typeface="Carlito"/>
                <a:ea typeface="Carlito"/>
                <a:cs typeface="Carlito"/>
                <a:sym typeface="Carlito"/>
              </a:defRPr>
            </a:lvl1pPr>
          </a:lstStyle>
          <a:p>
            <a:r>
              <a:t>How good is the model?</a:t>
            </a:r>
          </a:p>
        </p:txBody>
      </p:sp>
      <p:sp>
        <p:nvSpPr>
          <p:cNvPr id="188" name="Fundamental question:  Is the model that we are testing a good fit to our measured data?"/>
          <p:cNvSpPr txBox="1">
            <a:spLocks noGrp="1"/>
          </p:cNvSpPr>
          <p:nvPr>
            <p:ph type="body" sz="quarter" idx="4294967295"/>
          </p:nvPr>
        </p:nvSpPr>
        <p:spPr>
          <a:xfrm>
            <a:off x="838200" y="1876425"/>
            <a:ext cx="10515600" cy="485048"/>
          </a:xfrm>
          <a:prstGeom prst="rect">
            <a:avLst/>
          </a:prstGeom>
        </p:spPr>
        <p:txBody>
          <a:bodyPr/>
          <a:lstStyle/>
          <a:p>
            <a:pPr>
              <a:defRPr sz="2200"/>
            </a:pPr>
            <a:r>
              <a:rPr b="1"/>
              <a:t>Fundamental question: </a:t>
            </a:r>
            <a:r>
              <a:t> Is the model that we are testing a good fit to our measured data?</a:t>
            </a:r>
          </a:p>
        </p:txBody>
      </p:sp>
      <p:sp>
        <p:nvSpPr>
          <p:cNvPr id="189" name="Text"/>
          <p:cNvSpPr txBox="1"/>
          <p:nvPr/>
        </p:nvSpPr>
        <p:spPr>
          <a:xfrm>
            <a:off x="263544" y="4711061"/>
            <a:ext cx="127001" cy="11540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000"/>
            </a:pPr>
            <a:endParaRPr/>
          </a:p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000"/>
            </a:pPr>
            <a:endParaRPr/>
          </a:p>
        </p:txBody>
      </p:sp>
      <p:sp>
        <p:nvSpPr>
          <p:cNvPr id="190" name="Null Hypothesis:"/>
          <p:cNvSpPr txBox="1"/>
          <p:nvPr/>
        </p:nvSpPr>
        <p:spPr>
          <a:xfrm>
            <a:off x="858367" y="2835076"/>
            <a:ext cx="2003324" cy="385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200" b="1"/>
            </a:lvl1pPr>
          </a:lstStyle>
          <a:p>
            <a:pPr>
              <a:defRPr b="0"/>
            </a:pPr>
            <a:r>
              <a:rPr b="1"/>
              <a:t>Null Hypothesis:</a:t>
            </a:r>
          </a:p>
        </p:txBody>
      </p:sp>
      <p:sp>
        <p:nvSpPr>
          <p:cNvPr id="191" name="Is there a more likely alternative?"/>
          <p:cNvSpPr txBox="1"/>
          <p:nvPr/>
        </p:nvSpPr>
        <p:spPr>
          <a:xfrm>
            <a:off x="3653537" y="2272061"/>
            <a:ext cx="3877405" cy="385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200"/>
            </a:lvl1pPr>
          </a:lstStyle>
          <a:p>
            <a:r>
              <a:t>Is there a more likely alternative?</a:t>
            </a:r>
          </a:p>
        </p:txBody>
      </p:sp>
      <p:sp>
        <p:nvSpPr>
          <p:cNvPr id="192" name="Our starting assumption"/>
          <p:cNvSpPr txBox="1"/>
          <p:nvPr/>
        </p:nvSpPr>
        <p:spPr>
          <a:xfrm>
            <a:off x="3641724" y="2835076"/>
            <a:ext cx="2843025" cy="385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200"/>
            </a:lvl1pPr>
          </a:lstStyle>
          <a:p>
            <a:r>
              <a:t>Our starting assumption</a:t>
            </a:r>
          </a:p>
        </p:txBody>
      </p:sp>
      <p:sp>
        <p:nvSpPr>
          <p:cNvPr id="193" name="Can be either parameter values or choice of model"/>
          <p:cNvSpPr txBox="1"/>
          <p:nvPr/>
        </p:nvSpPr>
        <p:spPr>
          <a:xfrm>
            <a:off x="3641724" y="3236312"/>
            <a:ext cx="5845210" cy="385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200"/>
            </a:lvl1pPr>
          </a:lstStyle>
          <a:p>
            <a:r>
              <a:t>Can be either parameter values or choice of model</a:t>
            </a:r>
          </a:p>
        </p:txBody>
      </p:sp>
      <p:sp>
        <p:nvSpPr>
          <p:cNvPr id="194" name="In practice:"/>
          <p:cNvSpPr txBox="1"/>
          <p:nvPr/>
        </p:nvSpPr>
        <p:spPr>
          <a:xfrm>
            <a:off x="858367" y="3862845"/>
            <a:ext cx="1389818" cy="385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200" b="1"/>
            </a:lvl1pPr>
          </a:lstStyle>
          <a:p>
            <a:pPr>
              <a:defRPr b="0"/>
            </a:pPr>
            <a:r>
              <a:rPr b="1"/>
              <a:t>In practice:</a:t>
            </a:r>
          </a:p>
        </p:txBody>
      </p:sp>
      <p:sp>
        <p:nvSpPr>
          <p:cNvPr id="195" name="Compares our assumption (or prediction) with experimental  measurements e.g. does the luminosity distribution of galaxies match a Schechter function?"/>
          <p:cNvSpPr txBox="1"/>
          <p:nvPr/>
        </p:nvSpPr>
        <p:spPr>
          <a:xfrm>
            <a:off x="3667020" y="3976462"/>
            <a:ext cx="7489042" cy="11799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000"/>
            </a:pPr>
            <a:r>
              <a:t>Compares our assumption (or prediction) with experimental  measurements</a:t>
            </a:r>
            <a:br/>
            <a:r>
              <a:t>e.g. does the luminosity distribution of galaxies match a Schechter function? </a:t>
            </a:r>
          </a:p>
        </p:txBody>
      </p:sp>
      <p:sp>
        <p:nvSpPr>
          <p:cNvPr id="196" name="Make a statement on the probability of obtaining our result  (see confidence level slides)."/>
          <p:cNvSpPr txBox="1"/>
          <p:nvPr/>
        </p:nvSpPr>
        <p:spPr>
          <a:xfrm>
            <a:off x="3674251" y="5511196"/>
            <a:ext cx="6280260" cy="620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000"/>
            </a:pPr>
            <a:r>
              <a:t>Make a statement on the probability of obtaining our result </a:t>
            </a:r>
            <a:br/>
            <a:r>
              <a:t>(see confidence level slides).</a:t>
            </a:r>
          </a:p>
        </p:txBody>
      </p:sp>
      <p:sp>
        <p:nvSpPr>
          <p:cNvPr id="197" name="Outcome:"/>
          <p:cNvSpPr txBox="1"/>
          <p:nvPr/>
        </p:nvSpPr>
        <p:spPr>
          <a:xfrm>
            <a:off x="858367" y="5437645"/>
            <a:ext cx="1246980" cy="385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200" b="1"/>
            </a:lvl1pPr>
          </a:lstStyle>
          <a:p>
            <a:pPr>
              <a:defRPr b="0"/>
            </a:pPr>
            <a:r>
              <a:rPr b="1"/>
              <a:t>Outcome: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Rectangle"/>
          <p:cNvSpPr/>
          <p:nvPr/>
        </p:nvSpPr>
        <p:spPr>
          <a:xfrm>
            <a:off x="6366103" y="2047648"/>
            <a:ext cx="5348391" cy="4360455"/>
          </a:xfrm>
          <a:prstGeom prst="rect">
            <a:avLst/>
          </a:prstGeom>
          <a:solidFill>
            <a:srgbClr val="B6FEFC"/>
          </a:solidFill>
          <a:ln w="12700">
            <a:solidFill>
              <a:srgbClr val="A7A7A7"/>
            </a:solidFill>
            <a:miter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200" name="Rectangle"/>
          <p:cNvSpPr/>
          <p:nvPr/>
        </p:nvSpPr>
        <p:spPr>
          <a:xfrm>
            <a:off x="571963" y="2108198"/>
            <a:ext cx="5280314" cy="2105348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1"/>
            </a:solidFill>
            <a:miter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20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769144" y="6398513"/>
            <a:ext cx="194257" cy="280799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8</a:t>
            </a:fld>
            <a:endParaRPr/>
          </a:p>
        </p:txBody>
      </p:sp>
      <p:sp>
        <p:nvSpPr>
          <p:cNvPr id="202" name="Null Hypothesis testing"/>
          <p:cNvSpPr txBox="1">
            <a:spLocks noGrp="1"/>
          </p:cNvSpPr>
          <p:nvPr>
            <p:ph type="title" idx="4294967295"/>
          </p:nvPr>
        </p:nvSpPr>
        <p:spPr>
          <a:xfrm>
            <a:off x="554535" y="398497"/>
            <a:ext cx="10515601" cy="1325564"/>
          </a:xfrm>
          <a:prstGeom prst="rect">
            <a:avLst/>
          </a:prstGeom>
        </p:spPr>
        <p:txBody>
          <a:bodyPr/>
          <a:lstStyle/>
          <a:p>
            <a:pPr>
              <a:defRPr>
                <a:solidFill>
                  <a:srgbClr val="C00000"/>
                </a:solidFill>
                <a:latin typeface="Carlito"/>
                <a:ea typeface="Carlito"/>
                <a:cs typeface="Carlito"/>
                <a:sym typeface="Carlito"/>
              </a:defRPr>
            </a:pPr>
            <a:r>
              <a:rPr i="1">
                <a:latin typeface="Calibri Light"/>
                <a:ea typeface="Calibri Light"/>
                <a:cs typeface="Calibri Light"/>
                <a:sym typeface="Calibri Light"/>
              </a:rPr>
              <a:t>Null</a:t>
            </a:r>
            <a:r>
              <a:t> Hypothesis testing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3" name="e.g. Given a model  , with parameter  , is the value of   in a set of possible values  ?"/>
              <p:cNvSpPr txBox="1">
                <a:spLocks noGrp="1"/>
              </p:cNvSpPr>
              <p:nvPr>
                <p:ph type="body" sz="quarter" idx="4294967295"/>
              </p:nvPr>
            </p:nvSpPr>
            <p:spPr>
              <a:xfrm>
                <a:off x="554535" y="1442585"/>
                <a:ext cx="10515601" cy="485049"/>
              </a:xfrm>
              <a:prstGeom prst="rect">
                <a:avLst/>
              </a:prstGeom>
            </p:spPr>
            <p:txBody>
              <a:bodyPr/>
              <a:lstStyle/>
              <a:p>
                <a:pPr>
                  <a:defRPr sz="2200"/>
                </a:pPr>
                <a:r>
                  <a:t>e.g. Given a model </a:t>
                </a:r>
                <a14:m>
                  <m:oMath xmlns:m="http://schemas.openxmlformats.org/officeDocument/2006/math"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t>, with parameter </a:t>
                </a:r>
                <a14:m>
                  <m:oMath xmlns:m="http://schemas.openxmlformats.org/officeDocument/2006/math"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t>, is the value of </a:t>
                </a:r>
                <a14:m>
                  <m:oMath xmlns:m="http://schemas.openxmlformats.org/officeDocument/2006/math"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t> in a set of possible values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235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t>?</a:t>
                </a:r>
              </a:p>
            </p:txBody>
          </p:sp>
        </mc:Choice>
        <mc:Fallback>
          <p:sp>
            <p:nvSpPr>
              <p:cNvPr id="203" name="e.g. Given a model  , with parameter  , is the value of   in a set of possible values  ?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4294967295"/>
              </p:nvPr>
            </p:nvSpPr>
            <p:spPr>
              <a:xfrm>
                <a:off x="554535" y="1442585"/>
                <a:ext cx="10515601" cy="485049"/>
              </a:xfrm>
              <a:prstGeom prst="rect">
                <a:avLst/>
              </a:prstGeom>
              <a:blipFill>
                <a:blip r:embed="rId2"/>
                <a:stretch>
                  <a:fillRect l="-1086" t="-12821" r="-362" b="-10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4" name=":  The Null Hypothesis:…"/>
              <p:cNvSpPr txBox="1"/>
              <p:nvPr/>
            </p:nvSpPr>
            <p:spPr>
              <a:xfrm>
                <a:off x="863435" y="2186660"/>
                <a:ext cx="4697369" cy="1442662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none" lIns="45719" rIns="45719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ts val="1000"/>
                  </a:spcBef>
                  <a:defRPr sz="2200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sz="235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t>  :  </a:t>
                </a:r>
                <a:r>
                  <a:rPr b="1"/>
                  <a:t>The Null Hypothesis:</a:t>
                </a:r>
                <a:r>
                  <a:t> </a:t>
                </a:r>
                <a14:m>
                  <m:oMath xmlns:m="http://schemas.openxmlformats.org/officeDocument/2006/math"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t> </a:t>
                </a:r>
              </a:p>
              <a:p>
                <a:pPr>
                  <a:lnSpc>
                    <a:spcPct val="90000"/>
                  </a:lnSpc>
                  <a:spcBef>
                    <a:spcPts val="1000"/>
                  </a:spcBef>
                  <a:defRPr sz="2200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sz="235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t>  :  An Alternative Hypothesis: </a:t>
                </a:r>
              </a:p>
              <a:p>
                <a:pPr marL="1394460" lvl="2" indent="-228600">
                  <a:lnSpc>
                    <a:spcPct val="90000"/>
                  </a:lnSpc>
                  <a:spcBef>
                    <a:spcPts val="1000"/>
                  </a:spcBef>
                  <a:buSzPct val="100000"/>
                  <a:buFont typeface="Arial"/>
                  <a:buChar char="•"/>
                  <a:defRPr sz="2200"/>
                </a:pPr>
                <a14:m>
                  <m:oMath xmlns:m="http://schemas.openxmlformats.org/officeDocument/2006/math"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t> 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235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∩</m:t>
                    </m:r>
                    <m:sSub>
                      <m:sSubPr>
                        <m:ctrlP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/>
              </a:p>
            </p:txBody>
          </p:sp>
        </mc:Choice>
        <mc:Fallback>
          <p:sp>
            <p:nvSpPr>
              <p:cNvPr id="204" name=":  The Null Hypothesis:…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435" y="2186660"/>
                <a:ext cx="4697369" cy="1442662"/>
              </a:xfrm>
              <a:prstGeom prst="rect">
                <a:avLst/>
              </a:prstGeom>
              <a:blipFill>
                <a:blip r:embed="rId3"/>
                <a:stretch>
                  <a:fillRect l="-1351" t="-4386" r="-2162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5" name="With new observations  , such that"/>
              <p:cNvSpPr txBox="1"/>
              <p:nvPr/>
            </p:nvSpPr>
            <p:spPr>
              <a:xfrm>
                <a:off x="554775" y="4247391"/>
                <a:ext cx="4322770" cy="382751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45719" rIns="45719">
                <a:normAutofit/>
              </a:bodyPr>
              <a:lstStyle/>
              <a:p>
                <a:pPr>
                  <a:lnSpc>
                    <a:spcPct val="90000"/>
                  </a:lnSpc>
                  <a:spcBef>
                    <a:spcPts val="1000"/>
                  </a:spcBef>
                  <a:buFont typeface="Arial"/>
                </a:pPr>
                <a:r>
                  <a:t>With new observations </a:t>
                </a:r>
                <a14:m>
                  <m:oMath xmlns:m="http://schemas.openxmlformats.org/officeDocument/2006/math"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t>, such that </a:t>
                </a:r>
                <a14:m>
                  <m:oMath xmlns:m="http://schemas.openxmlformats.org/officeDocument/2006/math"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/>
              </a:p>
            </p:txBody>
          </p:sp>
        </mc:Choice>
        <mc:Fallback>
          <p:sp>
            <p:nvSpPr>
              <p:cNvPr id="205" name="With new observations  , such tha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775" y="4247391"/>
                <a:ext cx="4322770" cy="382751"/>
              </a:xfrm>
              <a:prstGeom prst="rect">
                <a:avLst/>
              </a:prstGeom>
              <a:blipFill>
                <a:blip r:embed="rId4"/>
                <a:stretch>
                  <a:fillRect l="-2053" t="-9677" b="-19355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6" name="Rectangle"/>
          <p:cNvSpPr/>
          <p:nvPr/>
        </p:nvSpPr>
        <p:spPr>
          <a:xfrm>
            <a:off x="571963" y="4701716"/>
            <a:ext cx="5280314" cy="191898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1"/>
            </a:solidFill>
            <a:miter/>
          </a:ln>
        </p:spPr>
        <p:txBody>
          <a:bodyPr lIns="45719" rIns="45719" anchor="ctr"/>
          <a:lstStyle/>
          <a:p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7" name="reject   and accept"/>
              <p:cNvSpPr txBox="1"/>
              <p:nvPr/>
            </p:nvSpPr>
            <p:spPr>
              <a:xfrm>
                <a:off x="2445395" y="4801361"/>
                <a:ext cx="2880848" cy="485049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45719" rIns="45719">
                <a:normAutofit/>
              </a:bodyPr>
              <a:lstStyle/>
              <a:p>
                <a:pPr>
                  <a:lnSpc>
                    <a:spcPct val="90000"/>
                  </a:lnSpc>
                  <a:spcBef>
                    <a:spcPts val="1000"/>
                  </a:spcBef>
                  <a:buFont typeface="Arial"/>
                  <a:defRPr sz="2200"/>
                </a:pPr>
                <a:r>
                  <a:t>reject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235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t> and accept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235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/>
              </a:p>
            </p:txBody>
          </p:sp>
        </mc:Choice>
        <mc:Fallback>
          <p:sp>
            <p:nvSpPr>
              <p:cNvPr id="207" name="reject   and accep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5395" y="4801361"/>
                <a:ext cx="2880848" cy="485049"/>
              </a:xfrm>
              <a:prstGeom prst="rect">
                <a:avLst/>
              </a:prstGeom>
              <a:blipFill>
                <a:blip r:embed="rId5"/>
                <a:stretch>
                  <a:fillRect l="-4386" t="-15385" b="-10256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8" name="Equation"/>
              <p:cNvSpPr txBox="1"/>
              <p:nvPr/>
            </p:nvSpPr>
            <p:spPr>
              <a:xfrm>
                <a:off x="883787" y="4890261"/>
                <a:ext cx="1049816" cy="246153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sz="2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2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sz="2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)&lt;</m:t>
                      </m:r>
                      <m:r>
                        <a:rPr sz="2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sz="2200"/>
              </a:p>
            </p:txBody>
          </p:sp>
        </mc:Choice>
        <mc:Fallback>
          <p:sp>
            <p:nvSpPr>
              <p:cNvPr id="208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787" y="4890261"/>
                <a:ext cx="1049816" cy="246153"/>
              </a:xfrm>
              <a:prstGeom prst="rect">
                <a:avLst/>
              </a:prstGeom>
              <a:blipFill>
                <a:blip r:embed="rId6"/>
                <a:stretch>
                  <a:fillRect l="-9524" r="-11905" b="-80952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9" name="Equation"/>
              <p:cNvSpPr txBox="1"/>
              <p:nvPr/>
            </p:nvSpPr>
            <p:spPr>
              <a:xfrm>
                <a:off x="876164" y="5867876"/>
                <a:ext cx="1049816" cy="246152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sz="2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2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sz="2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)&gt;</m:t>
                      </m:r>
                      <m:r>
                        <a:rPr sz="2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sz="2200"/>
              </a:p>
            </p:txBody>
          </p:sp>
        </mc:Choice>
        <mc:Fallback>
          <p:sp>
            <p:nvSpPr>
              <p:cNvPr id="209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6164" y="5867876"/>
                <a:ext cx="1049816" cy="246152"/>
              </a:xfrm>
              <a:prstGeom prst="rect">
                <a:avLst/>
              </a:prstGeom>
              <a:blipFill>
                <a:blip r:embed="rId7"/>
                <a:stretch>
                  <a:fillRect l="-9639" t="-5000" r="-12048" b="-85000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0" name="no evidence to reject"/>
              <p:cNvSpPr txBox="1"/>
              <p:nvPr/>
            </p:nvSpPr>
            <p:spPr>
              <a:xfrm>
                <a:off x="2437772" y="5754585"/>
                <a:ext cx="3038519" cy="485049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45719" rIns="45719">
                <a:normAutofit/>
              </a:bodyPr>
              <a:lstStyle/>
              <a:p>
                <a:pPr>
                  <a:lnSpc>
                    <a:spcPct val="90000"/>
                  </a:lnSpc>
                  <a:spcBef>
                    <a:spcPts val="1000"/>
                  </a:spcBef>
                  <a:buFont typeface="Arial"/>
                  <a:defRPr sz="2200"/>
                </a:pPr>
                <a:r>
                  <a:t>no evidence to reject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235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/>
              </a:p>
            </p:txBody>
          </p:sp>
        </mc:Choice>
        <mc:Fallback>
          <p:sp>
            <p:nvSpPr>
              <p:cNvPr id="210" name="no evidence to rejec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7772" y="5754585"/>
                <a:ext cx="3038519" cy="485049"/>
              </a:xfrm>
              <a:prstGeom prst="rect">
                <a:avLst/>
              </a:prstGeom>
              <a:blipFill>
                <a:blip r:embed="rId8"/>
                <a:stretch>
                  <a:fillRect l="-4167" t="-15385" b="-7692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1" name=":  threshold of rejection (e.g. 0.05)"/>
              <p:cNvSpPr txBox="1"/>
              <p:nvPr/>
            </p:nvSpPr>
            <p:spPr>
              <a:xfrm>
                <a:off x="863435" y="3692035"/>
                <a:ext cx="4322771" cy="394574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none" lIns="45719" rIns="45719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ts val="1000"/>
                  </a:spcBef>
                  <a:defRPr sz="2200"/>
                </a:pPr>
                <a14:m>
                  <m:oMath xmlns:m="http://schemas.openxmlformats.org/officeDocument/2006/math"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t>  :  threshold of rejection (e.g. 0.05) </a:t>
                </a:r>
              </a:p>
            </p:txBody>
          </p:sp>
        </mc:Choice>
        <mc:Fallback>
          <p:sp>
            <p:nvSpPr>
              <p:cNvPr id="211" name=":  threshold of rejection (e.g. 0.05)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435" y="3692035"/>
                <a:ext cx="4322771" cy="394574"/>
              </a:xfrm>
              <a:prstGeom prst="rect">
                <a:avLst/>
              </a:prstGeom>
              <a:blipFill>
                <a:blip r:embed="rId9"/>
                <a:stretch>
                  <a:fillRect l="-880" t="-15625" r="-2933" b="-34375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2" name="Rectangle"/>
          <p:cNvSpPr/>
          <p:nvPr/>
        </p:nvSpPr>
        <p:spPr>
          <a:xfrm>
            <a:off x="7663926" y="2211506"/>
            <a:ext cx="3917491" cy="4070839"/>
          </a:xfrm>
          <a:prstGeom prst="rect">
            <a:avLst/>
          </a:prstGeom>
          <a:solidFill>
            <a:srgbClr val="F0F0F0"/>
          </a:solidFill>
          <a:ln w="12700">
            <a:solidFill>
              <a:schemeClr val="accent2"/>
            </a:solidFill>
            <a:miter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213" name="Rectangle"/>
          <p:cNvSpPr/>
          <p:nvPr/>
        </p:nvSpPr>
        <p:spPr>
          <a:xfrm rot="16200000">
            <a:off x="7567104" y="2270962"/>
            <a:ext cx="2959088" cy="5082274"/>
          </a:xfrm>
          <a:prstGeom prst="rect">
            <a:avLst/>
          </a:prstGeom>
          <a:solidFill>
            <a:srgbClr val="F0F0F0"/>
          </a:solidFill>
          <a:ln w="12700">
            <a:solidFill>
              <a:schemeClr val="accent2"/>
            </a:solidFill>
            <a:miter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214" name="Rectangle"/>
          <p:cNvSpPr/>
          <p:nvPr/>
        </p:nvSpPr>
        <p:spPr>
          <a:xfrm>
            <a:off x="9628561" y="3349641"/>
            <a:ext cx="1955206" cy="1476578"/>
          </a:xfrm>
          <a:prstGeom prst="rect">
            <a:avLst/>
          </a:prstGeom>
          <a:solidFill>
            <a:schemeClr val="accent2">
              <a:lumOff val="21960"/>
              <a:alpha val="79973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215" name="Truth"/>
          <p:cNvSpPr txBox="1"/>
          <p:nvPr/>
        </p:nvSpPr>
        <p:spPr>
          <a:xfrm rot="16200000">
            <a:off x="6424187" y="4693222"/>
            <a:ext cx="667828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defRPr sz="2000" b="1"/>
            </a:lvl1pPr>
          </a:lstStyle>
          <a:p>
            <a:r>
              <a:t>Truth</a:t>
            </a:r>
          </a:p>
        </p:txBody>
      </p:sp>
      <p:sp>
        <p:nvSpPr>
          <p:cNvPr id="216" name="Outcome"/>
          <p:cNvSpPr txBox="1"/>
          <p:nvPr/>
        </p:nvSpPr>
        <p:spPr>
          <a:xfrm>
            <a:off x="9220716" y="2296947"/>
            <a:ext cx="1073012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defRPr sz="2000" b="1"/>
            </a:lvl1pPr>
          </a:lstStyle>
          <a:p>
            <a:r>
              <a:t>Outcome</a:t>
            </a:r>
          </a:p>
        </p:txBody>
      </p:sp>
      <p:sp>
        <p:nvSpPr>
          <p:cNvPr id="217" name="Line"/>
          <p:cNvSpPr/>
          <p:nvPr/>
        </p:nvSpPr>
        <p:spPr>
          <a:xfrm>
            <a:off x="7660278" y="2698441"/>
            <a:ext cx="3919173" cy="1"/>
          </a:xfrm>
          <a:prstGeom prst="line">
            <a:avLst/>
          </a:prstGeom>
          <a:ln w="12700">
            <a:solidFill>
              <a:schemeClr val="accent2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18" name="Line"/>
          <p:cNvSpPr/>
          <p:nvPr/>
        </p:nvSpPr>
        <p:spPr>
          <a:xfrm flipV="1">
            <a:off x="7022697" y="3338770"/>
            <a:ext cx="1" cy="2953973"/>
          </a:xfrm>
          <a:prstGeom prst="line">
            <a:avLst/>
          </a:prstGeom>
          <a:ln w="12700">
            <a:solidFill>
              <a:schemeClr val="accent2">
                <a:lumOff val="10980"/>
              </a:schemeClr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19" name="Line"/>
          <p:cNvSpPr/>
          <p:nvPr/>
        </p:nvSpPr>
        <p:spPr>
          <a:xfrm flipV="1">
            <a:off x="7658311" y="3338770"/>
            <a:ext cx="1" cy="2953973"/>
          </a:xfrm>
          <a:prstGeom prst="line">
            <a:avLst/>
          </a:prstGeom>
          <a:ln w="12700">
            <a:solidFill>
              <a:schemeClr val="accent2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20" name="Line"/>
          <p:cNvSpPr/>
          <p:nvPr/>
        </p:nvSpPr>
        <p:spPr>
          <a:xfrm flipV="1">
            <a:off x="9622468" y="2688832"/>
            <a:ext cx="1" cy="3601673"/>
          </a:xfrm>
          <a:prstGeom prst="line">
            <a:avLst/>
          </a:prstGeom>
          <a:ln w="12700">
            <a:solidFill>
              <a:schemeClr val="accent2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21" name="Line"/>
          <p:cNvSpPr/>
          <p:nvPr/>
        </p:nvSpPr>
        <p:spPr>
          <a:xfrm>
            <a:off x="6996330" y="4826218"/>
            <a:ext cx="4576770" cy="1"/>
          </a:xfrm>
          <a:prstGeom prst="line">
            <a:avLst/>
          </a:prstGeom>
          <a:ln w="12700">
            <a:solidFill>
              <a:schemeClr val="accent2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2" name="is true"/>
              <p:cNvSpPr txBox="1"/>
              <p:nvPr/>
            </p:nvSpPr>
            <p:spPr>
              <a:xfrm rot="16200000">
                <a:off x="6797615" y="5394565"/>
                <a:ext cx="997889" cy="370140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none" lIns="45719" rIns="45719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sz="195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t> is true</a:t>
                </a:r>
              </a:p>
            </p:txBody>
          </p:sp>
        </mc:Choice>
        <mc:Fallback>
          <p:sp>
            <p:nvSpPr>
              <p:cNvPr id="222" name="is true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6797615" y="5394565"/>
                <a:ext cx="997889" cy="370140"/>
              </a:xfrm>
              <a:prstGeom prst="rect">
                <a:avLst/>
              </a:prstGeom>
              <a:blipFill>
                <a:blip r:embed="rId10"/>
                <a:stretch>
                  <a:fillRect l="-6897" t="-8750" r="-31034" b="-3750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3" name="is true"/>
              <p:cNvSpPr txBox="1"/>
              <p:nvPr/>
            </p:nvSpPr>
            <p:spPr>
              <a:xfrm rot="16200000">
                <a:off x="6811043" y="3981571"/>
                <a:ext cx="997889" cy="372604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none" lIns="45719" rIns="45719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sz="195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t> is true</a:t>
                </a:r>
              </a:p>
            </p:txBody>
          </p:sp>
        </mc:Choice>
        <mc:Fallback>
          <p:sp>
            <p:nvSpPr>
              <p:cNvPr id="223" name="is true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6811043" y="3981571"/>
                <a:ext cx="997889" cy="372604"/>
              </a:xfrm>
              <a:prstGeom prst="rect">
                <a:avLst/>
              </a:prstGeom>
              <a:blipFill>
                <a:blip r:embed="rId11"/>
                <a:stretch>
                  <a:fillRect l="-6667" t="-10000" r="-26667" b="-3750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4" name="not rejected"/>
              <p:cNvSpPr txBox="1"/>
              <p:nvPr/>
            </p:nvSpPr>
            <p:spPr>
              <a:xfrm>
                <a:off x="7852607" y="2894604"/>
                <a:ext cx="1546619" cy="372605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none" lIns="45719" rIns="45719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sz="195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t> not rejected</a:t>
                </a:r>
              </a:p>
            </p:txBody>
          </p:sp>
        </mc:Choice>
        <mc:Fallback>
          <p:sp>
            <p:nvSpPr>
              <p:cNvPr id="224" name="not rejected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2607" y="2894604"/>
                <a:ext cx="1546619" cy="372605"/>
              </a:xfrm>
              <a:prstGeom prst="rect">
                <a:avLst/>
              </a:prstGeom>
              <a:blipFill>
                <a:blip r:embed="rId12"/>
                <a:stretch>
                  <a:fillRect l="-2439" t="-6667" r="-7317" b="-26667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5" name="rejected"/>
              <p:cNvSpPr txBox="1"/>
              <p:nvPr/>
            </p:nvSpPr>
            <p:spPr>
              <a:xfrm>
                <a:off x="10066579" y="2872970"/>
                <a:ext cx="1177711" cy="372605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none" lIns="45719" rIns="45719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sz="195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t> rejected</a:t>
                </a:r>
              </a:p>
            </p:txBody>
          </p:sp>
        </mc:Choice>
        <mc:Fallback>
          <p:sp>
            <p:nvSpPr>
              <p:cNvPr id="225" name="rejected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66579" y="2872970"/>
                <a:ext cx="1177711" cy="372605"/>
              </a:xfrm>
              <a:prstGeom prst="rect">
                <a:avLst/>
              </a:prstGeom>
              <a:blipFill>
                <a:blip r:embed="rId13"/>
                <a:stretch>
                  <a:fillRect l="-3191" t="-3333" r="-9574" b="-26667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6" name="Rectangle"/>
          <p:cNvSpPr/>
          <p:nvPr/>
        </p:nvSpPr>
        <p:spPr>
          <a:xfrm>
            <a:off x="7658311" y="3335521"/>
            <a:ext cx="1955207" cy="1476578"/>
          </a:xfrm>
          <a:prstGeom prst="rect">
            <a:avLst/>
          </a:prstGeom>
          <a:solidFill>
            <a:schemeClr val="accent6">
              <a:satOff val="-3457"/>
              <a:lumOff val="26078"/>
              <a:alpha val="79973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7" name="Type   error"/>
              <p:cNvSpPr txBox="1"/>
              <p:nvPr/>
            </p:nvSpPr>
            <p:spPr>
              <a:xfrm>
                <a:off x="9990379" y="3544915"/>
                <a:ext cx="1198130" cy="345002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none" lIns="45719" rIns="45719">
                <a:spAutoFit/>
              </a:bodyPr>
              <a:lstStyle/>
              <a:p>
                <a:pPr>
                  <a:defRPr>
                    <a:solidFill>
                      <a:srgbClr val="C00000"/>
                    </a:solidFill>
                  </a:defRPr>
                </a:pPr>
                <a:r>
                  <a:t>Type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sz="19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I</m:t>
                    </m:r>
                  </m:oMath>
                </a14:m>
                <a:r>
                  <a:t> error</a:t>
                </a:r>
              </a:p>
            </p:txBody>
          </p:sp>
        </mc:Choice>
        <mc:Fallback>
          <p:sp>
            <p:nvSpPr>
              <p:cNvPr id="227" name="Type   error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0379" y="3544915"/>
                <a:ext cx="1198130" cy="345002"/>
              </a:xfrm>
              <a:prstGeom prst="rect">
                <a:avLst/>
              </a:prstGeom>
              <a:blipFill>
                <a:blip r:embed="rId14"/>
                <a:stretch>
                  <a:fillRect l="-7368" t="-7143" r="-8421" b="-35714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8" name="Rectangle"/>
          <p:cNvSpPr/>
          <p:nvPr/>
        </p:nvSpPr>
        <p:spPr>
          <a:xfrm>
            <a:off x="7666360" y="4823497"/>
            <a:ext cx="1955207" cy="1463879"/>
          </a:xfrm>
          <a:prstGeom prst="rect">
            <a:avLst/>
          </a:prstGeom>
          <a:solidFill>
            <a:schemeClr val="accent2">
              <a:lumOff val="21960"/>
              <a:alpha val="79973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9" name="Type   error"/>
              <p:cNvSpPr txBox="1"/>
              <p:nvPr/>
            </p:nvSpPr>
            <p:spPr>
              <a:xfrm>
                <a:off x="8006381" y="5044385"/>
                <a:ext cx="1280719" cy="345002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none" lIns="45719" rIns="45719">
                <a:spAutoFit/>
              </a:bodyPr>
              <a:lstStyle/>
              <a:p>
                <a:pPr>
                  <a:defRPr>
                    <a:solidFill>
                      <a:srgbClr val="C00000"/>
                    </a:solidFill>
                  </a:defRPr>
                </a:pPr>
                <a:r>
                  <a:t>Type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sz="19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II</m:t>
                    </m:r>
                  </m:oMath>
                </a14:m>
                <a:r>
                  <a:t> error</a:t>
                </a:r>
              </a:p>
            </p:txBody>
          </p:sp>
        </mc:Choice>
        <mc:Fallback>
          <p:sp>
            <p:nvSpPr>
              <p:cNvPr id="229" name="Type   error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6381" y="5044385"/>
                <a:ext cx="1280719" cy="345002"/>
              </a:xfrm>
              <a:prstGeom prst="rect">
                <a:avLst/>
              </a:prstGeom>
              <a:blipFill>
                <a:blip r:embed="rId15"/>
                <a:stretch>
                  <a:fillRect l="-7843" r="-6863" b="-34483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0" name="Probability of…"/>
              <p:cNvSpPr txBox="1"/>
              <p:nvPr/>
            </p:nvSpPr>
            <p:spPr>
              <a:xfrm>
                <a:off x="7926108" y="3831201"/>
                <a:ext cx="1399616" cy="640575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none" lIns="45719" rIns="45719">
                <a:spAutoFit/>
              </a:bodyPr>
              <a:lstStyle/>
              <a:p>
                <a:pPr algn="ctr"/>
                <a:r>
                  <a:t>Probability of </a:t>
                </a:r>
              </a:p>
              <a:p>
                <a:pPr algn="ctr"/>
                <a:r>
                  <a:t>this: </a:t>
                </a:r>
                <a14:m>
                  <m:oMath xmlns:m="http://schemas.openxmlformats.org/officeDocument/2006/math"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1−</m:t>
                    </m:r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/>
              </a:p>
            </p:txBody>
          </p:sp>
        </mc:Choice>
        <mc:Fallback>
          <p:sp>
            <p:nvSpPr>
              <p:cNvPr id="230" name="Probability of…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6108" y="3831201"/>
                <a:ext cx="1399616" cy="640575"/>
              </a:xfrm>
              <a:prstGeom prst="rect">
                <a:avLst/>
              </a:prstGeom>
              <a:blipFill>
                <a:blip r:embed="rId16"/>
                <a:stretch>
                  <a:fillRect l="-7207" t="-3846" r="-6306" b="-17308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1" name="Rectangle"/>
          <p:cNvSpPr/>
          <p:nvPr/>
        </p:nvSpPr>
        <p:spPr>
          <a:xfrm>
            <a:off x="9619863" y="4823497"/>
            <a:ext cx="1967907" cy="1463879"/>
          </a:xfrm>
          <a:prstGeom prst="rect">
            <a:avLst/>
          </a:prstGeom>
          <a:solidFill>
            <a:schemeClr val="accent6">
              <a:satOff val="-3457"/>
              <a:lumOff val="26078"/>
              <a:alpha val="79973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2" name="Will happen   %…"/>
              <p:cNvSpPr txBox="1"/>
              <p:nvPr/>
            </p:nvSpPr>
            <p:spPr>
              <a:xfrm>
                <a:off x="9842499" y="3965589"/>
                <a:ext cx="1623920" cy="631559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none" lIns="45719" rIns="45719">
                <a:spAutoFit/>
              </a:bodyPr>
              <a:lstStyle/>
              <a:p>
                <a:pPr algn="ctr"/>
                <a:r>
                  <a:t>Will happen </a:t>
                </a:r>
                <a14:m>
                  <m:oMath xmlns:m="http://schemas.openxmlformats.org/officeDocument/2006/math"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t> %</a:t>
                </a:r>
              </a:p>
              <a:p>
                <a:pPr algn="ctr"/>
                <a:r>
                  <a:t>of the time</a:t>
                </a:r>
              </a:p>
            </p:txBody>
          </p:sp>
        </mc:Choice>
        <mc:Fallback>
          <p:sp>
            <p:nvSpPr>
              <p:cNvPr id="232" name="Will happen   %…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2499" y="3965589"/>
                <a:ext cx="1623920" cy="631559"/>
              </a:xfrm>
              <a:prstGeom prst="rect">
                <a:avLst/>
              </a:prstGeom>
              <a:blipFill>
                <a:blip r:embed="rId17"/>
                <a:stretch>
                  <a:fillRect l="-6250" t="-2000" r="-7031" b="-20000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3" name="Happens   %…"/>
              <p:cNvSpPr txBox="1"/>
              <p:nvPr/>
            </p:nvSpPr>
            <p:spPr>
              <a:xfrm>
                <a:off x="7817745" y="5478763"/>
                <a:ext cx="1715936" cy="657279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none" lIns="45719" rIns="45719">
                <a:spAutoFit/>
              </a:bodyPr>
              <a:lstStyle/>
              <a:p>
                <a:pPr algn="ctr"/>
                <a:r>
                  <a:t>Happens </a:t>
                </a:r>
                <a14:m>
                  <m:oMath xmlns:m="http://schemas.openxmlformats.org/officeDocument/2006/math"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1−</m:t>
                    </m:r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t> %</a:t>
                </a:r>
              </a:p>
              <a:p>
                <a:pPr algn="ctr"/>
                <a:r>
                  <a:t>of the time</a:t>
                </a:r>
              </a:p>
            </p:txBody>
          </p:sp>
        </mc:Choice>
        <mc:Fallback>
          <p:sp>
            <p:nvSpPr>
              <p:cNvPr id="233" name="Happens   %…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7745" y="5478763"/>
                <a:ext cx="1715936" cy="657279"/>
              </a:xfrm>
              <a:prstGeom prst="rect">
                <a:avLst/>
              </a:prstGeom>
              <a:blipFill>
                <a:blip r:embed="rId18"/>
                <a:stretch>
                  <a:fillRect l="-7353" t="-1887" r="-7353" b="-15094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4" name="Text"/>
              <p:cNvSpPr txBox="1"/>
              <p:nvPr/>
            </p:nvSpPr>
            <p:spPr>
              <a:xfrm>
                <a:off x="9653718" y="5222947"/>
                <a:ext cx="1904893" cy="738776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none" lIns="45719" rIns="45719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sz="195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sSub>
                          <m:sSubPr>
                            <m:ctrlPr>
                              <a:rPr sz="19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19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b>
                            <m:r>
                              <a:rPr sz="19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m:rPr>
                        <m:nor/>
                      </m:rP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is</m:t>
                    </m:r>
                    <m:r>
                      <m:rPr>
                        <m:nor/>
                      </m:rP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rejected</m:t>
                    </m:r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t> 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t> </a:t>
                </a:r>
              </a:p>
            </p:txBody>
          </p:sp>
        </mc:Choice>
        <mc:Fallback>
          <p:sp>
            <p:nvSpPr>
              <p:cNvPr id="234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53718" y="5222947"/>
                <a:ext cx="1904893" cy="738776"/>
              </a:xfrm>
              <a:prstGeom prst="rect">
                <a:avLst/>
              </a:prstGeom>
              <a:blipFill>
                <a:blip r:embed="rId19"/>
                <a:stretch>
                  <a:fillRect l="-7285" r="-5298" b="-5085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5" name="(N.B. This is not the same as accepting  )"/>
              <p:cNvSpPr txBox="1"/>
              <p:nvPr/>
            </p:nvSpPr>
            <p:spPr>
              <a:xfrm>
                <a:off x="1771189" y="6153276"/>
                <a:ext cx="4031416" cy="372605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none" lIns="45719" rIns="45719">
                <a:spAutoFit/>
              </a:bodyPr>
              <a:lstStyle/>
              <a:p>
                <a:r>
                  <a:t>(N.B. This is not the same as accepting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195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t>)</a:t>
                </a:r>
              </a:p>
            </p:txBody>
          </p:sp>
        </mc:Choice>
        <mc:Fallback>
          <p:sp>
            <p:nvSpPr>
              <p:cNvPr id="235" name="(N.B. This is not the same as accepting  )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1189" y="6153276"/>
                <a:ext cx="4031416" cy="372605"/>
              </a:xfrm>
              <a:prstGeom prst="rect">
                <a:avLst/>
              </a:prstGeom>
              <a:blipFill>
                <a:blip r:embed="rId20"/>
                <a:stretch>
                  <a:fillRect l="-2201" t="-3226" r="-3145" b="-25806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6" name="(N.B. This is does not mean accept another model)"/>
          <p:cNvSpPr txBox="1"/>
          <p:nvPr/>
        </p:nvSpPr>
        <p:spPr>
          <a:xfrm>
            <a:off x="1070865" y="5208601"/>
            <a:ext cx="4787762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r>
              <a:t>(N.B. This is does not mean accept another model)</a:t>
            </a:r>
          </a:p>
        </p:txBody>
      </p:sp>
      <p:sp>
        <p:nvSpPr>
          <p:cNvPr id="237" name="A good experiment is defined around these requirements"/>
          <p:cNvSpPr txBox="1"/>
          <p:nvPr/>
        </p:nvSpPr>
        <p:spPr>
          <a:xfrm>
            <a:off x="6331422" y="6423559"/>
            <a:ext cx="5417752" cy="3330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r>
              <a:t>A </a:t>
            </a:r>
            <a:r>
              <a:rPr i="1"/>
              <a:t>good</a:t>
            </a:r>
            <a:r>
              <a:t> experiment is defined around these requirements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Title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i="1">
                <a:solidFill>
                  <a:srgbClr val="C00000"/>
                </a:solidFill>
              </a:defRPr>
            </a:lvl1pPr>
          </a:lstStyle>
          <a:p>
            <a:r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0" name="Content Placeholder 8"/>
              <p:cNvSpPr txBox="1">
                <a:spLocks noGrp="1"/>
              </p:cNvSpPr>
              <p:nvPr>
                <p:ph type="body" sz="half" idx="1"/>
              </p:nvPr>
            </p:nvSpPr>
            <p:spPr>
              <a:xfrm>
                <a:off x="838200" y="1724655"/>
                <a:ext cx="10515600" cy="1773904"/>
              </a:xfrm>
              <a:prstGeom prst="rect">
                <a:avLst/>
              </a:prstGeom>
            </p:spPr>
            <p:txBody>
              <a:bodyPr/>
              <a:lstStyle/>
              <a:p>
                <a:pPr>
                  <a:defRPr sz="2000" i="1"/>
                </a:pPr>
                <a:r>
                  <a:t>Given a probability threshold, what is the allowed range of the parameter:</a:t>
                </a:r>
              </a:p>
              <a:p>
                <a:pPr>
                  <a:defRPr sz="2000"/>
                </a:pPr>
                <a:endParaRPr/>
              </a:p>
              <a:p>
                <a:pPr>
                  <a:defRPr sz="2000" b="1" i="1">
                    <a:solidFill>
                      <a:srgbClr val="C00000"/>
                    </a:solidFill>
                  </a:defRPr>
                </a:pPr>
                <a:endParaRPr/>
              </a:p>
              <a:p>
                <a:pPr>
                  <a:defRPr sz="2000" b="1" i="1">
                    <a:solidFill>
                      <a:srgbClr val="C00000"/>
                    </a:solidFill>
                  </a:defRPr>
                </a:pPr>
                <a:r>
                  <a:t>Interpretation: </a:t>
                </a:r>
                <a:r>
                  <a:rPr b="0" i="0">
                    <a:solidFill>
                      <a:srgbClr val="000000"/>
                    </a:solidFill>
                  </a:rPr>
                  <a:t>if we repeat our experiment, how often will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210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1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sz="21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b="0" i="0">
                    <a:solidFill>
                      <a:srgbClr val="000000"/>
                    </a:solidFill>
                    <a:latin typeface="Times Roman"/>
                    <a:ea typeface="Times Roman"/>
                    <a:cs typeface="Times Roman"/>
                    <a:sym typeface="Times Roman"/>
                  </a:rPr>
                  <a:t> be </a:t>
                </a:r>
                <a:r>
                  <a:rPr b="0" i="0">
                    <a:solidFill>
                      <a:srgbClr val="000000"/>
                    </a:solidFill>
                  </a:rPr>
                  <a:t>within our quoted range</a:t>
                </a:r>
                <a:endParaRPr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240" name="Content Placeholder 8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1"/>
              </p:nvPr>
            </p:nvSpPr>
            <p:spPr>
              <a:xfrm>
                <a:off x="838200" y="1724655"/>
                <a:ext cx="10515600" cy="1773904"/>
              </a:xfrm>
              <a:prstGeom prst="rect">
                <a:avLst/>
              </a:prstGeom>
              <a:blipFill>
                <a:blip r:embed="rId2"/>
                <a:stretch>
                  <a:fillRect l="-1086" t="-35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1" name="Slide Number Placeholder 2"/>
          <p:cNvSpPr txBox="1">
            <a:spLocks noGrp="1"/>
          </p:cNvSpPr>
          <p:nvPr>
            <p:ph type="sldNum" sz="quarter" idx="2"/>
          </p:nvPr>
        </p:nvSpPr>
        <p:spPr>
          <a:xfrm>
            <a:off x="11774115" y="6402746"/>
            <a:ext cx="194257" cy="280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9</a:t>
            </a:fld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2" name="Equation"/>
              <p:cNvSpPr txBox="1"/>
              <p:nvPr/>
            </p:nvSpPr>
            <p:spPr>
              <a:xfrm>
                <a:off x="3666438" y="2320132"/>
                <a:ext cx="3735013" cy="409650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Upp>
                        <m:limUppPr>
                          <m:ctrlPr>
                            <a:rPr sz="34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r>
                            <a:rPr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lim>
                          <m:r>
                            <a:rPr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̂</m:t>
                          </m:r>
                        </m:lim>
                      </m:limUpp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limUpp>
                        <m:limUppPr>
                          <m:ctrlPr>
                            <a:rPr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r>
                            <a:rPr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lim>
                          <m:r>
                            <a:rPr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̂</m:t>
                          </m:r>
                        </m:lim>
                      </m:limUpp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</m:oMath>
                  </m:oMathPara>
                </a14:m>
                <a:endParaRPr sz="3400"/>
              </a:p>
            </p:txBody>
          </p:sp>
        </mc:Choice>
        <mc:Fallback>
          <p:sp>
            <p:nvSpPr>
              <p:cNvPr id="242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6438" y="2320132"/>
                <a:ext cx="3735013" cy="409650"/>
              </a:xfrm>
              <a:prstGeom prst="rect">
                <a:avLst/>
              </a:prstGeom>
              <a:blipFill>
                <a:blip r:embed="rId3"/>
                <a:stretch>
                  <a:fillRect l="-4068" r="-13220" b="-105882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3" name="For multiple variables  :"/>
              <p:cNvSpPr txBox="1"/>
              <p:nvPr/>
            </p:nvSpPr>
            <p:spPr>
              <a:xfrm>
                <a:off x="906122" y="3913055"/>
                <a:ext cx="3456789" cy="416916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none" lIns="45719" rIns="45719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ts val="1000"/>
                  </a:spcBef>
                  <a:defRPr sz="2200"/>
                </a:pPr>
                <a:r>
                  <a:rPr b="1"/>
                  <a:t>For multiple variables </a:t>
                </a:r>
                <a14:m>
                  <m:oMath xmlns:m="http://schemas.openxmlformats.org/officeDocument/2006/math"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b="1"/>
                  <a:t>:</a:t>
                </a:r>
              </a:p>
            </p:txBody>
          </p:sp>
        </mc:Choice>
        <mc:Fallback>
          <p:sp>
            <p:nvSpPr>
              <p:cNvPr id="243" name="For multiple variables  :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122" y="3913055"/>
                <a:ext cx="3456789" cy="416916"/>
              </a:xfrm>
              <a:prstGeom prst="rect">
                <a:avLst/>
              </a:prstGeom>
              <a:blipFill>
                <a:blip r:embed="rId4"/>
                <a:stretch>
                  <a:fillRect l="-3663" t="-18182" r="-5128" b="-27273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4" name="Line"/>
          <p:cNvSpPr/>
          <p:nvPr/>
        </p:nvSpPr>
        <p:spPr>
          <a:xfrm>
            <a:off x="3922131" y="3655051"/>
            <a:ext cx="3511537" cy="1"/>
          </a:xfrm>
          <a:prstGeom prst="line">
            <a:avLst/>
          </a:prstGeom>
          <a:ln w="12700">
            <a:solidFill>
              <a:srgbClr val="A7A7A7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253" name="Group"/>
          <p:cNvGrpSpPr/>
          <p:nvPr/>
        </p:nvGrpSpPr>
        <p:grpSpPr>
          <a:xfrm>
            <a:off x="6964317" y="3879203"/>
            <a:ext cx="4032264" cy="2623470"/>
            <a:chOff x="0" y="0"/>
            <a:chExt cx="4032263" cy="2623468"/>
          </a:xfrm>
        </p:grpSpPr>
        <p:sp>
          <p:nvSpPr>
            <p:cNvPr id="245" name="Rectangle"/>
            <p:cNvSpPr/>
            <p:nvPr/>
          </p:nvSpPr>
          <p:spPr>
            <a:xfrm>
              <a:off x="0" y="0"/>
              <a:ext cx="4032264" cy="2623469"/>
            </a:xfrm>
            <a:prstGeom prst="rect">
              <a:avLst/>
            </a:prstGeom>
            <a:solidFill>
              <a:srgbClr val="CEF0D1"/>
            </a:solidFill>
            <a:ln w="12700" cap="flat">
              <a:solidFill>
                <a:srgbClr val="A7A7A7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  <p:sp>
          <p:nvSpPr>
            <p:cNvPr id="246" name="Oval"/>
            <p:cNvSpPr/>
            <p:nvPr/>
          </p:nvSpPr>
          <p:spPr>
            <a:xfrm rot="19800000">
              <a:off x="1234430" y="542527"/>
              <a:ext cx="2024632" cy="1237332"/>
            </a:xfrm>
            <a:prstGeom prst="ellipse">
              <a:avLst/>
            </a:prstGeom>
            <a:solidFill>
              <a:srgbClr val="EFEFEF"/>
            </a:solidFill>
            <a:ln w="12700" cap="flat">
              <a:solidFill>
                <a:schemeClr val="accent1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  <p:sp>
          <p:nvSpPr>
            <p:cNvPr id="247" name="Line"/>
            <p:cNvSpPr/>
            <p:nvPr/>
          </p:nvSpPr>
          <p:spPr>
            <a:xfrm flipV="1">
              <a:off x="524183" y="289213"/>
              <a:ext cx="1" cy="199424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800000"/>
              <a:tailEnd type="triangle" w="med" len="med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248" name="Line"/>
            <p:cNvSpPr/>
            <p:nvPr/>
          </p:nvSpPr>
          <p:spPr>
            <a:xfrm>
              <a:off x="524183" y="2270755"/>
              <a:ext cx="3191126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800000"/>
              <a:tailEnd type="triangle" w="med" len="med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249" name="Oval"/>
            <p:cNvSpPr/>
            <p:nvPr/>
          </p:nvSpPr>
          <p:spPr>
            <a:xfrm rot="19800000">
              <a:off x="1412230" y="651188"/>
              <a:ext cx="1669032" cy="1020010"/>
            </a:xfrm>
            <a:prstGeom prst="ellipse">
              <a:avLst/>
            </a:prstGeom>
            <a:solidFill>
              <a:srgbClr val="DDDDDD"/>
            </a:solidFill>
            <a:ln w="12700" cap="flat">
              <a:solidFill>
                <a:schemeClr val="accent1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  <p:sp>
          <p:nvSpPr>
            <p:cNvPr id="250" name="Oval"/>
            <p:cNvSpPr/>
            <p:nvPr/>
          </p:nvSpPr>
          <p:spPr>
            <a:xfrm rot="19800000">
              <a:off x="1880619" y="755019"/>
              <a:ext cx="1016001" cy="620918"/>
            </a:xfrm>
            <a:prstGeom prst="ellipse">
              <a:avLst/>
            </a:prstGeom>
            <a:solidFill>
              <a:srgbClr val="BBBBBB"/>
            </a:solidFill>
            <a:ln w="12700" cap="flat">
              <a:solidFill>
                <a:schemeClr val="accent1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1" name="Equation"/>
                <p:cNvSpPr txBox="1"/>
                <p:nvPr/>
              </p:nvSpPr>
              <p:spPr>
                <a:xfrm>
                  <a:off x="184978" y="1167170"/>
                  <a:ext cx="171832" cy="186640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</p:spPr>
              <p:txBody>
                <a:bodyPr wrap="none" lIns="0" tIns="0" rIns="0" bIns="0">
                  <a:spAutoFit/>
                </a:bodyPr>
                <a:lstStyle/>
                <a:p>
                  <a:pPr latinLnBrk="1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sz="22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sz="2200"/>
                </a:p>
              </p:txBody>
            </p:sp>
          </mc:Choice>
          <mc:Fallback>
            <p:sp>
              <p:nvSpPr>
                <p:cNvPr id="251" name="Equation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4978" y="1167170"/>
                  <a:ext cx="171832" cy="186640"/>
                </a:xfrm>
                <a:prstGeom prst="rect">
                  <a:avLst/>
                </a:prstGeom>
                <a:blipFill>
                  <a:blip r:embed="rId5"/>
                  <a:stretch>
                    <a:fillRect l="-57143" r="-57143" b="-100000"/>
                  </a:stretch>
                </a:blipFill>
                <a:ln w="12700" cap="flat">
                  <a:noFill/>
                  <a:miter lim="400000"/>
                </a:ln>
                <a:effectLst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2" name="Equation"/>
                <p:cNvSpPr txBox="1"/>
                <p:nvPr/>
              </p:nvSpPr>
              <p:spPr>
                <a:xfrm>
                  <a:off x="2033830" y="2331234"/>
                  <a:ext cx="166523" cy="182449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</p:spPr>
              <p:txBody>
                <a:bodyPr wrap="none" lIns="0" tIns="0" rIns="0" bIns="0">
                  <a:spAutoFit/>
                </a:bodyPr>
                <a:lstStyle/>
                <a:p>
                  <a:pPr latinLnBrk="1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sz="22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oMath>
                    </m:oMathPara>
                  </a14:m>
                  <a:endParaRPr sz="2200"/>
                </a:p>
              </p:txBody>
            </p:sp>
          </mc:Choice>
          <mc:Fallback>
            <p:sp>
              <p:nvSpPr>
                <p:cNvPr id="252" name="Equation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33830" y="2331234"/>
                  <a:ext cx="166523" cy="182449"/>
                </a:xfrm>
                <a:prstGeom prst="rect">
                  <a:avLst/>
                </a:prstGeom>
                <a:blipFill>
                  <a:blip r:embed="rId6"/>
                  <a:stretch>
                    <a:fillRect l="-57143" r="-64286" b="-93333"/>
                  </a:stretch>
                </a:blipFill>
                <a:ln w="12700" cap="flat">
                  <a:noFill/>
                  <a:miter lim="400000"/>
                </a:ln>
                <a:effectLst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54" name="An error ellipse containing…"/>
              <p:cNvSpPr txBox="1"/>
              <p:nvPr/>
            </p:nvSpPr>
            <p:spPr>
              <a:xfrm>
                <a:off x="1701245" y="4674315"/>
                <a:ext cx="3197936" cy="797066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none" lIns="45719" rIns="45719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ts val="1000"/>
                  </a:spcBef>
                  <a:buFont typeface="Arial"/>
                  <a:defRPr sz="2000" b="1" i="1">
                    <a:solidFill>
                      <a:srgbClr val="C00000"/>
                    </a:solidFill>
                  </a:defRPr>
                </a:pPr>
                <a:r>
                  <a:rPr b="0" i="0">
                    <a:solidFill>
                      <a:srgbClr val="000000"/>
                    </a:solidFill>
                  </a:rPr>
                  <a:t>An error ellipse containing </a:t>
                </a:r>
                <a14:m>
                  <m:oMath xmlns:m="http://schemas.openxmlformats.org/officeDocument/2006/math">
                    <m:r>
                      <a:rPr sz="21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𝛿</m:t>
                    </m:r>
                    <m:r>
                      <a:rPr sz="21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b="0" i="0">
                    <a:solidFill>
                      <a:srgbClr val="000000"/>
                    </a:solidFill>
                  </a:rPr>
                  <a:t> </a:t>
                </a:r>
              </a:p>
              <a:p>
                <a:pPr algn="ctr">
                  <a:lnSpc>
                    <a:spcPct val="90000"/>
                  </a:lnSpc>
                  <a:spcBef>
                    <a:spcPts val="1000"/>
                  </a:spcBef>
                  <a:buFont typeface="Arial"/>
                  <a:defRPr sz="2000" b="1" i="1">
                    <a:solidFill>
                      <a:srgbClr val="C00000"/>
                    </a:solidFill>
                  </a:defRPr>
                </a:pPr>
                <a:r>
                  <a:rPr b="0" i="0">
                    <a:solidFill>
                      <a:srgbClr val="000000"/>
                    </a:solidFill>
                  </a:rPr>
                  <a:t>of the probability</a:t>
                </a:r>
              </a:p>
            </p:txBody>
          </p:sp>
        </mc:Choice>
        <mc:Fallback>
          <p:sp>
            <p:nvSpPr>
              <p:cNvPr id="254" name="An error ellipse containing…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1245" y="4674315"/>
                <a:ext cx="3197936" cy="797066"/>
              </a:xfrm>
              <a:prstGeom prst="rect">
                <a:avLst/>
              </a:prstGeom>
              <a:blipFill>
                <a:blip r:embed="rId7"/>
                <a:stretch>
                  <a:fillRect l="-3162" t="-6250" r="-4743" b="-9375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5" name="Typical values are 68%, 90%, 95%."/>
          <p:cNvSpPr txBox="1"/>
          <p:nvPr/>
        </p:nvSpPr>
        <p:spPr>
          <a:xfrm>
            <a:off x="1303591" y="5721713"/>
            <a:ext cx="3815443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000"/>
            </a:lvl1pPr>
          </a:lstStyle>
          <a:p>
            <a:pPr>
              <a:defRPr>
                <a:latin typeface="Cambria Math"/>
                <a:ea typeface="Cambria Math"/>
                <a:cs typeface="Cambria Math"/>
                <a:sym typeface="Cambria Math"/>
              </a:defRPr>
            </a:pPr>
            <a:r>
              <a:rPr>
                <a:latin typeface="+mj-lt"/>
                <a:ea typeface="+mj-ea"/>
                <a:cs typeface="+mj-cs"/>
                <a:sym typeface="Calibri"/>
              </a:rPr>
              <a:t>Typical values are 68%, 90%, 95%.</a:t>
            </a:r>
          </a:p>
        </p:txBody>
      </p:sp>
      <p:sp>
        <p:nvSpPr>
          <p:cNvPr id="256" name="Star"/>
          <p:cNvSpPr/>
          <p:nvPr/>
        </p:nvSpPr>
        <p:spPr>
          <a:xfrm>
            <a:off x="9469488" y="4767729"/>
            <a:ext cx="157021" cy="149335"/>
          </a:xfrm>
          <a:prstGeom prst="star5">
            <a:avLst>
              <a:gd name="adj" fmla="val 19100"/>
              <a:gd name="hf" fmla="val 105146"/>
              <a:gd name="vf" fmla="val 110557"/>
            </a:avLst>
          </a:pr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Key Assumption: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C00000"/>
                </a:solidFill>
              </a:defRPr>
            </a:lvl1pPr>
          </a:lstStyle>
          <a:p>
            <a:r>
              <a:t>Key Assumption:</a:t>
            </a:r>
          </a:p>
        </p:txBody>
      </p:sp>
      <p:sp>
        <p:nvSpPr>
          <p:cNvPr id="25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10</a:t>
            </a:fld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0" name="The probability,  , needed for Hypothesis testing and confidence intervals depend on how the data and model are distributed"/>
              <p:cNvSpPr txBox="1"/>
              <p:nvPr/>
            </p:nvSpPr>
            <p:spPr>
              <a:xfrm>
                <a:off x="939655" y="1871359"/>
                <a:ext cx="7684394" cy="740441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45719" rIns="45719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ts val="1000"/>
                  </a:spcBef>
                  <a:buFont typeface="Arial"/>
                  <a:defRPr sz="2200"/>
                </a:pPr>
                <a:r>
                  <a:t>The probability, </a:t>
                </a:r>
                <a14:m>
                  <m:oMath xmlns:m="http://schemas.openxmlformats.org/officeDocument/2006/math">
                    <m:r>
                      <a:rPr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t>, needed for </a:t>
                </a:r>
                <a:r>
                  <a:rPr b="1"/>
                  <a:t>Hypothesis testing </a:t>
                </a:r>
                <a:r>
                  <a:t>and</a:t>
                </a:r>
                <a:r>
                  <a:rPr b="1"/>
                  <a:t> confidence intervals </a:t>
                </a:r>
                <a:r>
                  <a:t>depend on how the data and model are distributed</a:t>
                </a:r>
              </a:p>
            </p:txBody>
          </p:sp>
        </mc:Choice>
        <mc:Fallback>
          <p:sp>
            <p:nvSpPr>
              <p:cNvPr id="260" name="The probability,  , needed for Hypothesis testing and confidence intervals depend on how the data and model are distributed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655" y="1871359"/>
                <a:ext cx="7684394" cy="740441"/>
              </a:xfrm>
              <a:prstGeom prst="rect">
                <a:avLst/>
              </a:prstGeom>
              <a:blipFill>
                <a:blip r:embed="rId2"/>
                <a:stretch>
                  <a:fillRect l="-1483" t="-6780" r="-329" b="-13559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1" name="Are they both drawn from a Gaussian distribution?"/>
          <p:cNvSpPr txBox="1"/>
          <p:nvPr/>
        </p:nvSpPr>
        <p:spPr>
          <a:xfrm>
            <a:off x="939655" y="3236312"/>
            <a:ext cx="7684394" cy="385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200"/>
            </a:lvl1pPr>
          </a:lstStyle>
          <a:p>
            <a:r>
              <a:t>Are they both drawn from a Gaussian distribution?</a:t>
            </a: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Rectangle"/>
          <p:cNvSpPr/>
          <p:nvPr/>
        </p:nvSpPr>
        <p:spPr>
          <a:xfrm>
            <a:off x="7110765" y="1087437"/>
            <a:ext cx="4992543" cy="4432954"/>
          </a:xfrm>
          <a:prstGeom prst="rect">
            <a:avLst/>
          </a:prstGeom>
          <a:solidFill>
            <a:schemeClr val="accent6">
              <a:satOff val="-3457"/>
              <a:lumOff val="26078"/>
            </a:schemeClr>
          </a:solidFill>
          <a:ln w="12700">
            <a:solidFill>
              <a:srgbClr val="A7A7A7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19" rIns="45719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64" name="Rectangle"/>
          <p:cNvSpPr/>
          <p:nvPr/>
        </p:nvSpPr>
        <p:spPr>
          <a:xfrm>
            <a:off x="552125" y="1920947"/>
            <a:ext cx="6307516" cy="2110620"/>
          </a:xfrm>
          <a:prstGeom prst="rect">
            <a:avLst/>
          </a:prstGeom>
          <a:solidFill>
            <a:srgbClr val="FFFFFF">
              <a:alpha val="87136"/>
            </a:srgbClr>
          </a:solidFill>
          <a:ln w="12700">
            <a:solidFill>
              <a:schemeClr val="accent1">
                <a:alpha val="87136"/>
              </a:schemeClr>
            </a:solidFill>
            <a:miter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265" name="Slide Number Placeholder 3"/>
          <p:cNvSpPr txBox="1">
            <a:spLocks noGrp="1"/>
          </p:cNvSpPr>
          <p:nvPr>
            <p:ph type="sldNum" sz="quarter" idx="2"/>
          </p:nvPr>
        </p:nvSpPr>
        <p:spPr>
          <a:xfrm>
            <a:off x="11684000" y="6402746"/>
            <a:ext cx="284372" cy="280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11</a:t>
            </a:fld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6" name="Equation"/>
              <p:cNvSpPr txBox="1"/>
              <p:nvPr/>
            </p:nvSpPr>
            <p:spPr>
              <a:xfrm>
                <a:off x="1071964" y="2100804"/>
                <a:ext cx="5267839" cy="944831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  <m:rad>
                            <m:radPr>
                              <m:degHide m:val="on"/>
                              <m:ctrlPr>
                                <a:rPr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e>
                          </m:rad>
                          <m:r>
                            <a:rPr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m:rPr>
                          <m:sty m:val="p"/>
                        </m:rPr>
                        <a:rPr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{−(</m:t>
                      </m:r>
                      <m:r>
                        <a:rPr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𝜇</m:t>
                      </m:r>
                      <m:sSup>
                        <m:sSupPr>
                          <m:ctrlPr>
                            <a:rPr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/2</m:t>
                      </m:r>
                      <m:sSup>
                        <m:sSupPr>
                          <m:ctrlPr>
                            <a:rPr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sz="2800"/>
              </a:p>
            </p:txBody>
          </p:sp>
        </mc:Choice>
        <mc:Fallback>
          <p:sp>
            <p:nvSpPr>
              <p:cNvPr id="266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1964" y="2100804"/>
                <a:ext cx="5267839" cy="944831"/>
              </a:xfrm>
              <a:prstGeom prst="rect">
                <a:avLst/>
              </a:prstGeom>
              <a:blipFill>
                <a:blip r:embed="rId2"/>
                <a:stretch>
                  <a:fillRect l="-2404" t="-1316" r="-8894" b="-15789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7" name="Title 1"/>
          <p:cNvSpPr txBox="1">
            <a:spLocks noGrp="1"/>
          </p:cNvSpPr>
          <p:nvPr>
            <p:ph type="title"/>
          </p:nvPr>
        </p:nvSpPr>
        <p:spPr>
          <a:xfrm>
            <a:off x="812800" y="238125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i="1">
                <a:solidFill>
                  <a:srgbClr val="C00000"/>
                </a:solidFill>
              </a:defRPr>
            </a:lvl1pPr>
          </a:lstStyle>
          <a:p>
            <a:r>
              <a:t>Key Distributions: Gaussian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8" name="The limiting case ( ) of most other distributions"/>
              <p:cNvSpPr txBox="1"/>
              <p:nvPr/>
            </p:nvSpPr>
            <p:spPr>
              <a:xfrm>
                <a:off x="647375" y="3468532"/>
                <a:ext cx="6320216" cy="863320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45719" rIns="45719">
                <a:normAutofit/>
              </a:bodyPr>
              <a:lstStyle/>
              <a:p>
                <a:pPr>
                  <a:lnSpc>
                    <a:spcPct val="90000"/>
                  </a:lnSpc>
                  <a:spcBef>
                    <a:spcPts val="1000"/>
                  </a:spcBef>
                  <a:buFont typeface="Arial"/>
                  <a:defRPr sz="2000"/>
                </a:pPr>
                <a:r>
                  <a:t>The limiting case (</a:t>
                </a:r>
                <a14:m>
                  <m:oMath xmlns:m="http://schemas.openxmlformats.org/officeDocument/2006/math">
                    <m:r>
                      <a:rPr sz="21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t>) of most other distributions</a:t>
                </a:r>
              </a:p>
            </p:txBody>
          </p:sp>
        </mc:Choice>
        <mc:Fallback>
          <p:sp>
            <p:nvSpPr>
              <p:cNvPr id="268" name="The limiting case ( ) of most other distribution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375" y="3468532"/>
                <a:ext cx="6320216" cy="863320"/>
              </a:xfrm>
              <a:prstGeom prst="rect">
                <a:avLst/>
              </a:prstGeom>
              <a:blipFill>
                <a:blip r:embed="rId3"/>
                <a:stretch>
                  <a:fillRect l="-1603" t="-5797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9" name="Aka a normal"/>
          <p:cNvSpPr txBox="1"/>
          <p:nvPr/>
        </p:nvSpPr>
        <p:spPr>
          <a:xfrm>
            <a:off x="822223" y="1253240"/>
            <a:ext cx="4038601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defRPr sz="2800" b="1"/>
            </a:lvl1pPr>
          </a:lstStyle>
          <a:p>
            <a:r>
              <a:t>Aka a normal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0" name="Equation"/>
              <p:cNvSpPr txBox="1"/>
              <p:nvPr/>
            </p:nvSpPr>
            <p:spPr>
              <a:xfrm>
                <a:off x="3797300" y="4548451"/>
                <a:ext cx="1377228" cy="237502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mean</m:t>
                      </m:r>
                      <m:r>
                        <a:rPr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𝜇</m:t>
                      </m:r>
                    </m:oMath>
                  </m:oMathPara>
                </a14:m>
                <a:endParaRPr sz="2800"/>
              </a:p>
            </p:txBody>
          </p:sp>
        </mc:Choice>
        <mc:Fallback>
          <p:sp>
            <p:nvSpPr>
              <p:cNvPr id="270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7300" y="4548451"/>
                <a:ext cx="1377228" cy="237502"/>
              </a:xfrm>
              <a:prstGeom prst="rect">
                <a:avLst/>
              </a:prstGeom>
              <a:blipFill>
                <a:blip r:embed="rId4"/>
                <a:stretch>
                  <a:fillRect l="-6422" r="-17431" b="-115789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1" name="Equation"/>
              <p:cNvSpPr txBox="1"/>
              <p:nvPr/>
            </p:nvSpPr>
            <p:spPr>
              <a:xfrm>
                <a:off x="4114800" y="5207000"/>
                <a:ext cx="1068613" cy="30615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sz="28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sz="2800"/>
              </a:p>
            </p:txBody>
          </p:sp>
        </mc:Choice>
        <mc:Fallback>
          <p:sp>
            <p:nvSpPr>
              <p:cNvPr id="271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0" y="5207000"/>
                <a:ext cx="1068613" cy="306158"/>
              </a:xfrm>
              <a:prstGeom prst="rect">
                <a:avLst/>
              </a:prstGeom>
              <a:blipFill>
                <a:blip r:embed="rId5"/>
                <a:stretch>
                  <a:fillRect l="-8235" r="-23529" b="-36000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2" name="Expectation value:"/>
          <p:cNvSpPr txBox="1"/>
          <p:nvPr/>
        </p:nvSpPr>
        <p:spPr>
          <a:xfrm>
            <a:off x="1168400" y="4497111"/>
            <a:ext cx="2047464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000" b="1" i="1">
                <a:solidFill>
                  <a:srgbClr val="C00000"/>
                </a:solidFill>
              </a:defRPr>
            </a:lvl1pPr>
          </a:lstStyle>
          <a:p>
            <a:r>
              <a:t>Expectation value:</a:t>
            </a:r>
          </a:p>
        </p:txBody>
      </p:sp>
      <p:sp>
        <p:nvSpPr>
          <p:cNvPr id="273" name="Variance:"/>
          <p:cNvSpPr txBox="1"/>
          <p:nvPr/>
        </p:nvSpPr>
        <p:spPr>
          <a:xfrm>
            <a:off x="1651000" y="5194300"/>
            <a:ext cx="1093351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000" b="1" i="1">
                <a:solidFill>
                  <a:srgbClr val="C00000"/>
                </a:solidFill>
              </a:defRPr>
            </a:lvl1pPr>
          </a:lstStyle>
          <a:p>
            <a:r>
              <a:t>Variance:</a:t>
            </a:r>
          </a:p>
        </p:txBody>
      </p:sp>
      <p:pic>
        <p:nvPicPr>
          <p:cNvPr id="274" name="gaussian_dist.png" descr="gaussian_dist.png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7253662" y="1293056"/>
            <a:ext cx="4732269" cy="3977779"/>
          </a:xfrm>
          <a:prstGeom prst="rect">
            <a:avLst/>
          </a:prstGeom>
          <a:ln w="12700">
            <a:solidFill>
              <a:schemeClr val="accent1"/>
            </a:solidFill>
            <a:miter/>
          </a:ln>
        </p:spPr>
      </p:pic>
      <p:sp>
        <p:nvSpPr>
          <p:cNvPr id="275" name="Common assumption across physics"/>
          <p:cNvSpPr txBox="1"/>
          <p:nvPr/>
        </p:nvSpPr>
        <p:spPr>
          <a:xfrm>
            <a:off x="7548184" y="5569619"/>
            <a:ext cx="4143225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norm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000"/>
            </a:lvl1pPr>
          </a:lstStyle>
          <a:p>
            <a:r>
              <a:t>Common assumption across physics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6" name="Equation"/>
              <p:cNvSpPr txBox="1"/>
              <p:nvPr/>
            </p:nvSpPr>
            <p:spPr>
              <a:xfrm>
                <a:off x="1049877" y="5775929"/>
                <a:ext cx="5048286" cy="996627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(−</m:t>
                      </m:r>
                      <m:r>
                        <a:rPr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sSubSup>
                        <m:sSubSupPr>
                          <m:ctrlPr>
                            <a:rPr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∫</m:t>
                          </m:r>
                        </m:e>
                        <m:sub>
                          <m:r>
                            <a:rPr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sSup>
                        <m:sSupPr>
                          <m:ctrlPr>
                            <a:rPr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/2</m:t>
                          </m:r>
                        </m:sup>
                      </m:sSup>
                      <m:r>
                        <a:rPr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𝑑𝑧</m:t>
                      </m:r>
                    </m:oMath>
                  </m:oMathPara>
                </a14:m>
                <a:endParaRPr sz="2800"/>
              </a:p>
            </p:txBody>
          </p:sp>
        </mc:Choice>
        <mc:Fallback>
          <p:sp>
            <p:nvSpPr>
              <p:cNvPr id="276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9877" y="5775929"/>
                <a:ext cx="5048286" cy="996627"/>
              </a:xfrm>
              <a:prstGeom prst="rect">
                <a:avLst/>
              </a:prstGeom>
              <a:blipFill>
                <a:blip r:embed="rId7"/>
                <a:stretch>
                  <a:fillRect l="-2506" t="-1250" r="-13534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Rectangle"/>
          <p:cNvSpPr/>
          <p:nvPr/>
        </p:nvSpPr>
        <p:spPr>
          <a:xfrm>
            <a:off x="899994" y="1940680"/>
            <a:ext cx="6307517" cy="2110620"/>
          </a:xfrm>
          <a:prstGeom prst="rect">
            <a:avLst/>
          </a:prstGeom>
          <a:solidFill>
            <a:srgbClr val="FFFFFF">
              <a:alpha val="87136"/>
            </a:srgbClr>
          </a:solidFill>
          <a:ln w="12700">
            <a:solidFill>
              <a:schemeClr val="accent1">
                <a:alpha val="87136"/>
              </a:schemeClr>
            </a:solidFill>
            <a:miter/>
          </a:ln>
        </p:spPr>
        <p:txBody>
          <a:bodyPr lIns="45719" rIns="45719" anchor="ctr"/>
          <a:lstStyle/>
          <a:p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9" name="draw   events from   possibilities each with probability"/>
              <p:cNvSpPr txBox="1">
                <a:spLocks noGrp="1"/>
              </p:cNvSpPr>
              <p:nvPr>
                <p:ph type="body" sz="quarter" idx="1"/>
              </p:nvPr>
            </p:nvSpPr>
            <p:spPr>
              <a:xfrm>
                <a:off x="820057" y="3419449"/>
                <a:ext cx="6320216" cy="863320"/>
              </a:xfrm>
              <a:prstGeom prst="rect">
                <a:avLst/>
              </a:prstGeom>
            </p:spPr>
            <p:txBody>
              <a:bodyPr/>
              <a:lstStyle/>
              <a:p>
                <a:pPr>
                  <a:defRPr sz="2000"/>
                </a:pPr>
                <a:r>
                  <a:t>draw </a:t>
                </a:r>
                <a14:m>
                  <m:oMath xmlns:m="http://schemas.openxmlformats.org/officeDocument/2006/math">
                    <m:r>
                      <a:rPr sz="21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t> events from </a:t>
                </a:r>
                <a14:m>
                  <m:oMath xmlns:m="http://schemas.openxmlformats.org/officeDocument/2006/math">
                    <m:r>
                      <a:rPr sz="21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t> possibilities each with probability </a:t>
                </a:r>
                <a14:m>
                  <m:oMath xmlns:m="http://schemas.openxmlformats.org/officeDocument/2006/math">
                    <m:r>
                      <a:rPr sz="21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t> </a:t>
                </a:r>
              </a:p>
            </p:txBody>
          </p:sp>
        </mc:Choice>
        <mc:Fallback>
          <p:sp>
            <p:nvSpPr>
              <p:cNvPr id="279" name="draw   events from   possibilities each with probability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"/>
              </p:nvPr>
            </p:nvSpPr>
            <p:spPr>
              <a:xfrm>
                <a:off x="820057" y="3419449"/>
                <a:ext cx="6320216" cy="863320"/>
              </a:xfrm>
              <a:prstGeom prst="rect">
                <a:avLst/>
              </a:prstGeom>
              <a:blipFill>
                <a:blip r:embed="rId2"/>
                <a:stretch>
                  <a:fillRect l="-1603" t="-57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12</a:t>
            </a:fld>
            <a:endParaRPr/>
          </a:p>
        </p:txBody>
      </p:sp>
      <p:sp>
        <p:nvSpPr>
          <p:cNvPr id="281" name="Key Distributions: Binomial"/>
          <p:cNvSpPr txBox="1">
            <a:spLocks noGrp="1"/>
          </p:cNvSpPr>
          <p:nvPr>
            <p:ph type="title"/>
          </p:nvPr>
        </p:nvSpPr>
        <p:spPr>
          <a:xfrm>
            <a:off x="812800" y="238125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C00000"/>
                </a:solidFill>
              </a:defRPr>
            </a:lvl1pPr>
          </a:lstStyle>
          <a:p>
            <a:r>
              <a:t>Key Distributions: Binomial</a:t>
            </a:r>
          </a:p>
        </p:txBody>
      </p:sp>
      <p:sp>
        <p:nvSpPr>
          <p:cNvPr id="282" name="Fixed number of outcomes"/>
          <p:cNvSpPr txBox="1"/>
          <p:nvPr/>
        </p:nvSpPr>
        <p:spPr>
          <a:xfrm>
            <a:off x="822223" y="1253240"/>
            <a:ext cx="4040397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defRPr sz="2800" b="1"/>
            </a:lvl1pPr>
          </a:lstStyle>
          <a:p>
            <a:r>
              <a:t>Fixed number of outcomes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3" name="Equation"/>
              <p:cNvSpPr txBox="1"/>
              <p:nvPr/>
            </p:nvSpPr>
            <p:spPr>
              <a:xfrm>
                <a:off x="1527411" y="2110159"/>
                <a:ext cx="5146823" cy="1062229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d>
                        <m:dPr>
                          <m:ctrlPr>
                            <a:rPr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noBar"/>
                              <m:ctrlPr>
                                <a:rPr sz="3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sz="3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sz="3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</m:e>
                      </m:d>
                      <m:sSup>
                        <m:sSupPr>
                          <m:ctrlPr>
                            <a:rPr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(1−</m:t>
                      </m:r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sSup>
                        <m:sSupPr>
                          <m:ctrlPr>
                            <a:rPr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</m:oMath>
                  </m:oMathPara>
                </a14:m>
                <a:endParaRPr sz="3400"/>
              </a:p>
            </p:txBody>
          </p:sp>
        </mc:Choice>
        <mc:Fallback>
          <p:sp>
            <p:nvSpPr>
              <p:cNvPr id="283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7411" y="2110159"/>
                <a:ext cx="5146823" cy="1062229"/>
              </a:xfrm>
              <a:prstGeom prst="rect">
                <a:avLst/>
              </a:prstGeom>
              <a:blipFill>
                <a:blip r:embed="rId3"/>
                <a:stretch>
                  <a:fillRect l="-2956" r="-9113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4" name="Equation"/>
              <p:cNvSpPr txBox="1"/>
              <p:nvPr/>
            </p:nvSpPr>
            <p:spPr>
              <a:xfrm>
                <a:off x="3797906" y="4548451"/>
                <a:ext cx="1552785" cy="237502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mean</m:t>
                      </m:r>
                      <m:r>
                        <a:rPr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𝑛𝑝</m:t>
                      </m:r>
                    </m:oMath>
                  </m:oMathPara>
                </a14:m>
                <a:endParaRPr sz="2800"/>
              </a:p>
            </p:txBody>
          </p:sp>
        </mc:Choice>
        <mc:Fallback>
          <p:sp>
            <p:nvSpPr>
              <p:cNvPr id="284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7906" y="4548451"/>
                <a:ext cx="1552785" cy="237502"/>
              </a:xfrm>
              <a:prstGeom prst="rect">
                <a:avLst/>
              </a:prstGeom>
              <a:blipFill>
                <a:blip r:embed="rId4"/>
                <a:stretch>
                  <a:fillRect l="-5691" r="-17886" b="-121053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5" name="Equation"/>
              <p:cNvSpPr txBox="1"/>
              <p:nvPr/>
            </p:nvSpPr>
            <p:spPr>
              <a:xfrm>
                <a:off x="4115839" y="5203312"/>
                <a:ext cx="1332126" cy="313285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𝑛𝑝</m:t>
                      </m:r>
                      <m:r>
                        <a:rPr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(1−</m:t>
                      </m:r>
                      <m:r>
                        <a:rPr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2800"/>
              </a:p>
            </p:txBody>
          </p:sp>
        </mc:Choice>
        <mc:Fallback>
          <p:sp>
            <p:nvSpPr>
              <p:cNvPr id="285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5839" y="5203312"/>
                <a:ext cx="1332126" cy="313285"/>
              </a:xfrm>
              <a:prstGeom prst="rect">
                <a:avLst/>
              </a:prstGeom>
              <a:blipFill>
                <a:blip r:embed="rId5"/>
                <a:stretch>
                  <a:fillRect l="-9434" t="-3846" r="-26415" b="-80769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6" name="Expectation value:"/>
          <p:cNvSpPr txBox="1"/>
          <p:nvPr/>
        </p:nvSpPr>
        <p:spPr>
          <a:xfrm>
            <a:off x="1171092" y="4497111"/>
            <a:ext cx="2047465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000" b="1" i="1">
                <a:solidFill>
                  <a:srgbClr val="C00000"/>
                </a:solidFill>
              </a:defRPr>
            </a:lvl1pPr>
          </a:lstStyle>
          <a:p>
            <a:r>
              <a:t>Expectation value:</a:t>
            </a:r>
          </a:p>
        </p:txBody>
      </p:sp>
      <p:sp>
        <p:nvSpPr>
          <p:cNvPr id="287" name="Variance:"/>
          <p:cNvSpPr txBox="1"/>
          <p:nvPr/>
        </p:nvSpPr>
        <p:spPr>
          <a:xfrm>
            <a:off x="1648149" y="5189863"/>
            <a:ext cx="1093351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000" b="1" i="1">
                <a:solidFill>
                  <a:srgbClr val="C00000"/>
                </a:solidFill>
              </a:defRPr>
            </a:lvl1pPr>
          </a:lstStyle>
          <a:p>
            <a:r>
              <a:t>Variance: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8" name="=&gt; Gaussian distribution as"/>
              <p:cNvSpPr txBox="1"/>
              <p:nvPr/>
            </p:nvSpPr>
            <p:spPr>
              <a:xfrm>
                <a:off x="1892300" y="5880100"/>
                <a:ext cx="3856494" cy="373338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none" lIns="45719" rIns="45719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ts val="1000"/>
                  </a:spcBef>
                  <a:buFont typeface="Arial"/>
                  <a:defRPr sz="2000" b="1" i="1">
                    <a:solidFill>
                      <a:srgbClr val="C00000"/>
                    </a:solidFill>
                  </a:defRPr>
                </a:pPr>
                <a:r>
                  <a:t>=&gt; Gaussian distribution as </a:t>
                </a:r>
                <a14:m>
                  <m:oMath xmlns:m="http://schemas.openxmlformats.org/officeDocument/2006/math">
                    <m:r>
                      <a:rPr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→∞</m:t>
                    </m:r>
                  </m:oMath>
                </a14:m>
                <a:endParaRPr/>
              </a:p>
            </p:txBody>
          </p:sp>
        </mc:Choice>
        <mc:Fallback>
          <p:sp>
            <p:nvSpPr>
              <p:cNvPr id="288" name="=&gt; Gaussian distribution a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2300" y="5880100"/>
                <a:ext cx="3856494" cy="373338"/>
              </a:xfrm>
              <a:prstGeom prst="rect">
                <a:avLst/>
              </a:prstGeom>
              <a:blipFill>
                <a:blip r:embed="rId6"/>
                <a:stretch>
                  <a:fillRect l="-2623" t="-13333" b="-30000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9" name="Example: coin tossing"/>
          <p:cNvSpPr txBox="1"/>
          <p:nvPr/>
        </p:nvSpPr>
        <p:spPr>
          <a:xfrm>
            <a:off x="2960838" y="6347654"/>
            <a:ext cx="2366329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000" b="1" i="1">
                <a:solidFill>
                  <a:srgbClr val="C00000"/>
                </a:solidFill>
              </a:defRPr>
            </a:lvl1pPr>
          </a:lstStyle>
          <a:p>
            <a:r>
              <a:t>Example: coin tossing</a:t>
            </a:r>
          </a:p>
        </p:txBody>
      </p:sp>
      <p:sp>
        <p:nvSpPr>
          <p:cNvPr id="290" name="Rectangle"/>
          <p:cNvSpPr/>
          <p:nvPr/>
        </p:nvSpPr>
        <p:spPr>
          <a:xfrm>
            <a:off x="7383669" y="408090"/>
            <a:ext cx="4597539" cy="6041820"/>
          </a:xfrm>
          <a:prstGeom prst="rect">
            <a:avLst/>
          </a:prstGeom>
          <a:solidFill>
            <a:schemeClr val="accent6">
              <a:satOff val="-3457"/>
              <a:lumOff val="26078"/>
            </a:schemeClr>
          </a:solidFill>
          <a:ln w="12700">
            <a:solidFill>
              <a:srgbClr val="A7A7A7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19" rIns="45719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291" name="binomial_dist.png" descr="binomial_dis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80390" y="518232"/>
            <a:ext cx="4204240" cy="5821593"/>
          </a:xfrm>
          <a:prstGeom prst="rect">
            <a:avLst/>
          </a:prstGeom>
          <a:ln w="6350">
            <a:solidFill>
              <a:schemeClr val="accent1"/>
            </a:solidFill>
            <a:miter/>
          </a:ln>
        </p:spPr>
      </p:pic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Rectangle"/>
          <p:cNvSpPr/>
          <p:nvPr/>
        </p:nvSpPr>
        <p:spPr>
          <a:xfrm>
            <a:off x="899994" y="1940680"/>
            <a:ext cx="6307517" cy="2110620"/>
          </a:xfrm>
          <a:prstGeom prst="rect">
            <a:avLst/>
          </a:prstGeom>
          <a:solidFill>
            <a:srgbClr val="FFFFFF">
              <a:alpha val="87136"/>
            </a:srgbClr>
          </a:solidFill>
          <a:ln w="12700">
            <a:solidFill>
              <a:schemeClr val="accent1">
                <a:alpha val="87136"/>
              </a:schemeClr>
            </a:solidFill>
            <a:miter/>
          </a:ln>
        </p:spPr>
        <p:txBody>
          <a:bodyPr lIns="45719" rIns="45719" anchor="ctr"/>
          <a:lstStyle/>
          <a:p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4" name="observe   events drawn from   possibilities"/>
              <p:cNvSpPr txBox="1">
                <a:spLocks noGrp="1"/>
              </p:cNvSpPr>
              <p:nvPr>
                <p:ph type="body" sz="quarter" idx="1"/>
              </p:nvPr>
            </p:nvSpPr>
            <p:spPr>
              <a:xfrm>
                <a:off x="1612295" y="3422244"/>
                <a:ext cx="4882915" cy="444759"/>
              </a:xfrm>
              <a:prstGeom prst="rect">
                <a:avLst/>
              </a:prstGeom>
            </p:spPr>
            <p:txBody>
              <a:bodyPr/>
              <a:lstStyle/>
              <a:p>
                <a:pPr>
                  <a:defRPr sz="2000"/>
                </a:pPr>
                <a:r>
                  <a:t>observe </a:t>
                </a:r>
                <a14:m>
                  <m:oMath xmlns:m="http://schemas.openxmlformats.org/officeDocument/2006/math">
                    <m:r>
                      <a:rPr sz="21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t> events drawn from </a:t>
                </a:r>
                <a14:m>
                  <m:oMath xmlns:m="http://schemas.openxmlformats.org/officeDocument/2006/math">
                    <m:r>
                      <a:rPr sz="21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t> possibilities</a:t>
                </a:r>
              </a:p>
            </p:txBody>
          </p:sp>
        </mc:Choice>
        <mc:Fallback>
          <p:sp>
            <p:nvSpPr>
              <p:cNvPr id="294" name="observe   events drawn from   possibilities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"/>
              </p:nvPr>
            </p:nvSpPr>
            <p:spPr>
              <a:xfrm>
                <a:off x="1612295" y="3422244"/>
                <a:ext cx="4882915" cy="444759"/>
              </a:xfrm>
              <a:prstGeom prst="rect">
                <a:avLst/>
              </a:prstGeom>
              <a:blipFill>
                <a:blip r:embed="rId2"/>
                <a:stretch>
                  <a:fillRect l="-2073" t="-11111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13</a:t>
            </a:fld>
            <a:endParaRPr/>
          </a:p>
        </p:txBody>
      </p:sp>
      <p:sp>
        <p:nvSpPr>
          <p:cNvPr id="296" name="Key Distributions: Poisson"/>
          <p:cNvSpPr txBox="1">
            <a:spLocks noGrp="1"/>
          </p:cNvSpPr>
          <p:nvPr>
            <p:ph type="title"/>
          </p:nvPr>
        </p:nvSpPr>
        <p:spPr>
          <a:xfrm>
            <a:off x="812800" y="238125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C00000"/>
                </a:solidFill>
              </a:defRPr>
            </a:lvl1pPr>
          </a:lstStyle>
          <a:p>
            <a:r>
              <a:t>Key Distributions: Poisson</a:t>
            </a:r>
          </a:p>
        </p:txBody>
      </p:sp>
      <p:sp>
        <p:nvSpPr>
          <p:cNvPr id="297" name="The counting distribution"/>
          <p:cNvSpPr txBox="1"/>
          <p:nvPr/>
        </p:nvSpPr>
        <p:spPr>
          <a:xfrm>
            <a:off x="822223" y="1253240"/>
            <a:ext cx="4038601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defRPr sz="2800" b="1"/>
            </a:lvl1pPr>
          </a:lstStyle>
          <a:p>
            <a:r>
              <a:t>The counting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8" name="Equation"/>
              <p:cNvSpPr txBox="1"/>
              <p:nvPr/>
            </p:nvSpPr>
            <p:spPr>
              <a:xfrm>
                <a:off x="2497898" y="2094009"/>
                <a:ext cx="3111709" cy="1002179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sz="3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sz="3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p>
                              <m:r>
                                <a:rPr sz="3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  <m:sSup>
                            <m:sSupPr>
                              <m:ctrlPr>
                                <a:rPr sz="3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sz="3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sz="3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sz="3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sup>
                          </m:sSup>
                        </m:num>
                        <m:den>
                          <m:r>
                            <a:rPr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!</m:t>
                          </m:r>
                        </m:den>
                      </m:f>
                    </m:oMath>
                  </m:oMathPara>
                </a14:m>
                <a:endParaRPr sz="3400"/>
              </a:p>
            </p:txBody>
          </p:sp>
        </mc:Choice>
        <mc:Fallback>
          <p:sp>
            <p:nvSpPr>
              <p:cNvPr id="298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7898" y="2094009"/>
                <a:ext cx="3111709" cy="1002179"/>
              </a:xfrm>
              <a:prstGeom prst="rect">
                <a:avLst/>
              </a:prstGeom>
              <a:blipFill>
                <a:blip r:embed="rId3"/>
                <a:stretch>
                  <a:fillRect l="-4878" r="-12602" b="-24051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9" name="Equation"/>
              <p:cNvSpPr txBox="1"/>
              <p:nvPr/>
            </p:nvSpPr>
            <p:spPr>
              <a:xfrm>
                <a:off x="3797300" y="4546600"/>
                <a:ext cx="1358737" cy="246787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mean</m:t>
                      </m:r>
                      <m:r>
                        <a:rPr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𝜆</m:t>
                      </m:r>
                    </m:oMath>
                  </m:oMathPara>
                </a14:m>
                <a:endParaRPr sz="2800"/>
              </a:p>
            </p:txBody>
          </p:sp>
        </mc:Choice>
        <mc:Fallback>
          <p:sp>
            <p:nvSpPr>
              <p:cNvPr id="299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7300" y="4546600"/>
                <a:ext cx="1358737" cy="246787"/>
              </a:xfrm>
              <a:prstGeom prst="rect">
                <a:avLst/>
              </a:prstGeom>
              <a:blipFill>
                <a:blip r:embed="rId4"/>
                <a:stretch>
                  <a:fillRect l="-6481" r="-18519" b="-85000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0" name="Equation"/>
              <p:cNvSpPr txBox="1"/>
              <p:nvPr/>
            </p:nvSpPr>
            <p:spPr>
              <a:xfrm>
                <a:off x="4114800" y="5207000"/>
                <a:ext cx="906622" cy="307936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sz="28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𝜆</m:t>
                      </m:r>
                    </m:oMath>
                  </m:oMathPara>
                </a14:m>
                <a:endParaRPr sz="2800"/>
              </a:p>
            </p:txBody>
          </p:sp>
        </mc:Choice>
        <mc:Fallback>
          <p:sp>
            <p:nvSpPr>
              <p:cNvPr id="300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0" y="5207000"/>
                <a:ext cx="906622" cy="307936"/>
              </a:xfrm>
              <a:prstGeom prst="rect">
                <a:avLst/>
              </a:prstGeom>
              <a:blipFill>
                <a:blip r:embed="rId5"/>
                <a:stretch>
                  <a:fillRect l="-9722" r="-29167" b="-46154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1" name="Expectation value:"/>
          <p:cNvSpPr txBox="1"/>
          <p:nvPr/>
        </p:nvSpPr>
        <p:spPr>
          <a:xfrm>
            <a:off x="1168400" y="4497111"/>
            <a:ext cx="2047464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000" b="1" i="1">
                <a:solidFill>
                  <a:srgbClr val="C00000"/>
                </a:solidFill>
              </a:defRPr>
            </a:lvl1pPr>
          </a:lstStyle>
          <a:p>
            <a:r>
              <a:t>Expectation value:</a:t>
            </a:r>
          </a:p>
        </p:txBody>
      </p:sp>
      <p:sp>
        <p:nvSpPr>
          <p:cNvPr id="302" name="Variance:"/>
          <p:cNvSpPr txBox="1"/>
          <p:nvPr/>
        </p:nvSpPr>
        <p:spPr>
          <a:xfrm>
            <a:off x="1651000" y="5194300"/>
            <a:ext cx="1093351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000" b="1" i="1">
                <a:solidFill>
                  <a:srgbClr val="C00000"/>
                </a:solidFill>
              </a:defRPr>
            </a:lvl1pPr>
          </a:lstStyle>
          <a:p>
            <a:r>
              <a:t>Variance: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03" name="=&gt; Gaussian distribution as"/>
              <p:cNvSpPr txBox="1"/>
              <p:nvPr/>
            </p:nvSpPr>
            <p:spPr>
              <a:xfrm>
                <a:off x="1891861" y="5882616"/>
                <a:ext cx="3794460" cy="381684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none" lIns="45719" rIns="45719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ts val="1000"/>
                  </a:spcBef>
                  <a:buFont typeface="Arial"/>
                  <a:defRPr sz="2000" b="1" i="1">
                    <a:solidFill>
                      <a:srgbClr val="C00000"/>
                    </a:solidFill>
                  </a:defRPr>
                </a:pPr>
                <a:r>
                  <a:t>=&gt; Gaussian distribution as </a:t>
                </a:r>
                <a14:m>
                  <m:oMath xmlns:m="http://schemas.openxmlformats.org/officeDocument/2006/math">
                    <m:r>
                      <a:rPr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→∞</m:t>
                    </m:r>
                  </m:oMath>
                </a14:m>
                <a:endParaRPr/>
              </a:p>
            </p:txBody>
          </p:sp>
        </mc:Choice>
        <mc:Fallback>
          <p:sp>
            <p:nvSpPr>
              <p:cNvPr id="303" name="=&gt; Gaussian distribution a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1861" y="5882616"/>
                <a:ext cx="3794460" cy="381684"/>
              </a:xfrm>
              <a:prstGeom prst="rect">
                <a:avLst/>
              </a:prstGeom>
              <a:blipFill>
                <a:blip r:embed="rId6"/>
                <a:stretch>
                  <a:fillRect l="-2667" t="-12903" b="-29032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4" name="Example: histogram (or photon) counting"/>
          <p:cNvSpPr txBox="1"/>
          <p:nvPr/>
        </p:nvSpPr>
        <p:spPr>
          <a:xfrm>
            <a:off x="2738855" y="6373054"/>
            <a:ext cx="4430203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000" b="1" i="1">
                <a:solidFill>
                  <a:srgbClr val="C00000"/>
                </a:solidFill>
              </a:defRPr>
            </a:lvl1pPr>
          </a:lstStyle>
          <a:p>
            <a:r>
              <a:t>Example: histogram (or photon) counting</a:t>
            </a:r>
          </a:p>
        </p:txBody>
      </p:sp>
      <p:sp>
        <p:nvSpPr>
          <p:cNvPr id="305" name="NB: Other common distributions include ‘uniform’, ‘gamma’, ‘log-normal’…"/>
          <p:cNvSpPr txBox="1"/>
          <p:nvPr/>
        </p:nvSpPr>
        <p:spPr>
          <a:xfrm>
            <a:off x="4061639" y="113585"/>
            <a:ext cx="8015348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000" b="1" i="1">
                <a:solidFill>
                  <a:srgbClr val="C00000"/>
                </a:solidFill>
              </a:defRPr>
            </a:pPr>
            <a:r>
              <a:t>NB: </a:t>
            </a:r>
            <a:r>
              <a:rPr i="0"/>
              <a:t>Other common distributions include ‘uniform’, ‘gamma’, ‘log-normal’… </a:t>
            </a:r>
          </a:p>
        </p:txBody>
      </p:sp>
      <p:sp>
        <p:nvSpPr>
          <p:cNvPr id="306" name="Rectangle"/>
          <p:cNvSpPr/>
          <p:nvPr/>
        </p:nvSpPr>
        <p:spPr>
          <a:xfrm>
            <a:off x="7383669" y="408090"/>
            <a:ext cx="4597539" cy="6041820"/>
          </a:xfrm>
          <a:prstGeom prst="rect">
            <a:avLst/>
          </a:prstGeom>
          <a:solidFill>
            <a:schemeClr val="accent6">
              <a:satOff val="-3457"/>
              <a:lumOff val="26078"/>
            </a:schemeClr>
          </a:solidFill>
          <a:ln w="12700">
            <a:solidFill>
              <a:srgbClr val="A7A7A7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19" rIns="45719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307" name="poisson_dist.png" descr="poisson_dis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40173" y="488156"/>
            <a:ext cx="4284505" cy="5881589"/>
          </a:xfrm>
          <a:prstGeom prst="rect">
            <a:avLst/>
          </a:prstGeom>
          <a:ln w="6350">
            <a:solidFill>
              <a:schemeClr val="accent1"/>
            </a:solidFill>
            <a:miter/>
          </a:ln>
        </p:spPr>
      </p:pic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Rectangle"/>
          <p:cNvSpPr/>
          <p:nvPr/>
        </p:nvSpPr>
        <p:spPr>
          <a:xfrm>
            <a:off x="899994" y="1940680"/>
            <a:ext cx="6307517" cy="2110620"/>
          </a:xfrm>
          <a:prstGeom prst="rect">
            <a:avLst/>
          </a:prstGeom>
          <a:solidFill>
            <a:srgbClr val="FFFFFF">
              <a:alpha val="87136"/>
            </a:srgbClr>
          </a:solidFill>
          <a:ln w="12700">
            <a:solidFill>
              <a:schemeClr val="accent1">
                <a:alpha val="87136"/>
              </a:schemeClr>
            </a:solidFill>
            <a:miter/>
          </a:ln>
        </p:spPr>
        <p:txBody>
          <a:bodyPr lIns="45719" rIns="45719" anchor="ctr"/>
          <a:lstStyle/>
          <a:p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10" name="is the number of degrees of freedom"/>
              <p:cNvSpPr txBox="1">
                <a:spLocks noGrp="1"/>
              </p:cNvSpPr>
              <p:nvPr>
                <p:ph type="body" sz="quarter" idx="1"/>
              </p:nvPr>
            </p:nvSpPr>
            <p:spPr>
              <a:xfrm>
                <a:off x="1792229" y="3353942"/>
                <a:ext cx="4882916" cy="444759"/>
              </a:xfrm>
              <a:prstGeom prst="rect">
                <a:avLst/>
              </a:prstGeom>
            </p:spPr>
            <p:txBody>
              <a:bodyPr/>
              <a:lstStyle/>
              <a:p>
                <a:pPr>
                  <a:defRPr sz="2000"/>
                </a:pPr>
                <a14:m>
                  <m:oMath xmlns:m="http://schemas.openxmlformats.org/officeDocument/2006/math">
                    <m:r>
                      <a:rPr sz="21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𝜈</m:t>
                    </m:r>
                  </m:oMath>
                </a14:m>
                <a:r>
                  <a:t> is the number of degrees of freedom</a:t>
                </a:r>
              </a:p>
            </p:txBody>
          </p:sp>
        </mc:Choice>
        <mc:Fallback>
          <p:sp>
            <p:nvSpPr>
              <p:cNvPr id="310" name="is the number of degrees of freedom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"/>
              </p:nvPr>
            </p:nvSpPr>
            <p:spPr>
              <a:xfrm>
                <a:off x="1792229" y="3353942"/>
                <a:ext cx="4882916" cy="444759"/>
              </a:xfrm>
              <a:prstGeom prst="rect">
                <a:avLst/>
              </a:prstGeom>
              <a:blipFill>
                <a:blip r:embed="rId2"/>
                <a:stretch>
                  <a:fillRect l="-519" t="-11111" b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14</a:t>
            </a:fld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12" name="Key Distributions:"/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812800" y="212725"/>
                <a:ext cx="10515600" cy="1325563"/>
              </a:xfrm>
              <a:prstGeom prst="rect">
                <a:avLst/>
              </a:prstGeom>
            </p:spPr>
            <p:txBody>
              <a:bodyPr/>
              <a:lstStyle/>
              <a:p>
                <a:pPr>
                  <a:defRPr>
                    <a:solidFill>
                      <a:srgbClr val="C00000"/>
                    </a:solidFill>
                  </a:defRPr>
                </a:pPr>
                <a:r>
                  <a:t>Key Distributions: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sz="49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sz="49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sz="49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/>
              </a:p>
            </p:txBody>
          </p:sp>
        </mc:Choice>
        <mc:Fallback>
          <p:sp>
            <p:nvSpPr>
              <p:cNvPr id="312" name="Key Distributions: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12800" y="212725"/>
                <a:ext cx="10515600" cy="1325563"/>
              </a:xfrm>
              <a:prstGeom prst="rect">
                <a:avLst/>
              </a:prstGeom>
              <a:blipFill>
                <a:blip r:embed="rId3"/>
                <a:stretch>
                  <a:fillRect l="-2774"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3" name="Related to the Gamma distribution"/>
          <p:cNvSpPr txBox="1"/>
          <p:nvPr/>
        </p:nvSpPr>
        <p:spPr>
          <a:xfrm>
            <a:off x="822223" y="1253240"/>
            <a:ext cx="5425329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defRPr sz="2800" b="1"/>
            </a:lvl1pPr>
          </a:lstStyle>
          <a:p>
            <a:r>
              <a:t>Related to the Gamma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14" name="Equation"/>
              <p:cNvSpPr txBox="1"/>
              <p:nvPr/>
            </p:nvSpPr>
            <p:spPr>
              <a:xfrm>
                <a:off x="2059805" y="2463506"/>
                <a:ext cx="3987895" cy="523243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∝(</m:t>
                      </m:r>
                      <m:sSup>
                        <m:sSupPr>
                          <m:ctrlPr>
                            <a:rPr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𝜒</m:t>
                          </m:r>
                        </m:e>
                        <m:sup>
                          <m:r>
                            <a:rPr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sSup>
                        <m:sSupPr>
                          <m:ctrlPr>
                            <a:rPr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f>
                            <m:fPr>
                              <m:ctrlPr>
                                <a:rPr sz="3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sz="3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𝜈</m:t>
                              </m:r>
                              <m:r>
                                <a:rPr sz="3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−2</m:t>
                              </m:r>
                            </m:num>
                            <m:den>
                              <m:r>
                                <a:rPr sz="3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r>
                        <m:rPr>
                          <m:sty m:val="p"/>
                        </m:rP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(−</m:t>
                      </m:r>
                      <m:sSup>
                        <m:sSupPr>
                          <m:ctrlPr>
                            <a:rPr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𝜒</m:t>
                          </m:r>
                        </m:e>
                        <m:sup>
                          <m:r>
                            <a:rPr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/2)</m:t>
                      </m:r>
                    </m:oMath>
                  </m:oMathPara>
                </a14:m>
                <a:endParaRPr sz="3400"/>
              </a:p>
            </p:txBody>
          </p:sp>
        </mc:Choice>
        <mc:Fallback>
          <p:sp>
            <p:nvSpPr>
              <p:cNvPr id="314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9805" y="2463506"/>
                <a:ext cx="3987895" cy="523243"/>
              </a:xfrm>
              <a:prstGeom prst="rect">
                <a:avLst/>
              </a:prstGeom>
              <a:blipFill>
                <a:blip r:embed="rId4"/>
                <a:stretch>
                  <a:fillRect l="-3810" t="-2326" r="-18730" b="-76744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5" name="Equation"/>
              <p:cNvSpPr txBox="1"/>
              <p:nvPr/>
            </p:nvSpPr>
            <p:spPr>
              <a:xfrm>
                <a:off x="3797300" y="4546600"/>
                <a:ext cx="2623721" cy="305105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mean</m:t>
                      </m:r>
                      <m:r>
                        <a:rPr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𝜈</m:t>
                      </m:r>
                      <m:r>
                        <a:rPr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</m:oMath>
                  </m:oMathPara>
                </a14:m>
                <a:endParaRPr sz="2800"/>
              </a:p>
            </p:txBody>
          </p:sp>
        </mc:Choice>
        <mc:Fallback>
          <p:sp>
            <p:nvSpPr>
              <p:cNvPr id="315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7300" y="4546600"/>
                <a:ext cx="2623721" cy="305105"/>
              </a:xfrm>
              <a:prstGeom prst="rect">
                <a:avLst/>
              </a:prstGeom>
              <a:blipFill>
                <a:blip r:embed="rId5"/>
                <a:stretch>
                  <a:fillRect l="-3382" r="-13043" b="-68000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6" name="Equation"/>
              <p:cNvSpPr txBox="1"/>
              <p:nvPr/>
            </p:nvSpPr>
            <p:spPr>
              <a:xfrm>
                <a:off x="4114800" y="5207000"/>
                <a:ext cx="1094379" cy="308647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sz="28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𝜈</m:t>
                      </m:r>
                    </m:oMath>
                  </m:oMathPara>
                </a14:m>
                <a:endParaRPr sz="2800"/>
              </a:p>
            </p:txBody>
          </p:sp>
        </mc:Choice>
        <mc:Fallback>
          <p:sp>
            <p:nvSpPr>
              <p:cNvPr id="316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0" y="5207000"/>
                <a:ext cx="1094379" cy="308647"/>
              </a:xfrm>
              <a:prstGeom prst="rect">
                <a:avLst/>
              </a:prstGeom>
              <a:blipFill>
                <a:blip r:embed="rId6"/>
                <a:stretch>
                  <a:fillRect l="-8046" r="-24138" b="-42308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7" name="Expectation value:"/>
          <p:cNvSpPr txBox="1"/>
          <p:nvPr/>
        </p:nvSpPr>
        <p:spPr>
          <a:xfrm>
            <a:off x="1168400" y="4497111"/>
            <a:ext cx="2047464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000" b="1" i="1">
                <a:solidFill>
                  <a:srgbClr val="C00000"/>
                </a:solidFill>
              </a:defRPr>
            </a:lvl1pPr>
          </a:lstStyle>
          <a:p>
            <a:r>
              <a:t>Expectation value:</a:t>
            </a:r>
          </a:p>
        </p:txBody>
      </p:sp>
      <p:sp>
        <p:nvSpPr>
          <p:cNvPr id="318" name="Variance:"/>
          <p:cNvSpPr txBox="1"/>
          <p:nvPr/>
        </p:nvSpPr>
        <p:spPr>
          <a:xfrm>
            <a:off x="1651000" y="5194300"/>
            <a:ext cx="1093351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000" b="1" i="1">
                <a:solidFill>
                  <a:srgbClr val="C00000"/>
                </a:solidFill>
              </a:defRPr>
            </a:lvl1pPr>
          </a:lstStyle>
          <a:p>
            <a:r>
              <a:t>Variance: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19" name="i.e. if the model is correct then we expect"/>
              <p:cNvSpPr txBox="1"/>
              <p:nvPr/>
            </p:nvSpPr>
            <p:spPr>
              <a:xfrm>
                <a:off x="552177" y="5902476"/>
                <a:ext cx="6273003" cy="513919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none" lIns="45719" rIns="45719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ts val="1000"/>
                  </a:spcBef>
                  <a:buFont typeface="Arial"/>
                  <a:defRPr sz="2000" b="1" i="1">
                    <a:solidFill>
                      <a:srgbClr val="C00000"/>
                    </a:solidFill>
                  </a:defRPr>
                </a:pPr>
                <a:r>
                  <a:t>i.e. if the model is correct then we expect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sz="215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sz="21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sz="21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∼</m:t>
                    </m:r>
                    <m:r>
                      <a:rPr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𝜈</m:t>
                    </m:r>
                    <m:r>
                      <a:rPr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±</m:t>
                    </m:r>
                    <m:rad>
                      <m:radPr>
                        <m:degHide m:val="on"/>
                        <m:ctrlPr>
                          <a:rPr sz="21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sz="21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(2</m:t>
                        </m:r>
                        <m:r>
                          <a:rPr sz="21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𝜈</m:t>
                        </m:r>
                        <m:r>
                          <a:rPr sz="21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rad>
                  </m:oMath>
                </a14:m>
                <a:endParaRPr/>
              </a:p>
            </p:txBody>
          </p:sp>
        </mc:Choice>
        <mc:Fallback>
          <p:sp>
            <p:nvSpPr>
              <p:cNvPr id="319" name="i.e. if the model is correct then we expec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177" y="5902476"/>
                <a:ext cx="6273003" cy="513919"/>
              </a:xfrm>
              <a:prstGeom prst="rect">
                <a:avLst/>
              </a:prstGeom>
              <a:blipFill>
                <a:blip r:embed="rId7"/>
                <a:stretch>
                  <a:fillRect l="-1616" r="-2828" b="-2381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0" name="Rectangle"/>
          <p:cNvSpPr/>
          <p:nvPr/>
        </p:nvSpPr>
        <p:spPr>
          <a:xfrm>
            <a:off x="7383669" y="408090"/>
            <a:ext cx="4597539" cy="6041820"/>
          </a:xfrm>
          <a:prstGeom prst="rect">
            <a:avLst/>
          </a:prstGeom>
          <a:solidFill>
            <a:schemeClr val="accent6">
              <a:satOff val="-3457"/>
              <a:lumOff val="26078"/>
            </a:schemeClr>
          </a:solidFill>
          <a:ln w="12700">
            <a:solidFill>
              <a:srgbClr val="A7A7A7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19" rIns="45719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321" name="chi2_dist.png" descr="chi2_dist.png"/>
          <p:cNvPicPr>
            <a:picLocks noChangeAspect="1"/>
          </p:cNvPicPr>
          <p:nvPr/>
        </p:nvPicPr>
        <p:blipFill>
          <a:blip r:embed="rId8"/>
          <a:srcRect l="53" r="53"/>
          <a:stretch>
            <a:fillRect/>
          </a:stretch>
        </p:blipFill>
        <p:spPr>
          <a:xfrm>
            <a:off x="7550426" y="475456"/>
            <a:ext cx="4289399" cy="5906813"/>
          </a:xfrm>
          <a:prstGeom prst="rect">
            <a:avLst/>
          </a:prstGeom>
          <a:ln w="6350">
            <a:solidFill>
              <a:schemeClr val="accent1"/>
            </a:solidFill>
            <a:miter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22" name="Equation"/>
              <p:cNvSpPr txBox="1"/>
              <p:nvPr/>
            </p:nvSpPr>
            <p:spPr>
              <a:xfrm>
                <a:off x="4788145" y="6408911"/>
                <a:ext cx="892989" cy="268469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sz="20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2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𝜒</m:t>
                          </m:r>
                        </m:e>
                        <m:sup>
                          <m:r>
                            <a:rPr sz="2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𝜈</m:t>
                      </m:r>
                      <m:r>
                        <a:rPr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∼1</m:t>
                      </m:r>
                    </m:oMath>
                  </m:oMathPara>
                </a14:m>
                <a:endParaRPr sz="200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322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8145" y="6408911"/>
                <a:ext cx="892989" cy="268469"/>
              </a:xfrm>
              <a:prstGeom prst="rect">
                <a:avLst/>
              </a:prstGeom>
              <a:blipFill>
                <a:blip r:embed="rId9"/>
                <a:stretch>
                  <a:fillRect l="-8333" r="-20833" b="-50000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Rectangle"/>
          <p:cNvSpPr/>
          <p:nvPr/>
        </p:nvSpPr>
        <p:spPr>
          <a:xfrm>
            <a:off x="854906" y="2373690"/>
            <a:ext cx="5687673" cy="2110620"/>
          </a:xfrm>
          <a:prstGeom prst="rect">
            <a:avLst/>
          </a:prstGeom>
          <a:solidFill>
            <a:srgbClr val="FFFFFF">
              <a:alpha val="87136"/>
            </a:srgbClr>
          </a:solidFill>
          <a:ln w="12700">
            <a:solidFill>
              <a:schemeClr val="accent1">
                <a:alpha val="87136"/>
              </a:schemeClr>
            </a:solidFill>
            <a:miter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32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15</a:t>
            </a:fld>
            <a:endParaRPr/>
          </a:p>
        </p:txBody>
      </p:sp>
      <p:sp>
        <p:nvSpPr>
          <p:cNvPr id="326" name="Title 1"/>
          <p:cNvSpPr txBox="1"/>
          <p:nvPr/>
        </p:nvSpPr>
        <p:spPr>
          <a:xfrm>
            <a:off x="812800" y="238125"/>
            <a:ext cx="10515600" cy="13255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normAutofit/>
          </a:bodyPr>
          <a:lstStyle>
            <a:lvl1pPr>
              <a:lnSpc>
                <a:spcPct val="90000"/>
              </a:lnSpc>
              <a:defRPr sz="4400">
                <a:solidFill>
                  <a:srgbClr val="C00000"/>
                </a:solidFill>
                <a:latin typeface="Carlito"/>
                <a:ea typeface="Carlito"/>
                <a:cs typeface="Carlito"/>
                <a:sym typeface="Carlito"/>
              </a:defRPr>
            </a:lvl1pPr>
          </a:lstStyle>
          <a:p>
            <a:r>
              <a:t>Finding the Distribution</a:t>
            </a:r>
          </a:p>
        </p:txBody>
      </p:sp>
      <p:sp>
        <p:nvSpPr>
          <p:cNvPr id="327" name="Kolmogorov-Smirnov (KS) testing"/>
          <p:cNvSpPr txBox="1"/>
          <p:nvPr/>
        </p:nvSpPr>
        <p:spPr>
          <a:xfrm>
            <a:off x="822223" y="1227840"/>
            <a:ext cx="5214807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defRPr sz="2800" b="1" u="sng"/>
            </a:lvl1pPr>
          </a:lstStyle>
          <a:p>
            <a:r>
              <a:t>Kolmogorov-Smirnov (KS) testing</a:t>
            </a:r>
          </a:p>
        </p:txBody>
      </p:sp>
      <p:sp>
        <p:nvSpPr>
          <p:cNvPr id="328" name="The maximal distance between…"/>
          <p:cNvSpPr txBox="1"/>
          <p:nvPr/>
        </p:nvSpPr>
        <p:spPr>
          <a:xfrm>
            <a:off x="942377" y="2456315"/>
            <a:ext cx="5363965" cy="8385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 sz="2200"/>
            </a:pPr>
            <a:r>
              <a:t>The maximal distance between </a:t>
            </a:r>
          </a:p>
          <a:p>
            <a:pPr>
              <a:lnSpc>
                <a:spcPct val="90000"/>
              </a:lnSpc>
              <a:spcBef>
                <a:spcPts val="1000"/>
              </a:spcBef>
              <a:defRPr sz="2200"/>
            </a:pPr>
            <a:r>
              <a:t>Cumulative Density Functions (CDF)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9" name="Equation"/>
              <p:cNvSpPr txBox="1"/>
              <p:nvPr/>
            </p:nvSpPr>
            <p:spPr>
              <a:xfrm>
                <a:off x="1488917" y="3580757"/>
                <a:ext cx="4419652" cy="578274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3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sz="3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sz="3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nor/>
                            </m:rPr>
                            <a:rPr sz="3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sz="3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−∞&lt;</m:t>
                          </m:r>
                          <m:r>
                            <a:rPr sz="3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sz="3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&lt;∞</m:t>
                          </m:r>
                        </m:lim>
                      </m:limLow>
                      <m:r>
                        <a:rPr sz="3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sz="3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3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sz="3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  <m:r>
                        <a:rPr sz="3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3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sz="3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)−</m:t>
                      </m:r>
                      <m:r>
                        <a:rPr sz="3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sz="3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3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sz="3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)|</m:t>
                      </m:r>
                    </m:oMath>
                  </m:oMathPara>
                </a14:m>
                <a:endParaRPr sz="3100"/>
              </a:p>
            </p:txBody>
          </p:sp>
        </mc:Choice>
        <mc:Fallback>
          <p:sp>
            <p:nvSpPr>
              <p:cNvPr id="329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8917" y="3580757"/>
                <a:ext cx="4419652" cy="578274"/>
              </a:xfrm>
              <a:prstGeom prst="rect">
                <a:avLst/>
              </a:prstGeom>
              <a:blipFill>
                <a:blip r:embed="rId2"/>
                <a:stretch>
                  <a:fillRect l="-3152" r="-8883" b="-19149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0" name="Null hypothesis: the two distributions are the same"/>
          <p:cNvSpPr txBox="1"/>
          <p:nvPr/>
        </p:nvSpPr>
        <p:spPr>
          <a:xfrm>
            <a:off x="817990" y="1639916"/>
            <a:ext cx="9253803" cy="385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 sz="2200"/>
            </a:pPr>
            <a:r>
              <a:t>Null hypothesis: the </a:t>
            </a:r>
            <a:r>
              <a:rPr b="1"/>
              <a:t>two distributions are the same</a:t>
            </a:r>
          </a:p>
        </p:txBody>
      </p:sp>
      <p:sp>
        <p:nvSpPr>
          <p:cNvPr id="331" name="Recall: a CDF is a rank-ordered PDF."/>
          <p:cNvSpPr txBox="1"/>
          <p:nvPr/>
        </p:nvSpPr>
        <p:spPr>
          <a:xfrm>
            <a:off x="859761" y="4625785"/>
            <a:ext cx="5012731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defRPr sz="2000" i="1"/>
            </a:lvl1pPr>
          </a:lstStyle>
          <a:p>
            <a:r>
              <a:t>Recall: a CDF is a rank-ordered PDF. </a:t>
            </a:r>
          </a:p>
        </p:txBody>
      </p:sp>
      <p:sp>
        <p:nvSpPr>
          <p:cNvPr id="332" name="NB: See also Anderson-Darling test"/>
          <p:cNvSpPr txBox="1"/>
          <p:nvPr/>
        </p:nvSpPr>
        <p:spPr>
          <a:xfrm>
            <a:off x="911905" y="6112599"/>
            <a:ext cx="4131293" cy="385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200" b="1" i="1">
                <a:solidFill>
                  <a:srgbClr val="C00000"/>
                </a:solidFill>
              </a:defRPr>
            </a:lvl1pPr>
          </a:lstStyle>
          <a:p>
            <a:r>
              <a:t>NB: See also Anderson-Darling test</a:t>
            </a:r>
          </a:p>
        </p:txBody>
      </p:sp>
      <p:sp>
        <p:nvSpPr>
          <p:cNvPr id="333" name="No assumptions about the underlying distribution"/>
          <p:cNvSpPr txBox="1"/>
          <p:nvPr/>
        </p:nvSpPr>
        <p:spPr>
          <a:xfrm>
            <a:off x="877257" y="5514923"/>
            <a:ext cx="5888766" cy="385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defRPr sz="2200"/>
            </a:lvl1pPr>
          </a:lstStyle>
          <a:p>
            <a:r>
              <a:t>No assumptions about the underlying distribution</a:t>
            </a:r>
          </a:p>
        </p:txBody>
      </p:sp>
      <p:sp>
        <p:nvSpPr>
          <p:cNvPr id="334" name="Common in data-science"/>
          <p:cNvSpPr txBox="1"/>
          <p:nvPr/>
        </p:nvSpPr>
        <p:spPr>
          <a:xfrm>
            <a:off x="9251571" y="156299"/>
            <a:ext cx="2675395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000" b="1" i="1">
                <a:solidFill>
                  <a:srgbClr val="C00000"/>
                </a:solidFill>
              </a:defRPr>
            </a:lvl1pPr>
          </a:lstStyle>
          <a:p>
            <a:r>
              <a:t>Common in data-science</a:t>
            </a:r>
          </a:p>
        </p:txBody>
      </p:sp>
      <p:sp>
        <p:nvSpPr>
          <p:cNvPr id="335" name="Rectangle"/>
          <p:cNvSpPr/>
          <p:nvPr/>
        </p:nvSpPr>
        <p:spPr>
          <a:xfrm>
            <a:off x="6779102" y="2077789"/>
            <a:ext cx="5202106" cy="4321321"/>
          </a:xfrm>
          <a:prstGeom prst="rect">
            <a:avLst/>
          </a:prstGeom>
          <a:solidFill>
            <a:schemeClr val="accent6">
              <a:satOff val="-3457"/>
              <a:lumOff val="26078"/>
            </a:schemeClr>
          </a:solidFill>
          <a:ln w="12700">
            <a:solidFill>
              <a:srgbClr val="A7A7A7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19" rIns="45719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336" name="ks_test.png" descr="ks_test.png"/>
          <p:cNvPicPr>
            <a:picLocks noChangeAspect="1"/>
          </p:cNvPicPr>
          <p:nvPr/>
        </p:nvPicPr>
        <p:blipFill>
          <a:blip r:embed="rId3"/>
          <a:srcRect b="1514"/>
          <a:stretch>
            <a:fillRect/>
          </a:stretch>
        </p:blipFill>
        <p:spPr>
          <a:xfrm>
            <a:off x="6883833" y="2142700"/>
            <a:ext cx="5012694" cy="4191557"/>
          </a:xfrm>
          <a:prstGeom prst="rect">
            <a:avLst/>
          </a:prstGeom>
          <a:ln w="12700">
            <a:miter lim="400000"/>
          </a:ln>
        </p:spPr>
      </p:pic>
      <p:sp>
        <p:nvSpPr>
          <p:cNvPr id="337" name="Line"/>
          <p:cNvSpPr/>
          <p:nvPr/>
        </p:nvSpPr>
        <p:spPr>
          <a:xfrm flipV="1">
            <a:off x="10010913" y="3073788"/>
            <a:ext cx="1" cy="838583"/>
          </a:xfrm>
          <a:prstGeom prst="line">
            <a:avLst/>
          </a:prstGeom>
          <a:ln w="50800">
            <a:solidFill>
              <a:srgbClr val="000000"/>
            </a:solidFill>
            <a:miter/>
            <a:headEnd type="triangle"/>
            <a:tailEnd type="triangle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38" name="D"/>
          <p:cNvSpPr txBox="1"/>
          <p:nvPr/>
        </p:nvSpPr>
        <p:spPr>
          <a:xfrm>
            <a:off x="9529913" y="3304310"/>
            <a:ext cx="280267" cy="385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defRPr sz="2200" b="1"/>
            </a:lvl1pPr>
          </a:lstStyle>
          <a:p>
            <a:r>
              <a:t>D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Rectangle"/>
          <p:cNvSpPr/>
          <p:nvPr/>
        </p:nvSpPr>
        <p:spPr>
          <a:xfrm>
            <a:off x="3252163" y="3140063"/>
            <a:ext cx="5687674" cy="2110620"/>
          </a:xfrm>
          <a:prstGeom prst="rect">
            <a:avLst/>
          </a:prstGeom>
          <a:solidFill>
            <a:srgbClr val="FFFFFF">
              <a:alpha val="87136"/>
            </a:srgbClr>
          </a:solidFill>
          <a:ln w="12700">
            <a:solidFill>
              <a:schemeClr val="accent1">
                <a:alpha val="87136"/>
              </a:schemeClr>
            </a:solidFill>
            <a:miter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34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16</a:t>
            </a:fld>
            <a:endParaRPr/>
          </a:p>
        </p:txBody>
      </p:sp>
      <p:sp>
        <p:nvSpPr>
          <p:cNvPr id="342" name="Title 1"/>
          <p:cNvSpPr txBox="1"/>
          <p:nvPr/>
        </p:nvSpPr>
        <p:spPr>
          <a:xfrm>
            <a:off x="812800" y="238125"/>
            <a:ext cx="10515600" cy="13255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normAutofit/>
          </a:bodyPr>
          <a:lstStyle>
            <a:lvl1pPr>
              <a:lnSpc>
                <a:spcPct val="90000"/>
              </a:lnSpc>
              <a:defRPr sz="4400">
                <a:solidFill>
                  <a:srgbClr val="C00000"/>
                </a:solidFill>
                <a:latin typeface="Carlito"/>
                <a:ea typeface="Carlito"/>
                <a:cs typeface="Carlito"/>
                <a:sym typeface="Carlito"/>
              </a:defRPr>
            </a:lvl1pPr>
          </a:lstStyle>
          <a:p>
            <a:r>
              <a:t>Testing for Correlations</a:t>
            </a:r>
          </a:p>
        </p:txBody>
      </p:sp>
      <p:sp>
        <p:nvSpPr>
          <p:cNvPr id="343" name="Spearman’s Rank (SR)"/>
          <p:cNvSpPr txBox="1"/>
          <p:nvPr/>
        </p:nvSpPr>
        <p:spPr>
          <a:xfrm>
            <a:off x="822223" y="1278640"/>
            <a:ext cx="5214807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defRPr sz="2800" b="1" u="sng"/>
            </a:lvl1pPr>
          </a:lstStyle>
          <a:p>
            <a:r>
              <a:t>Spearman’s Rank (SR)</a:t>
            </a:r>
          </a:p>
        </p:txBody>
      </p:sp>
      <p:sp>
        <p:nvSpPr>
          <p:cNvPr id="344" name="Compares the ordered rankings (R) of two datasets"/>
          <p:cNvSpPr txBox="1"/>
          <p:nvPr/>
        </p:nvSpPr>
        <p:spPr>
          <a:xfrm>
            <a:off x="870410" y="2620633"/>
            <a:ext cx="7009476" cy="385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defRPr sz="2200"/>
            </a:lvl1pPr>
          </a:lstStyle>
          <a:p>
            <a:r>
              <a:t>Compares the ordered rankings (R) of two datasets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45" name="Equation"/>
              <p:cNvSpPr txBox="1"/>
              <p:nvPr/>
            </p:nvSpPr>
            <p:spPr>
              <a:xfrm>
                <a:off x="3711210" y="3376867"/>
                <a:ext cx="4769580" cy="1108539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31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3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sz="3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sz="3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ctrlPr>
                            <a:rPr sz="3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sz="3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sz="3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</m:e>
                            <m:sub>
                              <m:r>
                                <a:rPr sz="3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sz="3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sz="3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</m:sSubSup>
                          <m:r>
                            <a:rPr sz="3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sz="3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sz="3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sz="3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3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sz="3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sz="3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)−</m:t>
                          </m:r>
                          <m:r>
                            <a:rPr sz="3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sz="3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sz="3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3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sz="3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sz="3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sSup>
                            <m:sSupPr>
                              <m:ctrlPr>
                                <a:rPr sz="3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sz="3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  <m:sup>
                              <m:r>
                                <a:rPr sz="3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sz="3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sz="3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sz="3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sz="3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p>
                              <m:r>
                                <a:rPr sz="3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sz="3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−1)</m:t>
                          </m:r>
                        </m:den>
                      </m:f>
                    </m:oMath>
                  </m:oMathPara>
                </a14:m>
                <a:endParaRPr sz="3100"/>
              </a:p>
            </p:txBody>
          </p:sp>
        </mc:Choice>
        <mc:Fallback>
          <p:sp>
            <p:nvSpPr>
              <p:cNvPr id="345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1210" y="3376867"/>
                <a:ext cx="4769580" cy="1108539"/>
              </a:xfrm>
              <a:prstGeom prst="rect">
                <a:avLst/>
              </a:prstGeom>
              <a:blipFill>
                <a:blip r:embed="rId2"/>
                <a:stretch>
                  <a:fillRect l="-3191" r="-9043" b="-11236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6" name="Testing whether two variables are related"/>
          <p:cNvSpPr txBox="1"/>
          <p:nvPr/>
        </p:nvSpPr>
        <p:spPr>
          <a:xfrm>
            <a:off x="817990" y="1703416"/>
            <a:ext cx="9253803" cy="385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 sz="2200"/>
            </a:pPr>
            <a:r>
              <a:t>Testing whether </a:t>
            </a:r>
            <a:r>
              <a:rPr b="1"/>
              <a:t>two variables are related</a:t>
            </a:r>
          </a:p>
        </p:txBody>
      </p:sp>
      <p:sp>
        <p:nvSpPr>
          <p:cNvPr id="347" name="NB: A non-parametric version of the Pearson test"/>
          <p:cNvSpPr txBox="1"/>
          <p:nvPr/>
        </p:nvSpPr>
        <p:spPr>
          <a:xfrm>
            <a:off x="1013505" y="6138874"/>
            <a:ext cx="5249873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000" b="1" i="1">
                <a:solidFill>
                  <a:srgbClr val="C00000"/>
                </a:solidFill>
              </a:defRPr>
            </a:lvl1pPr>
          </a:lstStyle>
          <a:p>
            <a:r>
              <a:t>NB: A non-parametric version of the Pearson test</a:t>
            </a:r>
          </a:p>
        </p:txBody>
      </p:sp>
      <p:sp>
        <p:nvSpPr>
          <p:cNvPr id="348" name="Output will be a value between -1 and 1."/>
          <p:cNvSpPr txBox="1"/>
          <p:nvPr/>
        </p:nvSpPr>
        <p:spPr>
          <a:xfrm>
            <a:off x="3657930" y="4650543"/>
            <a:ext cx="4799940" cy="385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defRPr sz="2200"/>
            </a:lvl1pPr>
          </a:lstStyle>
          <a:p>
            <a:r>
              <a:t>Output will be a value between -1 and 1. </a:t>
            </a:r>
          </a:p>
        </p:txBody>
      </p:sp>
      <p:sp>
        <p:nvSpPr>
          <p:cNvPr id="349" name="Null Hypothesis: the two variables are uncorrelated"/>
          <p:cNvSpPr txBox="1"/>
          <p:nvPr/>
        </p:nvSpPr>
        <p:spPr>
          <a:xfrm>
            <a:off x="1008598" y="5481924"/>
            <a:ext cx="7630255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 sz="2800" b="1"/>
            </a:pPr>
            <a:r>
              <a:rPr b="0"/>
              <a:t>Null Hypothesis:</a:t>
            </a:r>
            <a:r>
              <a:t> the two variables are uncorrelated</a:t>
            </a:r>
          </a:p>
        </p:txBody>
      </p:sp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Slide Number Placeholder 3"/>
          <p:cNvSpPr txBox="1">
            <a:spLocks noGrp="1"/>
          </p:cNvSpPr>
          <p:nvPr>
            <p:ph type="sldNum" sz="quarter" idx="2"/>
          </p:nvPr>
        </p:nvSpPr>
        <p:spPr>
          <a:xfrm>
            <a:off x="11684000" y="6402746"/>
            <a:ext cx="284372" cy="280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17</a:t>
            </a:fld>
            <a:endParaRPr/>
          </a:p>
        </p:txBody>
      </p:sp>
      <p:sp>
        <p:nvSpPr>
          <p:cNvPr id="352" name="Title 1"/>
          <p:cNvSpPr txBox="1">
            <a:spLocks noGrp="1"/>
          </p:cNvSpPr>
          <p:nvPr>
            <p:ph type="title"/>
          </p:nvPr>
        </p:nvSpPr>
        <p:spPr>
          <a:xfrm>
            <a:off x="812800" y="238125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i="1">
                <a:solidFill>
                  <a:srgbClr val="C00000"/>
                </a:solidFill>
              </a:defRPr>
            </a:lvl1pPr>
          </a:lstStyle>
          <a:p>
            <a:r>
              <a:t>Gaussian Distribution: probabilities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53" name="Equation"/>
              <p:cNvSpPr txBox="1"/>
              <p:nvPr/>
            </p:nvSpPr>
            <p:spPr>
              <a:xfrm>
                <a:off x="1418775" y="2930687"/>
                <a:ext cx="4694108" cy="996626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(−</m:t>
                      </m:r>
                      <m:r>
                        <a:rPr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sSubSup>
                        <m:sSubSupPr>
                          <m:ctrlPr>
                            <a:rPr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∫</m:t>
                          </m:r>
                        </m:e>
                        <m:sub>
                          <m:r>
                            <a:rPr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sSup>
                        <m:sSupPr>
                          <m:ctrlPr>
                            <a:rPr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/2</m:t>
                          </m:r>
                        </m:sup>
                      </m:sSup>
                      <m:r>
                        <a:rPr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𝑑𝑧</m:t>
                      </m:r>
                    </m:oMath>
                  </m:oMathPara>
                </a14:m>
                <a:endParaRPr sz="2800"/>
              </a:p>
            </p:txBody>
          </p:sp>
        </mc:Choice>
        <mc:Fallback>
          <p:sp>
            <p:nvSpPr>
              <p:cNvPr id="353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8775" y="2930687"/>
                <a:ext cx="4694108" cy="996626"/>
              </a:xfrm>
              <a:prstGeom prst="rect">
                <a:avLst/>
              </a:prstGeom>
              <a:blipFill>
                <a:blip r:embed="rId2"/>
                <a:stretch>
                  <a:fillRect l="-2695" t="-1250" r="-13208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4" name="Rectangle"/>
          <p:cNvSpPr/>
          <p:nvPr/>
        </p:nvSpPr>
        <p:spPr>
          <a:xfrm>
            <a:off x="1436549" y="4263274"/>
            <a:ext cx="4961197" cy="2110620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1"/>
            </a:solidFill>
            <a:miter/>
          </a:ln>
        </p:spPr>
        <p:txBody>
          <a:bodyPr lIns="45719" rIns="45719" anchor="ctr"/>
          <a:lstStyle/>
          <a:p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55" name="1  : contains 68.3% of the probability"/>
              <p:cNvSpPr txBox="1"/>
              <p:nvPr/>
            </p:nvSpPr>
            <p:spPr>
              <a:xfrm>
                <a:off x="1644128" y="4409379"/>
                <a:ext cx="3970192" cy="400041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none" lIns="45719" rIns="45719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ts val="1000"/>
                  </a:spcBef>
                  <a:buFont typeface="Arial"/>
                  <a:defRPr sz="2000"/>
                </a:pPr>
                <a:r>
                  <a:t>1</a:t>
                </a:r>
                <a14:m>
                  <m:oMath xmlns:m="http://schemas.openxmlformats.org/officeDocument/2006/math">
                    <m:r>
                      <a:rPr sz="21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>
                    <a:latin typeface="Times Roman"/>
                    <a:ea typeface="Times Roman"/>
                    <a:cs typeface="Times Roman"/>
                    <a:sym typeface="Times Roman"/>
                  </a:rPr>
                  <a:t> : </a:t>
                </a:r>
                <a:r>
                  <a:t>contains </a:t>
                </a:r>
                <a:r>
                  <a:rPr b="1"/>
                  <a:t>68.3%</a:t>
                </a:r>
                <a:r>
                  <a:t> of the probability</a:t>
                </a:r>
              </a:p>
            </p:txBody>
          </p:sp>
        </mc:Choice>
        <mc:Fallback>
          <p:sp>
            <p:nvSpPr>
              <p:cNvPr id="355" name="1  : contains 68.3% of the probability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4128" y="4409379"/>
                <a:ext cx="3970192" cy="400041"/>
              </a:xfrm>
              <a:prstGeom prst="rect">
                <a:avLst/>
              </a:prstGeom>
              <a:blipFill>
                <a:blip r:embed="rId3"/>
                <a:stretch>
                  <a:fillRect l="-2866" t="-15625" r="-3503" b="-18750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56" name="2  : contains 95.5% of the probability"/>
              <p:cNvSpPr txBox="1"/>
              <p:nvPr/>
            </p:nvSpPr>
            <p:spPr>
              <a:xfrm>
                <a:off x="1644128" y="4874419"/>
                <a:ext cx="3970192" cy="400042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none" lIns="45719" rIns="45719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ts val="1000"/>
                  </a:spcBef>
                  <a:buFont typeface="Arial"/>
                  <a:defRPr sz="2000"/>
                </a:pPr>
                <a:r>
                  <a:t>2</a:t>
                </a:r>
                <a14:m>
                  <m:oMath xmlns:m="http://schemas.openxmlformats.org/officeDocument/2006/math">
                    <m:r>
                      <a:rPr sz="21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>
                    <a:latin typeface="Times Roman"/>
                    <a:ea typeface="Times Roman"/>
                    <a:cs typeface="Times Roman"/>
                    <a:sym typeface="Times Roman"/>
                  </a:rPr>
                  <a:t> : </a:t>
                </a:r>
                <a:r>
                  <a:t>contains </a:t>
                </a:r>
                <a:r>
                  <a:rPr b="1"/>
                  <a:t>95.5%</a:t>
                </a:r>
                <a:r>
                  <a:t> of the probability</a:t>
                </a:r>
              </a:p>
            </p:txBody>
          </p:sp>
        </mc:Choice>
        <mc:Fallback>
          <p:sp>
            <p:nvSpPr>
              <p:cNvPr id="356" name="2  : contains 95.5% of the probability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4128" y="4874419"/>
                <a:ext cx="3970192" cy="400042"/>
              </a:xfrm>
              <a:prstGeom prst="rect">
                <a:avLst/>
              </a:prstGeom>
              <a:blipFill>
                <a:blip r:embed="rId4"/>
                <a:stretch>
                  <a:fillRect l="-2866" t="-15625" r="-3503" b="-18750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57" name="3  : contains 99.7% of the probability"/>
              <p:cNvSpPr txBox="1"/>
              <p:nvPr/>
            </p:nvSpPr>
            <p:spPr>
              <a:xfrm>
                <a:off x="1644128" y="5333558"/>
                <a:ext cx="3970192" cy="400041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none" lIns="45719" rIns="45719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ts val="1000"/>
                  </a:spcBef>
                  <a:buFont typeface="Arial"/>
                  <a:defRPr sz="2000"/>
                </a:pPr>
                <a:r>
                  <a:t>3</a:t>
                </a:r>
                <a14:m>
                  <m:oMath xmlns:m="http://schemas.openxmlformats.org/officeDocument/2006/math">
                    <m:r>
                      <a:rPr sz="21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>
                    <a:latin typeface="Times Roman"/>
                    <a:ea typeface="Times Roman"/>
                    <a:cs typeface="Times Roman"/>
                    <a:sym typeface="Times Roman"/>
                  </a:rPr>
                  <a:t> : </a:t>
                </a:r>
                <a:r>
                  <a:t>contains </a:t>
                </a:r>
                <a:r>
                  <a:rPr b="1"/>
                  <a:t>99.7% </a:t>
                </a:r>
                <a:r>
                  <a:t>of the probability</a:t>
                </a:r>
              </a:p>
            </p:txBody>
          </p:sp>
        </mc:Choice>
        <mc:Fallback>
          <p:sp>
            <p:nvSpPr>
              <p:cNvPr id="357" name="3  : contains 99.7% of the probability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4128" y="5333558"/>
                <a:ext cx="3970192" cy="400041"/>
              </a:xfrm>
              <a:prstGeom prst="rect">
                <a:avLst/>
              </a:prstGeom>
              <a:blipFill>
                <a:blip r:embed="rId5"/>
                <a:stretch>
                  <a:fillRect l="-2866" t="-15625" r="-3503" b="-18750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58" name="5  : contains 99.99994% of the probability"/>
              <p:cNvSpPr txBox="1"/>
              <p:nvPr/>
            </p:nvSpPr>
            <p:spPr>
              <a:xfrm>
                <a:off x="1644128" y="5798599"/>
                <a:ext cx="4507957" cy="400041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none" lIns="45719" rIns="45719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ts val="1000"/>
                  </a:spcBef>
                  <a:buFont typeface="Arial"/>
                  <a:defRPr sz="2000"/>
                </a:pPr>
                <a:r>
                  <a:t>5</a:t>
                </a:r>
                <a14:m>
                  <m:oMath xmlns:m="http://schemas.openxmlformats.org/officeDocument/2006/math">
                    <m:r>
                      <a:rPr sz="21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>
                    <a:latin typeface="Times Roman"/>
                    <a:ea typeface="Times Roman"/>
                    <a:cs typeface="Times Roman"/>
                    <a:sym typeface="Times Roman"/>
                  </a:rPr>
                  <a:t> : contains </a:t>
                </a:r>
                <a:r>
                  <a:rPr b="1">
                    <a:latin typeface="Times Roman"/>
                    <a:ea typeface="Times Roman"/>
                    <a:cs typeface="Times Roman"/>
                    <a:sym typeface="Times Roman"/>
                  </a:rPr>
                  <a:t>99.99994%</a:t>
                </a:r>
                <a:r>
                  <a:rPr>
                    <a:latin typeface="Times Roman"/>
                    <a:ea typeface="Times Roman"/>
                    <a:cs typeface="Times Roman"/>
                    <a:sym typeface="Times Roman"/>
                  </a:rPr>
                  <a:t> of the probability</a:t>
                </a:r>
              </a:p>
            </p:txBody>
          </p:sp>
        </mc:Choice>
        <mc:Fallback>
          <p:sp>
            <p:nvSpPr>
              <p:cNvPr id="358" name="5  : contains 99.99994% of the probability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4128" y="5798599"/>
                <a:ext cx="4507957" cy="400041"/>
              </a:xfrm>
              <a:prstGeom prst="rect">
                <a:avLst/>
              </a:prstGeom>
              <a:blipFill>
                <a:blip r:embed="rId6"/>
                <a:stretch>
                  <a:fillRect l="-2528" t="-12121" r="-2528" b="-18182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59" name="Equation"/>
              <p:cNvSpPr txBox="1"/>
              <p:nvPr/>
            </p:nvSpPr>
            <p:spPr>
              <a:xfrm>
                <a:off x="1963208" y="1747125"/>
                <a:ext cx="3605241" cy="641135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  <m:rad>
                            <m:radPr>
                              <m:degHide m:val="on"/>
                              <m:ctrlP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e>
                          </m:rad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m:rPr>
                          <m:sty m:val="p"/>
                        </m:rP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{−(</m:t>
                      </m:r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𝜇</m:t>
                      </m:r>
                      <m:sSup>
                        <m:sSup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/2</m:t>
                      </m:r>
                      <m:sSup>
                        <m:sSup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sz="1900"/>
              </a:p>
            </p:txBody>
          </p:sp>
        </mc:Choice>
        <mc:Fallback>
          <p:sp>
            <p:nvSpPr>
              <p:cNvPr id="359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3208" y="1747125"/>
                <a:ext cx="3605241" cy="641135"/>
              </a:xfrm>
              <a:prstGeom prst="rect">
                <a:avLst/>
              </a:prstGeom>
              <a:blipFill>
                <a:blip r:embed="rId7"/>
                <a:stretch>
                  <a:fillRect l="-2456" r="-8070" b="-17308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0" name="Recall"/>
          <p:cNvSpPr txBox="1"/>
          <p:nvPr/>
        </p:nvSpPr>
        <p:spPr>
          <a:xfrm>
            <a:off x="908264" y="1712720"/>
            <a:ext cx="767853" cy="385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defRPr sz="2200"/>
            </a:lvl1pPr>
          </a:lstStyle>
          <a:p>
            <a:r>
              <a:t>Recall</a:t>
            </a:r>
          </a:p>
        </p:txBody>
      </p:sp>
      <p:pic>
        <p:nvPicPr>
          <p:cNvPr id="361" name="prob_hist.png" descr="prob_his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43776" y="1867830"/>
            <a:ext cx="4842668" cy="3379057"/>
          </a:xfrm>
          <a:prstGeom prst="rect">
            <a:avLst/>
          </a:prstGeom>
          <a:ln w="12700">
            <a:miter lim="400000"/>
          </a:ln>
        </p:spPr>
      </p:pic>
      <p:sp>
        <p:nvSpPr>
          <p:cNvPr id="362" name="Line"/>
          <p:cNvSpPr/>
          <p:nvPr/>
        </p:nvSpPr>
        <p:spPr>
          <a:xfrm>
            <a:off x="8700366" y="2061569"/>
            <a:ext cx="1708939" cy="1"/>
          </a:xfrm>
          <a:prstGeom prst="line">
            <a:avLst/>
          </a:prstGeom>
          <a:ln w="63500">
            <a:solidFill>
              <a:schemeClr val="accent6"/>
            </a:solidFill>
            <a:miter/>
            <a:headEnd type="triangle"/>
            <a:tailEnd type="triangle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63" name="area containing 68% of the probability"/>
          <p:cNvSpPr txBox="1"/>
          <p:nvPr/>
        </p:nvSpPr>
        <p:spPr>
          <a:xfrm>
            <a:off x="7537861" y="1526967"/>
            <a:ext cx="4033948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000">
                <a:solidFill>
                  <a:schemeClr val="accent6"/>
                </a:solidFill>
              </a:defRPr>
            </a:lvl1pPr>
          </a:lstStyle>
          <a:p>
            <a:r>
              <a:t>area containing 68% of the probability</a:t>
            </a:r>
          </a:p>
        </p:txBody>
      </p:sp>
      <p:sp>
        <p:nvSpPr>
          <p:cNvPr id="364" name="WARNING: This process knows nothing about physics: beware of unphysical regions"/>
          <p:cNvSpPr txBox="1"/>
          <p:nvPr/>
        </p:nvSpPr>
        <p:spPr>
          <a:xfrm>
            <a:off x="7120801" y="5688565"/>
            <a:ext cx="4842668" cy="620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000"/>
            </a:pPr>
            <a:r>
              <a:rPr b="1"/>
              <a:t>WARNING</a:t>
            </a:r>
            <a:r>
              <a:t>: This process knows nothing about physics: beware of unphysical regions</a:t>
            </a:r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Rectangle"/>
          <p:cNvSpPr/>
          <p:nvPr/>
        </p:nvSpPr>
        <p:spPr>
          <a:xfrm>
            <a:off x="401712" y="3717183"/>
            <a:ext cx="6307517" cy="1673981"/>
          </a:xfrm>
          <a:prstGeom prst="rect">
            <a:avLst/>
          </a:prstGeom>
          <a:solidFill>
            <a:srgbClr val="FFFFFF">
              <a:alpha val="87136"/>
            </a:srgbClr>
          </a:solidFill>
          <a:ln w="12700">
            <a:solidFill>
              <a:schemeClr val="accent1">
                <a:alpha val="87136"/>
              </a:schemeClr>
            </a:solidFill>
            <a:miter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36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18</a:t>
            </a:fld>
            <a:endParaRPr/>
          </a:p>
        </p:txBody>
      </p:sp>
      <p:sp>
        <p:nvSpPr>
          <p:cNvPr id="368" name="Multiple parameters: Marginalisation"/>
          <p:cNvSpPr txBox="1">
            <a:spLocks noGrp="1"/>
          </p:cNvSpPr>
          <p:nvPr>
            <p:ph type="title"/>
          </p:nvPr>
        </p:nvSpPr>
        <p:spPr>
          <a:xfrm>
            <a:off x="812800" y="238125"/>
            <a:ext cx="10515600" cy="1325563"/>
          </a:xfrm>
          <a:prstGeom prst="rect">
            <a:avLst/>
          </a:prstGeom>
        </p:spPr>
        <p:txBody>
          <a:bodyPr/>
          <a:lstStyle/>
          <a:p>
            <a:pPr>
              <a:defRPr>
                <a:solidFill>
                  <a:srgbClr val="C00000"/>
                </a:solidFill>
              </a:defRPr>
            </a:pPr>
            <a:r>
              <a:t>Multiple parameters: </a:t>
            </a:r>
            <a:r>
              <a:rPr i="1">
                <a:latin typeface="Carlito"/>
                <a:ea typeface="Carlito"/>
                <a:cs typeface="Carlito"/>
                <a:sym typeface="Carlito"/>
              </a:rPr>
              <a:t>Marginalisation</a:t>
            </a:r>
          </a:p>
        </p:txBody>
      </p:sp>
      <p:sp>
        <p:nvSpPr>
          <p:cNvPr id="369" name="NB: Coursework 1: is ‘happiness’ a function solely of GDP?"/>
          <p:cNvSpPr txBox="1"/>
          <p:nvPr/>
        </p:nvSpPr>
        <p:spPr>
          <a:xfrm>
            <a:off x="518875" y="2850554"/>
            <a:ext cx="6250991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000" b="1" i="1">
                <a:solidFill>
                  <a:srgbClr val="C00000"/>
                </a:solidFill>
              </a:defRPr>
            </a:lvl1pPr>
          </a:lstStyle>
          <a:p>
            <a:r>
              <a:t>NB: Coursework 1: is ‘happiness’ a function solely of GDP?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70" name="Distributions are often NOT the function of 1 parameter"/>
              <p:cNvSpPr txBox="1"/>
              <p:nvPr/>
            </p:nvSpPr>
            <p:spPr>
              <a:xfrm>
                <a:off x="362637" y="1871359"/>
                <a:ext cx="6461867" cy="882077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45719" rIns="45719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ts val="1000"/>
                  </a:spcBef>
                  <a:defRPr sz="2200"/>
                </a:pPr>
                <a:r>
                  <a:t>Distributions are often NOT the function of 1 parameter</a:t>
                </a:r>
              </a:p>
              <a:p>
                <a:pPr algn="ctr">
                  <a:lnSpc>
                    <a:spcPct val="90000"/>
                  </a:lnSpc>
                  <a:spcBef>
                    <a:spcPts val="1000"/>
                  </a:spcBef>
                  <a:defRPr sz="22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370" name="Distributions are often NOT the function of 1 parameter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637" y="1871359"/>
                <a:ext cx="6461867" cy="882077"/>
              </a:xfrm>
              <a:prstGeom prst="rect">
                <a:avLst/>
              </a:prstGeom>
              <a:blipFill>
                <a:blip r:embed="rId2"/>
                <a:stretch>
                  <a:fillRect l="-1961" t="-8571" r="-1373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71" name="bjYYI.png" descr="bjYYI.png"/>
          <p:cNvPicPr>
            <a:picLocks noChangeAspect="1"/>
          </p:cNvPicPr>
          <p:nvPr/>
        </p:nvPicPr>
        <p:blipFill>
          <a:blip r:embed="rId3"/>
          <a:srcRect l="9704" r="3942" b="8783"/>
          <a:stretch>
            <a:fillRect/>
          </a:stretch>
        </p:blipFill>
        <p:spPr>
          <a:xfrm>
            <a:off x="7235825" y="1705570"/>
            <a:ext cx="4430748" cy="3526738"/>
          </a:xfrm>
          <a:prstGeom prst="rect">
            <a:avLst/>
          </a:prstGeom>
          <a:ln w="12700">
            <a:solidFill>
              <a:srgbClr val="A7A7A7"/>
            </a:solidFill>
            <a:miter lim="400000"/>
          </a:ln>
        </p:spPr>
      </p:pic>
      <p:sp>
        <p:nvSpPr>
          <p:cNvPr id="372" name="Rectangle"/>
          <p:cNvSpPr/>
          <p:nvPr/>
        </p:nvSpPr>
        <p:spPr>
          <a:xfrm>
            <a:off x="7628466" y="4613123"/>
            <a:ext cx="709085" cy="562279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373" name="Rectangle"/>
          <p:cNvSpPr/>
          <p:nvPr/>
        </p:nvSpPr>
        <p:spPr>
          <a:xfrm>
            <a:off x="10542210" y="4613123"/>
            <a:ext cx="605216" cy="562279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74" name="The probability of   is calculated by integrating over"/>
              <p:cNvSpPr txBox="1"/>
              <p:nvPr/>
            </p:nvSpPr>
            <p:spPr>
              <a:xfrm>
                <a:off x="413437" y="3882728"/>
                <a:ext cx="6461867" cy="1335634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45719" rIns="45719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ts val="1000"/>
                  </a:spcBef>
                  <a:defRPr sz="2200"/>
                </a:pPr>
                <a:r>
                  <a:t>The probability of </a:t>
                </a:r>
                <a14:m>
                  <m:oMath xmlns:m="http://schemas.openxmlformats.org/officeDocument/2006/math">
                    <m:r>
                      <a:rPr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t> is calculated by integrating over </a:t>
                </a:r>
                <a14:m>
                  <m:oMath xmlns:m="http://schemas.openxmlformats.org/officeDocument/2006/math">
                    <m:r>
                      <a:rPr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/>
              </a:p>
              <a:p>
                <a:pPr algn="ctr">
                  <a:lnSpc>
                    <a:spcPct val="90000"/>
                  </a:lnSpc>
                  <a:spcBef>
                    <a:spcPts val="1000"/>
                  </a:spcBef>
                  <a:defRPr sz="22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)=∫</m:t>
                      </m:r>
                      <m:r>
                        <a:rPr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𝑑𝑦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374" name="The probability of   is calculated by integrating over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437" y="3882728"/>
                <a:ext cx="6461867" cy="1335634"/>
              </a:xfrm>
              <a:prstGeom prst="rect">
                <a:avLst/>
              </a:prstGeom>
              <a:blipFill>
                <a:blip r:embed="rId4"/>
                <a:stretch>
                  <a:fillRect l="-1765" t="-3774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5" name="NB: We wanted to measure  , but we measured"/>
              <p:cNvSpPr txBox="1"/>
              <p:nvPr/>
            </p:nvSpPr>
            <p:spPr>
              <a:xfrm>
                <a:off x="371313" y="5658773"/>
                <a:ext cx="10015221" cy="402506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none" lIns="45719" rIns="45719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ts val="1000"/>
                  </a:spcBef>
                  <a:buFont typeface="Arial"/>
                  <a:defRPr sz="2000" b="1" i="1">
                    <a:solidFill>
                      <a:srgbClr val="C00000"/>
                    </a:solidFill>
                  </a:defRPr>
                </a:pPr>
                <a:r>
                  <a:t>NB: We wanted to measure </a:t>
                </a:r>
                <a14:m>
                  <m:oMath xmlns:m="http://schemas.openxmlformats.org/officeDocument/2006/math">
                    <m:r>
                      <a:rPr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nor/>
                      </m:rPr>
                      <a:rPr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happiness</m:t>
                    </m:r>
                    <m:r>
                      <a:rPr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m:rPr>
                        <m:nor/>
                      </m:rPr>
                      <a:rPr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GDP</m:t>
                    </m:r>
                    <m:r>
                      <a:rPr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t>, but we measured </a:t>
                </a:r>
                <a14:m>
                  <m:oMath xmlns:m="http://schemas.openxmlformats.org/officeDocument/2006/math">
                    <m:r>
                      <a:rPr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nor/>
                      </m:rPr>
                      <a:rPr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happiness</m:t>
                    </m:r>
                    <m:r>
                      <a:rPr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nor/>
                      </m:rPr>
                      <a:rPr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country</m:t>
                    </m:r>
                    <m:r>
                      <a:rPr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m:rPr>
                        <m:nor/>
                      </m:rPr>
                      <a:rPr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GDP</m:t>
                    </m:r>
                    <m:r>
                      <a:rPr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t> </a:t>
                </a:r>
              </a:p>
            </p:txBody>
          </p:sp>
        </mc:Choice>
        <mc:Fallback>
          <p:sp>
            <p:nvSpPr>
              <p:cNvPr id="375" name="NB: We wanted to measure  , but we measured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313" y="5658773"/>
                <a:ext cx="10015221" cy="402506"/>
              </a:xfrm>
              <a:prstGeom prst="rect">
                <a:avLst/>
              </a:prstGeom>
              <a:blipFill>
                <a:blip r:embed="rId5"/>
                <a:stretch>
                  <a:fillRect l="-1141" t="-9091" r="-4436" b="-21212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6" name="Text"/>
              <p:cNvSpPr txBox="1"/>
              <p:nvPr/>
            </p:nvSpPr>
            <p:spPr>
              <a:xfrm>
                <a:off x="390666" y="6095411"/>
                <a:ext cx="11701669" cy="402507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none" lIns="45719" rIns="45719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ts val="1000"/>
                  </a:spcBef>
                  <a:buFont typeface="Arial"/>
                  <a:defRPr sz="2000" b="1" i="1">
                    <a:solidFill>
                      <a:srgbClr val="C00000"/>
                    </a:solidFill>
                  </a:defRPr>
                </a:pPr>
                <a14:m>
                  <m:oMath xmlns:m="http://schemas.openxmlformats.org/officeDocument/2006/math">
                    <m:r>
                      <a:rPr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nor/>
                      </m:rPr>
                      <a:rPr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happiness</m:t>
                    </m:r>
                    <m:r>
                      <a:rPr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m:rPr>
                        <m:nor/>
                      </m:rPr>
                      <a:rPr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GDP</m:t>
                    </m:r>
                    <m:r>
                      <a:rPr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)=</m:t>
                    </m:r>
                    <m:r>
                      <a:rPr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nor/>
                      </m:rPr>
                      <a:rPr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happiness</m:t>
                    </m:r>
                    <m:r>
                      <a:rPr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nor/>
                      </m:rPr>
                      <a:rPr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UK</m:t>
                    </m:r>
                    <m:r>
                      <a:rPr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m:rPr>
                        <m:nor/>
                      </m:rPr>
                      <a:rPr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GDP</m:t>
                    </m:r>
                    <m:r>
                      <a:rPr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)+</m:t>
                    </m:r>
                    <m:r>
                      <a:rPr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nor/>
                      </m:rPr>
                      <a:rPr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happiness</m:t>
                    </m:r>
                    <m:r>
                      <a:rPr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nor/>
                      </m:rPr>
                      <a:rPr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France</m:t>
                    </m:r>
                    <m:r>
                      <a:rPr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m:rPr>
                        <m:nor/>
                      </m:rPr>
                      <a:rPr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GDP</m:t>
                    </m:r>
                    <m:r>
                      <a:rPr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)+</m:t>
                    </m:r>
                    <m:r>
                      <a:rPr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nor/>
                      </m:rPr>
                      <a:rPr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happiness</m:t>
                    </m:r>
                    <m:r>
                      <a:rPr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nor/>
                      </m:rPr>
                      <a:rPr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Spain</m:t>
                    </m:r>
                    <m:r>
                      <a:rPr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m:rPr>
                        <m:nor/>
                      </m:rPr>
                      <a:rPr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GDP</m:t>
                    </m:r>
                    <m:r>
                      <a:rPr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)+...</m:t>
                    </m:r>
                  </m:oMath>
                </a14:m>
                <a:r>
                  <a:t> </a:t>
                </a:r>
              </a:p>
            </p:txBody>
          </p:sp>
        </mc:Choice>
        <mc:Fallback>
          <p:sp>
            <p:nvSpPr>
              <p:cNvPr id="376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666" y="6095411"/>
                <a:ext cx="11701669" cy="402507"/>
              </a:xfrm>
              <a:prstGeom prst="rect">
                <a:avLst/>
              </a:prstGeom>
              <a:blipFill>
                <a:blip r:embed="rId6"/>
                <a:stretch>
                  <a:fillRect l="-433" r="-4659" b="-15625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Rectangle"/>
          <p:cNvSpPr/>
          <p:nvPr/>
        </p:nvSpPr>
        <p:spPr>
          <a:xfrm>
            <a:off x="2163006" y="3226477"/>
            <a:ext cx="7815188" cy="2110620"/>
          </a:xfrm>
          <a:prstGeom prst="rect">
            <a:avLst/>
          </a:prstGeom>
          <a:solidFill>
            <a:srgbClr val="FFFFFF">
              <a:alpha val="87136"/>
            </a:srgbClr>
          </a:solidFill>
          <a:ln w="12700">
            <a:solidFill>
              <a:schemeClr val="accent1">
                <a:alpha val="87136"/>
              </a:schemeClr>
            </a:solidFill>
            <a:miter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37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19</a:t>
            </a:fld>
            <a:endParaRPr/>
          </a:p>
        </p:txBody>
      </p:sp>
      <p:sp>
        <p:nvSpPr>
          <p:cNvPr id="380" name="An aside: Covariance"/>
          <p:cNvSpPr txBox="1">
            <a:spLocks noGrp="1"/>
          </p:cNvSpPr>
          <p:nvPr>
            <p:ph type="title"/>
          </p:nvPr>
        </p:nvSpPr>
        <p:spPr>
          <a:xfrm>
            <a:off x="812800" y="238125"/>
            <a:ext cx="10515600" cy="1325563"/>
          </a:xfrm>
          <a:prstGeom prst="rect">
            <a:avLst/>
          </a:prstGeom>
        </p:spPr>
        <p:txBody>
          <a:bodyPr/>
          <a:lstStyle/>
          <a:p>
            <a:pPr>
              <a:defRPr>
                <a:solidFill>
                  <a:srgbClr val="C00000"/>
                </a:solidFill>
              </a:defRPr>
            </a:pPr>
            <a:r>
              <a:t>An aside: </a:t>
            </a:r>
            <a:r>
              <a:rPr i="1">
                <a:latin typeface="Carlito"/>
                <a:ea typeface="Carlito"/>
                <a:cs typeface="Carlito"/>
                <a:sym typeface="Carlito"/>
              </a:rPr>
              <a:t>Covariance</a:t>
            </a:r>
          </a:p>
        </p:txBody>
      </p:sp>
      <p:sp>
        <p:nvSpPr>
          <p:cNvPr id="381" name="When two measurements are not independent, we call them covariant"/>
          <p:cNvSpPr txBox="1"/>
          <p:nvPr/>
        </p:nvSpPr>
        <p:spPr>
          <a:xfrm>
            <a:off x="703723" y="1623524"/>
            <a:ext cx="8243269" cy="385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defRPr sz="2200"/>
            </a:lvl1pPr>
          </a:lstStyle>
          <a:p>
            <a:r>
              <a:t>When two measurements are not independent, we call them covariant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82" name="Equation"/>
              <p:cNvSpPr txBox="1"/>
              <p:nvPr/>
            </p:nvSpPr>
            <p:spPr>
              <a:xfrm>
                <a:off x="3279797" y="4048546"/>
                <a:ext cx="6159350" cy="976313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25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5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sz="25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r>
                        <a:rPr sz="25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sz="25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sz="25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sz="25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sz="25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sz="25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∂</m:t>
                                      </m:r>
                                      <m:r>
                                        <a:rPr sz="25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num>
                                    <m:den>
                                      <m:r>
                                        <a:rPr sz="25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∂</m:t>
                                      </m:r>
                                      <m:r>
                                        <a:rPr sz="25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den>
                                  </m:f>
                                  <m:sSub>
                                    <m:sSubPr>
                                      <m:ctrlPr>
                                        <a:rPr sz="25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25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b>
                                      <m:r>
                                        <a:rPr sz="25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sz="25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sz="25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sz="25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sz="25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sz="25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sz="25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∂</m:t>
                                      </m:r>
                                      <m:r>
                                        <a:rPr sz="25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num>
                                    <m:den>
                                      <m:r>
                                        <a:rPr sz="25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∂</m:t>
                                      </m:r>
                                      <m:r>
                                        <a:rPr sz="25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den>
                                  </m:f>
                                  <m:sSub>
                                    <m:sSubPr>
                                      <m:ctrlPr>
                                        <a:rPr sz="25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25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b>
                                      <m:r>
                                        <a:rPr sz="25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sz="25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sz="25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  <m:f>
                            <m:fPr>
                              <m:ctrlPr>
                                <a:rPr sz="25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sz="25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∂</m:t>
                              </m:r>
                              <m:r>
                                <a:rPr sz="25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num>
                            <m:den>
                              <m:r>
                                <a:rPr sz="25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∂</m:t>
                              </m:r>
                              <m:r>
                                <a:rPr sz="25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den>
                          </m:f>
                          <m:f>
                            <m:fPr>
                              <m:ctrlPr>
                                <a:rPr sz="25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sz="25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∂</m:t>
                              </m:r>
                              <m:r>
                                <a:rPr sz="25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num>
                            <m:den>
                              <m:r>
                                <a:rPr sz="25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∂</m:t>
                              </m:r>
                              <m:r>
                                <a:rPr sz="25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den>
                          </m:f>
                          <m:r>
                            <a:rPr sz="25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𝑐𝑜𝑣</m:t>
                          </m:r>
                          <m:r>
                            <a:rPr sz="25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sz="25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sz="25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sz="25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sz="25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rad>
                    </m:oMath>
                  </m:oMathPara>
                </a14:m>
                <a:endParaRPr sz="2500"/>
              </a:p>
            </p:txBody>
          </p:sp>
        </mc:Choice>
        <mc:Fallback>
          <p:sp>
            <p:nvSpPr>
              <p:cNvPr id="382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9797" y="4048546"/>
                <a:ext cx="6159350" cy="976313"/>
              </a:xfrm>
              <a:prstGeom prst="rect">
                <a:avLst/>
              </a:prstGeom>
              <a:blipFill>
                <a:blip r:embed="rId2"/>
                <a:stretch>
                  <a:fillRect l="-1235" r="-5967" b="-17949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83" name="Equation"/>
              <p:cNvSpPr txBox="1"/>
              <p:nvPr/>
            </p:nvSpPr>
            <p:spPr>
              <a:xfrm>
                <a:off x="7933020" y="2356487"/>
                <a:ext cx="1654621" cy="516053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2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r>
                        <a:rPr sz="2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Sup>
                            <m:sSubSupPr>
                              <m:ctrlPr>
                                <a:rPr sz="2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sz="2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sz="2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  <m:sup>
                              <m:r>
                                <a:rPr sz="2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sz="2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sz="2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sz="2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  <m:sup>
                              <m:r>
                                <a:rPr sz="2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rad>
                    </m:oMath>
                  </m:oMathPara>
                </a14:m>
                <a:endParaRPr sz="2200"/>
              </a:p>
            </p:txBody>
          </p:sp>
        </mc:Choice>
        <mc:Fallback>
          <p:sp>
            <p:nvSpPr>
              <p:cNvPr id="383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33020" y="2356487"/>
                <a:ext cx="1654621" cy="516053"/>
              </a:xfrm>
              <a:prstGeom prst="rect">
                <a:avLst/>
              </a:prstGeom>
              <a:blipFill>
                <a:blip r:embed="rId3"/>
                <a:stretch>
                  <a:fillRect l="-3788" r="-10606" b="-30952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84" name="For two connected variables ( ):"/>
              <p:cNvSpPr txBox="1"/>
              <p:nvPr/>
            </p:nvSpPr>
            <p:spPr>
              <a:xfrm>
                <a:off x="2161857" y="2405641"/>
                <a:ext cx="4732325" cy="417746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none" lIns="45719" rIns="45719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ts val="1000"/>
                  </a:spcBef>
                  <a:defRPr sz="2200"/>
                </a:pPr>
                <a:r>
                  <a:t>For two connected variables (</a:t>
                </a:r>
                <a14:m>
                  <m:oMath xmlns:m="http://schemas.openxmlformats.org/officeDocument/2006/math">
                    <m:r>
                      <a:rPr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t>):</a:t>
                </a:r>
              </a:p>
            </p:txBody>
          </p:sp>
        </mc:Choice>
        <mc:Fallback>
          <p:sp>
            <p:nvSpPr>
              <p:cNvPr id="384" name="For two connected variables ( ):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1857" y="2405641"/>
                <a:ext cx="4732325" cy="417746"/>
              </a:xfrm>
              <a:prstGeom prst="rect">
                <a:avLst/>
              </a:prstGeom>
              <a:blipFill>
                <a:blip r:embed="rId4"/>
                <a:stretch>
                  <a:fillRect l="-2681" t="-11765" r="-5630" b="-29412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85" name="if   is related to"/>
              <p:cNvSpPr txBox="1"/>
              <p:nvPr/>
            </p:nvSpPr>
            <p:spPr>
              <a:xfrm>
                <a:off x="2302430" y="3481456"/>
                <a:ext cx="2057182" cy="417747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none" lIns="45719" rIns="45719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ts val="1000"/>
                  </a:spcBef>
                  <a:defRPr sz="2200"/>
                </a:pPr>
                <a:r>
                  <a:t>if </a:t>
                </a:r>
                <a14:m>
                  <m:oMath xmlns:m="http://schemas.openxmlformats.org/officeDocument/2006/math">
                    <m:r>
                      <a:rPr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t> is related to </a:t>
                </a:r>
                <a14:m>
                  <m:oMath xmlns:m="http://schemas.openxmlformats.org/officeDocument/2006/math">
                    <m:r>
                      <a:rPr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/>
              </a:p>
            </p:txBody>
          </p:sp>
        </mc:Choice>
        <mc:Fallback>
          <p:sp>
            <p:nvSpPr>
              <p:cNvPr id="385" name="if   is related to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2430" y="3481456"/>
                <a:ext cx="2057182" cy="417747"/>
              </a:xfrm>
              <a:prstGeom prst="rect">
                <a:avLst/>
              </a:prstGeom>
              <a:blipFill>
                <a:blip r:embed="rId5"/>
                <a:stretch>
                  <a:fillRect l="-6135" t="-14706" r="-6135" b="-26471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6" name="Common across physics"/>
          <p:cNvSpPr txBox="1"/>
          <p:nvPr/>
        </p:nvSpPr>
        <p:spPr>
          <a:xfrm>
            <a:off x="9439454" y="181880"/>
            <a:ext cx="2573571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000" b="1" i="1">
                <a:solidFill>
                  <a:srgbClr val="C00000"/>
                </a:solidFill>
              </a:defRPr>
            </a:lvl1pPr>
          </a:lstStyle>
          <a:p>
            <a:r>
              <a:t>Common across physics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87" name="Equation"/>
              <p:cNvSpPr txBox="1"/>
              <p:nvPr/>
            </p:nvSpPr>
            <p:spPr>
              <a:xfrm>
                <a:off x="3603344" y="5540110"/>
                <a:ext cx="4462459" cy="681356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5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𝑐𝑜𝑣</m:t>
                      </m:r>
                      <m:r>
                        <a:rPr sz="25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25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sz="25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sz="25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sz="25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sz="25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25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sz="25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sz="25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  <m:r>
                        <a:rPr sz="25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∑(</m:t>
                      </m:r>
                      <m:r>
                        <a:rPr sz="25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sz="25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limUpp>
                        <m:limUppPr>
                          <m:ctrlPr>
                            <a:rPr sz="25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r>
                            <a:rPr sz="25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lim>
                          <m:r>
                            <a:rPr sz="25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̂</m:t>
                          </m:r>
                        </m:lim>
                      </m:limUpp>
                      <m:r>
                        <a:rPr sz="25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)(</m:t>
                      </m:r>
                      <m:r>
                        <a:rPr sz="25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sz="25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limUpp>
                        <m:limUppPr>
                          <m:ctrlPr>
                            <a:rPr sz="25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r>
                            <a:rPr sz="25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lim>
                          <m:r>
                            <a:rPr sz="25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̂</m:t>
                          </m:r>
                        </m:lim>
                      </m:limUpp>
                      <m:r>
                        <a:rPr sz="25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2500"/>
              </a:p>
            </p:txBody>
          </p:sp>
        </mc:Choice>
        <mc:Fallback>
          <p:sp>
            <p:nvSpPr>
              <p:cNvPr id="387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3344" y="5540110"/>
                <a:ext cx="4462459" cy="681356"/>
              </a:xfrm>
              <a:prstGeom prst="rect">
                <a:avLst/>
              </a:prstGeom>
              <a:blipFill>
                <a:blip r:embed="rId6"/>
                <a:stretch>
                  <a:fillRect l="-1700" t="-3636" r="-9348" b="-18182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88" name="NB: Parameter transformations (e.g.  ) change the functional form of the distribution"/>
              <p:cNvSpPr txBox="1"/>
              <p:nvPr/>
            </p:nvSpPr>
            <p:spPr>
              <a:xfrm>
                <a:off x="342235" y="6359672"/>
                <a:ext cx="11091307" cy="434684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none" lIns="45719" rIns="45719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ts val="1000"/>
                  </a:spcBef>
                  <a:defRPr sz="2200" b="1" i="1">
                    <a:solidFill>
                      <a:srgbClr val="C00000"/>
                    </a:solidFill>
                  </a:defRPr>
                </a:pPr>
                <a:r>
                  <a:t>NB: Parameter transformations (e.g. </a:t>
                </a:r>
                <a14:m>
                  <m:oMath xmlns:m="http://schemas.openxmlformats.org/officeDocument/2006/math">
                    <m:r>
                      <a:rPr sz="24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sz="24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sz="24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log</m:t>
                    </m:r>
                    <m:r>
                      <a:rPr sz="24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24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sz="24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t>) change the functional form of the distribution</a:t>
                </a:r>
              </a:p>
            </p:txBody>
          </p:sp>
        </mc:Choice>
        <mc:Fallback>
          <p:sp>
            <p:nvSpPr>
              <p:cNvPr id="388" name="NB: Parameter transformations (e.g.  ) change the functional form of the distribu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235" y="6359672"/>
                <a:ext cx="11091307" cy="434684"/>
              </a:xfrm>
              <a:prstGeom prst="rect">
                <a:avLst/>
              </a:prstGeom>
              <a:blipFill>
                <a:blip r:embed="rId7"/>
                <a:stretch>
                  <a:fillRect l="-1029" t="-11111" r="-2400" b="-22222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675D4B1-A30C-1B4D-4543-F06E51AD86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193" y="370703"/>
            <a:ext cx="11079523" cy="5084166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Rectangle"/>
          <p:cNvSpPr/>
          <p:nvPr/>
        </p:nvSpPr>
        <p:spPr>
          <a:xfrm>
            <a:off x="1355875" y="3648571"/>
            <a:ext cx="8894559" cy="2066135"/>
          </a:xfrm>
          <a:prstGeom prst="rect">
            <a:avLst/>
          </a:prstGeom>
          <a:solidFill>
            <a:srgbClr val="FFFFFF">
              <a:alpha val="87136"/>
            </a:srgbClr>
          </a:solidFill>
          <a:ln w="12700">
            <a:solidFill>
              <a:schemeClr val="accent1">
                <a:alpha val="87136"/>
              </a:schemeClr>
            </a:solidFill>
            <a:miter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39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21</a:t>
            </a:fld>
            <a:endParaRPr/>
          </a:p>
        </p:txBody>
      </p:sp>
      <p:sp>
        <p:nvSpPr>
          <p:cNvPr id="398" name="Title 1"/>
          <p:cNvSpPr txBox="1"/>
          <p:nvPr/>
        </p:nvSpPr>
        <p:spPr>
          <a:xfrm>
            <a:off x="812800" y="238125"/>
            <a:ext cx="10515600" cy="13255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normAutofit/>
          </a:bodyPr>
          <a:lstStyle>
            <a:lvl1pPr>
              <a:lnSpc>
                <a:spcPct val="90000"/>
              </a:lnSpc>
              <a:defRPr sz="4400">
                <a:solidFill>
                  <a:srgbClr val="C00000"/>
                </a:solidFill>
                <a:latin typeface="Carlito"/>
                <a:ea typeface="Carlito"/>
                <a:cs typeface="Carlito"/>
                <a:sym typeface="Carlito"/>
              </a:defRPr>
            </a:lvl1pPr>
          </a:lstStyle>
          <a:p>
            <a:r>
              <a:t>Likelihoods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99" name="Given a set of measurements"/>
              <p:cNvSpPr txBox="1"/>
              <p:nvPr/>
            </p:nvSpPr>
            <p:spPr>
              <a:xfrm>
                <a:off x="836275" y="1361297"/>
                <a:ext cx="5301216" cy="439045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none" lIns="45719" rIns="45719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ts val="1000"/>
                  </a:spcBef>
                  <a:buFont typeface="Arial"/>
                  <a:defRPr sz="2200"/>
                </a:pPr>
                <a:r>
                  <a:t>Given a set of measurements </a:t>
                </a:r>
                <a14:m>
                  <m:oMath xmlns:m="http://schemas.openxmlformats.org/officeDocument/2006/math"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,...)</m:t>
                    </m:r>
                  </m:oMath>
                </a14:m>
                <a:endParaRPr/>
              </a:p>
            </p:txBody>
          </p:sp>
        </mc:Choice>
        <mc:Fallback>
          <p:sp>
            <p:nvSpPr>
              <p:cNvPr id="399" name="Given a set of measurement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6275" y="1361297"/>
                <a:ext cx="5301216" cy="439045"/>
              </a:xfrm>
              <a:prstGeom prst="rect">
                <a:avLst/>
              </a:prstGeom>
              <a:blipFill>
                <a:blip r:embed="rId2"/>
                <a:stretch>
                  <a:fillRect l="-2148" t="-14286" r="-3819" b="-20000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0" name="Equation"/>
              <p:cNvSpPr txBox="1"/>
              <p:nvPr/>
            </p:nvSpPr>
            <p:spPr>
              <a:xfrm>
                <a:off x="4504480" y="2205368"/>
                <a:ext cx="3183040" cy="1044526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ℒ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limUpp>
                        <m:limUppPr>
                          <m:ctrlPr>
                            <a:rPr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limLow>
                            <m:limLowPr>
                              <m:ctrlPr>
                                <a:rPr sz="2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sz="2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∏</m:t>
                              </m:r>
                            </m:e>
                            <m:lim>
                              <m:r>
                                <a:rPr sz="2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sz="2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lim>
                          </m:limLow>
                        </m:e>
                        <m:lim>
                          <m:r>
                            <a:rPr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lim>
                      </m:limUpp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2900"/>
              </a:p>
            </p:txBody>
          </p:sp>
        </mc:Choice>
        <mc:Fallback>
          <p:sp>
            <p:nvSpPr>
              <p:cNvPr id="400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4480" y="2205368"/>
                <a:ext cx="3183040" cy="1044526"/>
              </a:xfrm>
              <a:prstGeom prst="rect">
                <a:avLst/>
              </a:prstGeom>
              <a:blipFill>
                <a:blip r:embed="rId3"/>
                <a:stretch>
                  <a:fillRect l="-3968" r="-5556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1" name="the likelihood:"/>
          <p:cNvSpPr txBox="1"/>
          <p:nvPr/>
        </p:nvSpPr>
        <p:spPr>
          <a:xfrm>
            <a:off x="1612263" y="2534943"/>
            <a:ext cx="1751210" cy="385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200"/>
            </a:pPr>
            <a:r>
              <a:t>the </a:t>
            </a:r>
            <a:r>
              <a:rPr b="1" i="1"/>
              <a:t>likelihood:</a:t>
            </a:r>
          </a:p>
        </p:txBody>
      </p:sp>
      <p:sp>
        <p:nvSpPr>
          <p:cNvPr id="402" name="Best-fit value:"/>
          <p:cNvSpPr txBox="1"/>
          <p:nvPr/>
        </p:nvSpPr>
        <p:spPr>
          <a:xfrm>
            <a:off x="1628225" y="3881559"/>
            <a:ext cx="1719286" cy="385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200"/>
            </a:lvl1pPr>
          </a:lstStyle>
          <a:p>
            <a:r>
              <a:t>Best-fit value: </a:t>
            </a:r>
          </a:p>
        </p:txBody>
      </p:sp>
      <p:sp>
        <p:nvSpPr>
          <p:cNvPr id="403" name="Plausible values:"/>
          <p:cNvSpPr txBox="1"/>
          <p:nvPr/>
        </p:nvSpPr>
        <p:spPr>
          <a:xfrm>
            <a:off x="1628225" y="4514350"/>
            <a:ext cx="2032792" cy="385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200"/>
            </a:lvl1pPr>
          </a:lstStyle>
          <a:p>
            <a:r>
              <a:t>Plausible values: </a:t>
            </a:r>
          </a:p>
        </p:txBody>
      </p:sp>
      <p:sp>
        <p:nvSpPr>
          <p:cNvPr id="404" name="Uncertainty:"/>
          <p:cNvSpPr txBox="1"/>
          <p:nvPr/>
        </p:nvSpPr>
        <p:spPr>
          <a:xfrm>
            <a:off x="1628225" y="5164676"/>
            <a:ext cx="1511919" cy="385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200"/>
            </a:lvl1pPr>
          </a:lstStyle>
          <a:p>
            <a:r>
              <a:t>Uncertainty: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5" name="The value that maximises"/>
              <p:cNvSpPr txBox="1"/>
              <p:nvPr/>
            </p:nvSpPr>
            <p:spPr>
              <a:xfrm>
                <a:off x="6145007" y="3881559"/>
                <a:ext cx="3384223" cy="408928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none" lIns="45719" rIns="45719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ts val="1000"/>
                  </a:spcBef>
                  <a:buFont typeface="Arial"/>
                  <a:defRPr sz="2200"/>
                </a:pPr>
                <a:r>
                  <a:t>The value that maximises </a:t>
                </a:r>
                <a14:m>
                  <m:oMath xmlns:m="http://schemas.openxmlformats.org/officeDocument/2006/math"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ℒ</m:t>
                    </m:r>
                  </m:oMath>
                </a14:m>
                <a:r>
                  <a:t> </a:t>
                </a:r>
              </a:p>
            </p:txBody>
          </p:sp>
        </mc:Choice>
        <mc:Fallback>
          <p:sp>
            <p:nvSpPr>
              <p:cNvPr id="405" name="The value that maximise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5007" y="3881559"/>
                <a:ext cx="3384223" cy="408928"/>
              </a:xfrm>
              <a:prstGeom prst="rect">
                <a:avLst/>
              </a:prstGeom>
              <a:blipFill>
                <a:blip r:embed="rId4"/>
                <a:stretch>
                  <a:fillRect l="-3358" t="-15152" r="-373" b="-30303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6" name="Determined by the width of"/>
              <p:cNvSpPr txBox="1"/>
              <p:nvPr/>
            </p:nvSpPr>
            <p:spPr>
              <a:xfrm>
                <a:off x="6145007" y="4502575"/>
                <a:ext cx="3661168" cy="408927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none" lIns="45719" rIns="45719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ts val="1000"/>
                  </a:spcBef>
                  <a:buFont typeface="Arial"/>
                  <a:defRPr sz="2200"/>
                </a:pPr>
                <a:r>
                  <a:t>Determined by the width of </a:t>
                </a:r>
                <a14:m>
                  <m:oMath xmlns:m="http://schemas.openxmlformats.org/officeDocument/2006/math"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ℒ</m:t>
                    </m:r>
                  </m:oMath>
                </a14:m>
                <a:r>
                  <a:t> </a:t>
                </a:r>
              </a:p>
            </p:txBody>
          </p:sp>
        </mc:Choice>
        <mc:Fallback>
          <p:sp>
            <p:nvSpPr>
              <p:cNvPr id="406" name="Determined by the width o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5007" y="4502575"/>
                <a:ext cx="3661168" cy="408927"/>
              </a:xfrm>
              <a:prstGeom prst="rect">
                <a:avLst/>
              </a:prstGeom>
              <a:blipFill>
                <a:blip r:embed="rId5"/>
                <a:stretch>
                  <a:fillRect l="-3103" t="-15152" b="-30303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7" name="For a Gaussian distribution"/>
              <p:cNvSpPr txBox="1"/>
              <p:nvPr/>
            </p:nvSpPr>
            <p:spPr>
              <a:xfrm>
                <a:off x="6145007" y="5114800"/>
                <a:ext cx="3563424" cy="405593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none" lIns="45719" rIns="45719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ts val="1000"/>
                  </a:spcBef>
                  <a:buFont typeface="Arial"/>
                  <a:defRPr sz="2200"/>
                </a:pPr>
                <a:r>
                  <a:t>For a Gaussian distribution </a:t>
                </a:r>
                <a14:m>
                  <m:oMath xmlns:m="http://schemas.openxmlformats.org/officeDocument/2006/math"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t> </a:t>
                </a:r>
              </a:p>
            </p:txBody>
          </p:sp>
        </mc:Choice>
        <mc:Fallback>
          <p:sp>
            <p:nvSpPr>
              <p:cNvPr id="407" name="For a Gaussian distribu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5007" y="5114800"/>
                <a:ext cx="3563424" cy="405593"/>
              </a:xfrm>
              <a:prstGeom prst="rect">
                <a:avLst/>
              </a:prstGeom>
              <a:blipFill>
                <a:blip r:embed="rId6"/>
                <a:stretch>
                  <a:fillRect l="-3191" t="-15152" r="-4255" b="-30303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Rectangle"/>
          <p:cNvSpPr/>
          <p:nvPr/>
        </p:nvSpPr>
        <p:spPr>
          <a:xfrm>
            <a:off x="3425492" y="1992049"/>
            <a:ext cx="5016357" cy="1585956"/>
          </a:xfrm>
          <a:prstGeom prst="rect">
            <a:avLst/>
          </a:prstGeom>
          <a:solidFill>
            <a:srgbClr val="FFFFFF">
              <a:alpha val="87136"/>
            </a:srgbClr>
          </a:solidFill>
          <a:ln w="12700">
            <a:solidFill>
              <a:schemeClr val="accent1">
                <a:alpha val="87136"/>
              </a:schemeClr>
            </a:solidFill>
            <a:miter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41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22</a:t>
            </a:fld>
            <a:endParaRPr/>
          </a:p>
        </p:txBody>
      </p:sp>
      <p:sp>
        <p:nvSpPr>
          <p:cNvPr id="411" name="Title 1"/>
          <p:cNvSpPr txBox="1"/>
          <p:nvPr/>
        </p:nvSpPr>
        <p:spPr>
          <a:xfrm>
            <a:off x="812800" y="238125"/>
            <a:ext cx="10515600" cy="13255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normAutofit/>
          </a:bodyPr>
          <a:lstStyle>
            <a:lvl1pPr>
              <a:lnSpc>
                <a:spcPct val="90000"/>
              </a:lnSpc>
              <a:defRPr sz="4400">
                <a:solidFill>
                  <a:srgbClr val="C00000"/>
                </a:solidFill>
                <a:latin typeface="Carlito"/>
                <a:ea typeface="Carlito"/>
                <a:cs typeface="Carlito"/>
                <a:sym typeface="Carlito"/>
              </a:defRPr>
            </a:lvl1pPr>
          </a:lstStyle>
          <a:p>
            <a:r>
              <a:t>Log Likelihoods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12" name="Given a set of measurements"/>
              <p:cNvSpPr txBox="1"/>
              <p:nvPr/>
            </p:nvSpPr>
            <p:spPr>
              <a:xfrm>
                <a:off x="836275" y="1361297"/>
                <a:ext cx="5301216" cy="439045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none" lIns="45719" rIns="45719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ts val="1000"/>
                  </a:spcBef>
                  <a:buFont typeface="Arial"/>
                  <a:defRPr sz="2200"/>
                </a:pPr>
                <a:r>
                  <a:t>Given a set of measurements </a:t>
                </a:r>
                <a14:m>
                  <m:oMath xmlns:m="http://schemas.openxmlformats.org/officeDocument/2006/math"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,...)</m:t>
                    </m:r>
                  </m:oMath>
                </a14:m>
                <a:endParaRPr/>
              </a:p>
            </p:txBody>
          </p:sp>
        </mc:Choice>
        <mc:Fallback>
          <p:sp>
            <p:nvSpPr>
              <p:cNvPr id="412" name="Given a set of measurement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6275" y="1361297"/>
                <a:ext cx="5301216" cy="439045"/>
              </a:xfrm>
              <a:prstGeom prst="rect">
                <a:avLst/>
              </a:prstGeom>
              <a:blipFill>
                <a:blip r:embed="rId2"/>
                <a:stretch>
                  <a:fillRect l="-2148" t="-14286" r="-3819" b="-20000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3" name="Much easier to maximise"/>
          <p:cNvSpPr txBox="1"/>
          <p:nvPr/>
        </p:nvSpPr>
        <p:spPr>
          <a:xfrm>
            <a:off x="8861788" y="2564443"/>
            <a:ext cx="2997323" cy="385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200" b="1" i="1">
                <a:solidFill>
                  <a:srgbClr val="C00000"/>
                </a:solidFill>
              </a:defRPr>
            </a:lvl1pPr>
          </a:lstStyle>
          <a:p>
            <a:r>
              <a:t>Much easier to maximise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14" name="Equation"/>
              <p:cNvSpPr txBox="1"/>
              <p:nvPr/>
            </p:nvSpPr>
            <p:spPr>
              <a:xfrm>
                <a:off x="3782853" y="2235052"/>
                <a:ext cx="4276235" cy="104415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ℓ(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ℒ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limUpp>
                        <m:limUppPr>
                          <m:ctrlPr>
                            <a:rPr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limLow>
                            <m:limLowPr>
                              <m:ctrlPr>
                                <a:rPr sz="2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sz="2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</m:e>
                            <m:lim>
                              <m:r>
                                <a:rPr sz="2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sz="2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lim>
                          </m:limLow>
                        </m:e>
                        <m:lim>
                          <m:r>
                            <a:rPr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lim>
                      </m:limUpp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2900"/>
              </a:p>
            </p:txBody>
          </p:sp>
        </mc:Choice>
        <mc:Fallback>
          <p:sp>
            <p:nvSpPr>
              <p:cNvPr id="414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2853" y="2235052"/>
                <a:ext cx="4276235" cy="1044158"/>
              </a:xfrm>
              <a:prstGeom prst="rect">
                <a:avLst/>
              </a:prstGeom>
              <a:blipFill>
                <a:blip r:embed="rId3"/>
                <a:stretch>
                  <a:fillRect l="-3264" r="-6231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5" name="the log-likelihood:"/>
          <p:cNvSpPr txBox="1"/>
          <p:nvPr/>
        </p:nvSpPr>
        <p:spPr>
          <a:xfrm>
            <a:off x="1026959" y="2592339"/>
            <a:ext cx="2200187" cy="385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200"/>
            </a:pPr>
            <a:r>
              <a:t>the</a:t>
            </a:r>
            <a:r>
              <a:rPr b="1" i="1"/>
              <a:t> log-likelihood:</a:t>
            </a:r>
          </a:p>
        </p:txBody>
      </p:sp>
      <p:sp>
        <p:nvSpPr>
          <p:cNvPr id="416" name="Rectangle"/>
          <p:cNvSpPr/>
          <p:nvPr/>
        </p:nvSpPr>
        <p:spPr>
          <a:xfrm>
            <a:off x="1648721" y="4162092"/>
            <a:ext cx="8894558" cy="2066136"/>
          </a:xfrm>
          <a:prstGeom prst="rect">
            <a:avLst/>
          </a:prstGeom>
          <a:solidFill>
            <a:srgbClr val="FFFFFF">
              <a:alpha val="87136"/>
            </a:srgbClr>
          </a:solidFill>
          <a:ln w="12700">
            <a:solidFill>
              <a:schemeClr val="accent1">
                <a:alpha val="87136"/>
              </a:schemeClr>
            </a:solidFill>
            <a:miter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417" name="Best-fit value:"/>
          <p:cNvSpPr txBox="1"/>
          <p:nvPr/>
        </p:nvSpPr>
        <p:spPr>
          <a:xfrm>
            <a:off x="1921070" y="4395081"/>
            <a:ext cx="1719286" cy="385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200"/>
            </a:lvl1pPr>
          </a:lstStyle>
          <a:p>
            <a:r>
              <a:t>Best-fit value: </a:t>
            </a:r>
          </a:p>
        </p:txBody>
      </p:sp>
      <p:sp>
        <p:nvSpPr>
          <p:cNvPr id="418" name="Plausible values:"/>
          <p:cNvSpPr txBox="1"/>
          <p:nvPr/>
        </p:nvSpPr>
        <p:spPr>
          <a:xfrm>
            <a:off x="1921070" y="5027872"/>
            <a:ext cx="2032792" cy="385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200"/>
            </a:lvl1pPr>
          </a:lstStyle>
          <a:p>
            <a:r>
              <a:t>Plausible values: </a:t>
            </a:r>
          </a:p>
        </p:txBody>
      </p:sp>
      <p:sp>
        <p:nvSpPr>
          <p:cNvPr id="419" name="Uncertainty:"/>
          <p:cNvSpPr txBox="1"/>
          <p:nvPr/>
        </p:nvSpPr>
        <p:spPr>
          <a:xfrm>
            <a:off x="1921070" y="5678197"/>
            <a:ext cx="1511919" cy="385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200"/>
            </a:lvl1pPr>
          </a:lstStyle>
          <a:p>
            <a:r>
              <a:t>Uncertainty: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20" name="The value that maximises"/>
              <p:cNvSpPr txBox="1"/>
              <p:nvPr/>
            </p:nvSpPr>
            <p:spPr>
              <a:xfrm>
                <a:off x="6437853" y="4395081"/>
                <a:ext cx="3272973" cy="408928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none" lIns="45719" rIns="45719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ts val="1000"/>
                  </a:spcBef>
                  <a:buFont typeface="Arial"/>
                  <a:defRPr sz="2200"/>
                </a:pPr>
                <a:r>
                  <a:t>The value that maximises </a:t>
                </a:r>
                <a14:m>
                  <m:oMath xmlns:m="http://schemas.openxmlformats.org/officeDocument/2006/math"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ℓ</m:t>
                    </m:r>
                  </m:oMath>
                </a14:m>
                <a:r>
                  <a:t> </a:t>
                </a:r>
              </a:p>
            </p:txBody>
          </p:sp>
        </mc:Choice>
        <mc:Fallback>
          <p:sp>
            <p:nvSpPr>
              <p:cNvPr id="420" name="The value that maximise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7853" y="4395081"/>
                <a:ext cx="3272973" cy="408928"/>
              </a:xfrm>
              <a:prstGeom prst="rect">
                <a:avLst/>
              </a:prstGeom>
              <a:blipFill>
                <a:blip r:embed="rId4"/>
                <a:stretch>
                  <a:fillRect l="-3475" t="-18182" r="-3089" b="-27273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1" name="Determined by the width of"/>
              <p:cNvSpPr txBox="1"/>
              <p:nvPr/>
            </p:nvSpPr>
            <p:spPr>
              <a:xfrm>
                <a:off x="6437853" y="5016096"/>
                <a:ext cx="3549917" cy="408928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none" lIns="45719" rIns="45719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ts val="1000"/>
                  </a:spcBef>
                  <a:buFont typeface="Arial"/>
                  <a:defRPr sz="2200"/>
                </a:pPr>
                <a:r>
                  <a:t>Determined by the width of </a:t>
                </a:r>
                <a14:m>
                  <m:oMath xmlns:m="http://schemas.openxmlformats.org/officeDocument/2006/math"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ℓ</m:t>
                    </m:r>
                  </m:oMath>
                </a14:m>
                <a:r>
                  <a:t> </a:t>
                </a:r>
              </a:p>
            </p:txBody>
          </p:sp>
        </mc:Choice>
        <mc:Fallback>
          <p:sp>
            <p:nvSpPr>
              <p:cNvPr id="421" name="Determined by the width o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7853" y="5016096"/>
                <a:ext cx="3549917" cy="408928"/>
              </a:xfrm>
              <a:prstGeom prst="rect">
                <a:avLst/>
              </a:prstGeom>
              <a:blipFill>
                <a:blip r:embed="rId5"/>
                <a:stretch>
                  <a:fillRect l="-3203" t="-18182" r="-2491" b="-27273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2" name="Text"/>
              <p:cNvSpPr txBox="1"/>
              <p:nvPr/>
            </p:nvSpPr>
            <p:spPr>
              <a:xfrm>
                <a:off x="6437853" y="5628322"/>
                <a:ext cx="2091119" cy="445274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none" lIns="45719" rIns="45719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ts val="1000"/>
                  </a:spcBef>
                  <a:buFont typeface="Arial"/>
                  <a:defRPr sz="2200"/>
                </a:pPr>
                <a14:m>
                  <m:oMath xmlns:m="http://schemas.openxmlformats.org/officeDocument/2006/math"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ℓ=</m:t>
                    </m:r>
                    <m:sSub>
                      <m:sSubPr>
                        <m:ctrlP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ℓ</m:t>
                        </m:r>
                      </m:e>
                      <m:sub>
                        <m:r>
                          <m:rPr>
                            <m:nor/>
                          </m:rP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−0.5</m:t>
                    </m:r>
                  </m:oMath>
                </a14:m>
                <a:r>
                  <a:t> </a:t>
                </a:r>
              </a:p>
            </p:txBody>
          </p:sp>
        </mc:Choice>
        <mc:Fallback>
          <p:sp>
            <p:nvSpPr>
              <p:cNvPr id="422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7853" y="5628322"/>
                <a:ext cx="2091119" cy="445274"/>
              </a:xfrm>
              <a:prstGeom prst="rect">
                <a:avLst/>
              </a:prstGeom>
              <a:blipFill>
                <a:blip r:embed="rId6"/>
                <a:stretch>
                  <a:fillRect l="-2410" r="-2410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3" name="NB: Assumes Gaussianity"/>
          <p:cNvSpPr txBox="1"/>
          <p:nvPr/>
        </p:nvSpPr>
        <p:spPr>
          <a:xfrm>
            <a:off x="8574658" y="6350457"/>
            <a:ext cx="3009600" cy="385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200" b="1" i="1">
                <a:solidFill>
                  <a:srgbClr val="C00000"/>
                </a:solidFill>
              </a:defRPr>
            </a:lvl1pPr>
          </a:lstStyle>
          <a:p>
            <a:r>
              <a:t>NB: Assumes Gaussianity</a:t>
            </a:r>
          </a:p>
        </p:txBody>
      </p:sp>
    </p:spTree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Rectangle"/>
          <p:cNvSpPr/>
          <p:nvPr/>
        </p:nvSpPr>
        <p:spPr>
          <a:xfrm>
            <a:off x="1695033" y="4630933"/>
            <a:ext cx="8568274" cy="2018023"/>
          </a:xfrm>
          <a:prstGeom prst="rect">
            <a:avLst/>
          </a:prstGeom>
          <a:solidFill>
            <a:srgbClr val="FFFFFF">
              <a:alpha val="87136"/>
            </a:srgbClr>
          </a:solidFill>
          <a:ln w="12700">
            <a:solidFill>
              <a:schemeClr val="accent1">
                <a:alpha val="87136"/>
              </a:schemeClr>
            </a:solidFill>
            <a:miter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42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23</a:t>
            </a:fld>
            <a:endParaRPr/>
          </a:p>
        </p:txBody>
      </p:sp>
      <p:sp>
        <p:nvSpPr>
          <p:cNvPr id="427" name="Title 1"/>
          <p:cNvSpPr txBox="1"/>
          <p:nvPr/>
        </p:nvSpPr>
        <p:spPr>
          <a:xfrm>
            <a:off x="812800" y="238125"/>
            <a:ext cx="10515600" cy="13255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normAutofit/>
          </a:bodyPr>
          <a:lstStyle>
            <a:lvl1pPr>
              <a:lnSpc>
                <a:spcPct val="90000"/>
              </a:lnSpc>
              <a:defRPr sz="4400">
                <a:solidFill>
                  <a:srgbClr val="C00000"/>
                </a:solidFill>
                <a:latin typeface="Carlito"/>
                <a:ea typeface="Carlito"/>
                <a:cs typeface="Carlito"/>
                <a:sym typeface="Carlito"/>
              </a:defRPr>
            </a:lvl1pPr>
          </a:lstStyle>
          <a:p>
            <a:r>
              <a:t>Log Likelihoods: the Gaussian case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28" name="Given a set of measurements"/>
              <p:cNvSpPr txBox="1"/>
              <p:nvPr/>
            </p:nvSpPr>
            <p:spPr>
              <a:xfrm>
                <a:off x="836275" y="1361297"/>
                <a:ext cx="5301216" cy="439045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none" lIns="45719" rIns="45719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ts val="1000"/>
                  </a:spcBef>
                  <a:buFont typeface="Arial"/>
                  <a:defRPr sz="2200"/>
                </a:pPr>
                <a:r>
                  <a:t>Given a set of measurements </a:t>
                </a:r>
                <a14:m>
                  <m:oMath xmlns:m="http://schemas.openxmlformats.org/officeDocument/2006/math"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,...)</m:t>
                    </m:r>
                  </m:oMath>
                </a14:m>
                <a:endParaRPr/>
              </a:p>
            </p:txBody>
          </p:sp>
        </mc:Choice>
        <mc:Fallback>
          <p:sp>
            <p:nvSpPr>
              <p:cNvPr id="428" name="Given a set of measurement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6275" y="1361297"/>
                <a:ext cx="5301216" cy="439045"/>
              </a:xfrm>
              <a:prstGeom prst="rect">
                <a:avLst/>
              </a:prstGeom>
              <a:blipFill>
                <a:blip r:embed="rId2"/>
                <a:stretch>
                  <a:fillRect l="-2148" t="-14286" r="-3819" b="-20000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9" name="Equation"/>
              <p:cNvSpPr txBox="1"/>
              <p:nvPr/>
            </p:nvSpPr>
            <p:spPr>
              <a:xfrm>
                <a:off x="3457369" y="2616981"/>
                <a:ext cx="4862027" cy="347124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ℒ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)∗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)∗...</m:t>
                      </m:r>
                    </m:oMath>
                  </m:oMathPara>
                </a14:m>
                <a:endParaRPr sz="2900"/>
              </a:p>
            </p:txBody>
          </p:sp>
        </mc:Choice>
        <mc:Fallback>
          <p:sp>
            <p:nvSpPr>
              <p:cNvPr id="429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7369" y="2616981"/>
                <a:ext cx="4862027" cy="347124"/>
              </a:xfrm>
              <a:prstGeom prst="rect">
                <a:avLst/>
              </a:prstGeom>
              <a:blipFill>
                <a:blip r:embed="rId3"/>
                <a:stretch>
                  <a:fillRect l="-2604" r="-1562" b="-65517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0" name="Equation"/>
              <p:cNvSpPr txBox="1"/>
              <p:nvPr/>
            </p:nvSpPr>
            <p:spPr>
              <a:xfrm>
                <a:off x="8226624" y="1209820"/>
                <a:ext cx="3593050" cy="741999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rad>
                          <m:sSub>
                            <m:sSubPr>
                              <m:ctrlP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exp</m:t>
                      </m:r>
                      <m:d>
                        <m:d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sSup>
                                <m:sSupPr>
                                  <m:ctrlP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bSup>
                                <m:sSubSupPr>
                                  <m:ctrlP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e>
                      </m:d>
                    </m:oMath>
                  </m:oMathPara>
                </a14:m>
                <a:endParaRPr sz="1900"/>
              </a:p>
            </p:txBody>
          </p:sp>
        </mc:Choice>
        <mc:Fallback>
          <p:sp>
            <p:nvSpPr>
              <p:cNvPr id="430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6624" y="1209820"/>
                <a:ext cx="3593050" cy="741999"/>
              </a:xfrm>
              <a:prstGeom prst="rect">
                <a:avLst/>
              </a:prstGeom>
              <a:blipFill>
                <a:blip r:embed="rId4"/>
                <a:stretch>
                  <a:fillRect l="-2827" r="-5654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1" name="Equation"/>
              <p:cNvSpPr txBox="1"/>
              <p:nvPr/>
            </p:nvSpPr>
            <p:spPr>
              <a:xfrm>
                <a:off x="3446670" y="3455205"/>
                <a:ext cx="5298660" cy="1043741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ℒ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p>
                        <m:sSupPr>
                          <m:ctrlPr>
                            <a:rPr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sz="2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sz="2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𝜒</m:t>
                              </m:r>
                            </m:e>
                            <m:sup>
                              <m:r>
                                <a:rPr sz="2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/2</m:t>
                          </m:r>
                        </m:sup>
                      </m:sSup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limUpp>
                        <m:limUppPr>
                          <m:ctrlPr>
                            <a:rPr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limLow>
                            <m:limLowPr>
                              <m:ctrlPr>
                                <a:rPr sz="2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sz="2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∏</m:t>
                              </m:r>
                            </m:e>
                            <m:lim>
                              <m:r>
                                <a:rPr sz="2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sz="2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lim>
                          </m:limLow>
                        </m:e>
                        <m:lim>
                          <m:r>
                            <a:rPr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lim>
                      </m:limUpp>
                      <m:f>
                        <m:fPr>
                          <m:ctrlPr>
                            <a:rPr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sz="2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sz="2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×(2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sSup>
                        <m:sSupPr>
                          <m:ctrlPr>
                            <a:rPr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(−</m:t>
                          </m:r>
                          <m:r>
                            <a:rPr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/2)</m:t>
                          </m:r>
                        </m:sup>
                      </m:sSup>
                    </m:oMath>
                  </m:oMathPara>
                </a14:m>
                <a:endParaRPr sz="2900"/>
              </a:p>
            </p:txBody>
          </p:sp>
        </mc:Choice>
        <mc:Fallback>
          <p:sp>
            <p:nvSpPr>
              <p:cNvPr id="431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6670" y="3455205"/>
                <a:ext cx="5298660" cy="1043741"/>
              </a:xfrm>
              <a:prstGeom prst="rect">
                <a:avLst/>
              </a:prstGeom>
              <a:blipFill>
                <a:blip r:embed="rId5"/>
                <a:stretch>
                  <a:fillRect l="-2392" t="-2410" r="-10287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2" name="Equation"/>
              <p:cNvSpPr txBox="1"/>
              <p:nvPr/>
            </p:nvSpPr>
            <p:spPr>
              <a:xfrm>
                <a:off x="2631318" y="4840959"/>
                <a:ext cx="6168735" cy="1043373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−2</m:t>
                      </m:r>
                      <m:r>
                        <m:rPr>
                          <m:sty m:val="p"/>
                        </m:rP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ℒ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p>
                        <m:sSupPr>
                          <m:ctrlPr>
                            <a:rPr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𝜒</m:t>
                          </m:r>
                        </m:e>
                        <m:sup>
                          <m:r>
                            <a:rPr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limUpp>
                        <m:limUppPr>
                          <m:ctrlPr>
                            <a:rPr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limLow>
                            <m:limLowPr>
                              <m:ctrlPr>
                                <a:rPr sz="2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sz="2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</m:e>
                            <m:lim>
                              <m:r>
                                <a:rPr sz="2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sz="2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lim>
                          </m:limLow>
                        </m:e>
                        <m:lim>
                          <m:r>
                            <a:rPr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lim>
                      </m:limUpp>
                      <m:r>
                        <m:rPr>
                          <m:sty m:val="p"/>
                        </m:rP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ln</m:t>
                      </m:r>
                      <m:sSub>
                        <m:sSubPr>
                          <m:ctrlPr>
                            <a:rPr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r>
                        <m:rPr>
                          <m:sty m:val="p"/>
                        </m:rP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(2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2900"/>
              </a:p>
            </p:txBody>
          </p:sp>
        </mc:Choice>
        <mc:Fallback>
          <p:sp>
            <p:nvSpPr>
              <p:cNvPr id="432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1318" y="4840959"/>
                <a:ext cx="6168735" cy="1043373"/>
              </a:xfrm>
              <a:prstGeom prst="rect">
                <a:avLst/>
              </a:prstGeom>
              <a:blipFill>
                <a:blip r:embed="rId6"/>
                <a:stretch>
                  <a:fillRect l="-1027" r="-2875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3" name="Maximising   is equivalent to minimising"/>
              <p:cNvSpPr txBox="1"/>
              <p:nvPr/>
            </p:nvSpPr>
            <p:spPr>
              <a:xfrm>
                <a:off x="2932273" y="6128410"/>
                <a:ext cx="6093793" cy="482408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none" lIns="45719" rIns="45719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ts val="1000"/>
                  </a:spcBef>
                  <a:buFont typeface="Arial"/>
                  <a:defRPr sz="2200" b="1" i="1">
                    <a:solidFill>
                      <a:srgbClr val="C00000"/>
                    </a:solidFill>
                  </a:defRPr>
                </a:pPr>
                <a:r>
                  <a:t>Maximising </a:t>
                </a:r>
                <a14:m>
                  <m:oMath xmlns:m="http://schemas.openxmlformats.org/officeDocument/2006/math">
                    <m:r>
                      <a:rPr sz="24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ℒ</m:t>
                    </m:r>
                    <m:r>
                      <a:rPr sz="24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24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sz="24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sz="24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sz="24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t> is equivalent to minimising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sz="24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t>  </a:t>
                </a:r>
              </a:p>
            </p:txBody>
          </p:sp>
        </mc:Choice>
        <mc:Fallback>
          <p:sp>
            <p:nvSpPr>
              <p:cNvPr id="433" name="Maximising   is equivalent to minimising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2273" y="6128410"/>
                <a:ext cx="6093793" cy="482408"/>
              </a:xfrm>
              <a:prstGeom prst="rect">
                <a:avLst/>
              </a:prstGeom>
              <a:blipFill>
                <a:blip r:embed="rId7"/>
                <a:stretch>
                  <a:fillRect l="-1871" t="-10256" r="-2079" b="-12821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4" name="Assumes that our measurements are uncorrelated"/>
          <p:cNvSpPr txBox="1"/>
          <p:nvPr/>
        </p:nvSpPr>
        <p:spPr>
          <a:xfrm>
            <a:off x="6316466" y="133881"/>
            <a:ext cx="5758444" cy="385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200" i="1">
                <a:solidFill>
                  <a:schemeClr val="accent6">
                    <a:lumOff val="-9568"/>
                  </a:schemeClr>
                </a:solidFill>
              </a:defRPr>
            </a:lvl1pPr>
          </a:lstStyle>
          <a:p>
            <a:r>
              <a:t>Assumes that our measurements are uncorrelated</a:t>
            </a:r>
          </a:p>
        </p:txBody>
      </p:sp>
    </p:spTree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36" name="Title 1"/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460280" y="315831"/>
                <a:ext cx="10515601" cy="1325564"/>
              </a:xfrm>
              <a:prstGeom prst="rect">
                <a:avLst/>
              </a:prstGeom>
            </p:spPr>
            <p:txBody>
              <a:bodyPr/>
              <a:lstStyle/>
              <a:p>
                <a:pPr>
                  <a:defRPr i="1">
                    <a:solidFill>
                      <a:srgbClr val="C00000"/>
                    </a:solidFill>
                  </a:defRPr>
                </a:pPr>
                <a:r>
                  <a:t>Confidence levels &amp;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sz="49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sz="49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sz="49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/>
              </a:p>
            </p:txBody>
          </p:sp>
        </mc:Choice>
        <mc:Fallback>
          <p:sp>
            <p:nvSpPr>
              <p:cNvPr id="436" name="Title 1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460280" y="315831"/>
                <a:ext cx="10515601" cy="1325564"/>
              </a:xfrm>
              <a:prstGeom prst="rect">
                <a:avLst/>
              </a:prstGeom>
              <a:blipFill>
                <a:blip r:embed="rId2"/>
                <a:stretch>
                  <a:fillRect l="-28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7" name="Content Placeholder 8"/>
              <p:cNvSpPr txBox="1">
                <a:spLocks noGrp="1"/>
              </p:cNvSpPr>
              <p:nvPr>
                <p:ph type="body" sz="quarter" idx="1"/>
              </p:nvPr>
            </p:nvSpPr>
            <p:spPr>
              <a:xfrm>
                <a:off x="499533" y="1833147"/>
                <a:ext cx="4081943" cy="689393"/>
              </a:xfrm>
              <a:prstGeom prst="rect">
                <a:avLst/>
              </a:prstGeom>
            </p:spPr>
            <p:txBody>
              <a:bodyPr/>
              <a:lstStyle/>
              <a:p>
                <a:pPr>
                  <a:defRPr sz="2000" b="1" i="1">
                    <a:solidFill>
                      <a:srgbClr val="C00000"/>
                    </a:solidFill>
                  </a:defRPr>
                </a:pPr>
                <a:r>
                  <a:t>If our best-fit value has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sz="215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sz="21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sz="21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sz="21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sz="21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m:rPr>
                            <m:nor/>
                          </m:rPr>
                          <a:rPr sz="21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  <m:sup>
                        <m:r>
                          <a:rPr sz="21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t>:</a:t>
                </a:r>
              </a:p>
            </p:txBody>
          </p:sp>
        </mc:Choice>
        <mc:Fallback>
          <p:sp>
            <p:nvSpPr>
              <p:cNvPr id="437" name="Content Placeholder 8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"/>
              </p:nvPr>
            </p:nvSpPr>
            <p:spPr>
              <a:xfrm>
                <a:off x="499533" y="1833147"/>
                <a:ext cx="4081943" cy="689393"/>
              </a:xfrm>
              <a:prstGeom prst="rect">
                <a:avLst/>
              </a:prstGeom>
              <a:blipFill>
                <a:blip r:embed="rId3"/>
                <a:stretch>
                  <a:fillRect l="-2795" t="-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8" name="Slide Number Placeholder 2"/>
          <p:cNvSpPr txBox="1">
            <a:spLocks noGrp="1"/>
          </p:cNvSpPr>
          <p:nvPr>
            <p:ph type="sldNum" sz="quarter" idx="2"/>
          </p:nvPr>
        </p:nvSpPr>
        <p:spPr>
          <a:xfrm>
            <a:off x="11684000" y="6402746"/>
            <a:ext cx="284372" cy="280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24</a:t>
            </a:fld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39" name="Equation"/>
              <p:cNvSpPr txBox="1"/>
              <p:nvPr/>
            </p:nvSpPr>
            <p:spPr>
              <a:xfrm>
                <a:off x="2077728" y="3080237"/>
                <a:ext cx="1997930" cy="443782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sz="26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2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𝜒</m:t>
                          </m:r>
                        </m:e>
                        <m:sup>
                          <m:r>
                            <a:rPr sz="2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sz="2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sz="2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sz="2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𝜒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sz="2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min</m:t>
                          </m:r>
                        </m:sub>
                        <m:sup>
                          <m:r>
                            <a:rPr sz="2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sz="2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sz="2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sz="2600"/>
              </a:p>
            </p:txBody>
          </p:sp>
        </mc:Choice>
        <mc:Fallback>
          <p:sp>
            <p:nvSpPr>
              <p:cNvPr id="439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7728" y="3080237"/>
                <a:ext cx="1997930" cy="443782"/>
              </a:xfrm>
              <a:prstGeom prst="rect">
                <a:avLst/>
              </a:prstGeom>
              <a:blipFill>
                <a:blip r:embed="rId4"/>
                <a:stretch>
                  <a:fillRect l="-5031" r="-11950" b="-27778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2" name="Group"/>
          <p:cNvGrpSpPr/>
          <p:nvPr/>
        </p:nvGrpSpPr>
        <p:grpSpPr>
          <a:xfrm>
            <a:off x="807603" y="4099201"/>
            <a:ext cx="4081943" cy="1628671"/>
            <a:chOff x="0" y="0"/>
            <a:chExt cx="4081942" cy="1628669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40" name="Equation"/>
                <p:cNvSpPr txBox="1"/>
                <p:nvPr/>
              </p:nvSpPr>
              <p:spPr>
                <a:xfrm>
                  <a:off x="2518116" y="0"/>
                  <a:ext cx="966389" cy="274383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</p:spPr>
              <p:txBody>
                <a:bodyPr wrap="none" lIns="0" tIns="0" rIns="0" bIns="0">
                  <a:spAutoFit/>
                </a:bodyPr>
                <a:lstStyle/>
                <a:p>
                  <a:pPr latinLnBrk="1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sz="20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params</m:t>
                            </m:r>
                          </m:sub>
                        </m:sSub>
                      </m:oMath>
                    </m:oMathPara>
                  </a14:m>
                  <a:endParaRPr sz="2000">
                    <a:solidFill>
                      <a:srgbClr val="C00000"/>
                    </a:solidFill>
                  </a:endParaRPr>
                </a:p>
              </p:txBody>
            </p:sp>
          </mc:Choice>
          <mc:Fallback>
            <p:sp>
              <p:nvSpPr>
                <p:cNvPr id="440" name="Equation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18116" y="0"/>
                  <a:ext cx="966389" cy="274383"/>
                </a:xfrm>
                <a:prstGeom prst="rect">
                  <a:avLst/>
                </a:prstGeom>
                <a:blipFill>
                  <a:blip r:embed="rId5"/>
                  <a:stretch>
                    <a:fillRect l="-9211" r="-11842" b="-56522"/>
                  </a:stretch>
                </a:blipFill>
                <a:ln w="12700" cap="flat">
                  <a:noFill/>
                  <a:miter lim="400000"/>
                </a:ln>
                <a:effectLst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41" name="CI"/>
            <p:cNvSpPr txBox="1"/>
            <p:nvPr/>
          </p:nvSpPr>
          <p:spPr>
            <a:xfrm rot="16200000">
              <a:off x="24730" y="961445"/>
              <a:ext cx="283627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45719" tIns="45719" rIns="45719" bIns="45719" numCol="1" anchor="t">
              <a:spAutoFit/>
            </a:bodyPr>
            <a:lstStyle>
              <a:lvl1pPr>
                <a:defRPr>
                  <a:solidFill>
                    <a:srgbClr val="C00000"/>
                  </a:solidFill>
                </a:defRPr>
              </a:lvl1pPr>
            </a:lstStyle>
            <a:p>
              <a:r>
                <a:t>CI</a:t>
              </a:r>
            </a:p>
          </p:txBody>
        </p:sp>
        <p:sp>
          <p:nvSpPr>
            <p:cNvPr id="442" name="68%…"/>
            <p:cNvSpPr txBox="1"/>
            <p:nvPr/>
          </p:nvSpPr>
          <p:spPr>
            <a:xfrm>
              <a:off x="397780" y="672966"/>
              <a:ext cx="736040" cy="9052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45719" tIns="45719" rIns="45719" bIns="45719" numCol="1" anchor="t">
              <a:spAutoFit/>
            </a:bodyPr>
            <a:lstStyle/>
            <a:p>
              <a:pPr>
                <a:lnSpc>
                  <a:spcPct val="40000"/>
                </a:lnSpc>
                <a:spcBef>
                  <a:spcPts val="1000"/>
                </a:spcBef>
                <a:buFont typeface="Arial"/>
                <a:defRPr sz="2000">
                  <a:solidFill>
                    <a:schemeClr val="accent1">
                      <a:satOff val="-3547"/>
                      <a:lumOff val="-10352"/>
                    </a:schemeClr>
                  </a:solidFill>
                </a:defRPr>
              </a:pPr>
              <a:r>
                <a:t>68%</a:t>
              </a:r>
            </a:p>
            <a:p>
              <a:pPr>
                <a:lnSpc>
                  <a:spcPct val="40000"/>
                </a:lnSpc>
                <a:spcBef>
                  <a:spcPts val="1000"/>
                </a:spcBef>
                <a:buFont typeface="Arial"/>
                <a:defRPr sz="2000">
                  <a:solidFill>
                    <a:schemeClr val="accent1">
                      <a:satOff val="-3547"/>
                      <a:lumOff val="-10352"/>
                    </a:schemeClr>
                  </a:solidFill>
                </a:defRPr>
              </a:pPr>
              <a:r>
                <a:t>95.4%</a:t>
              </a:r>
            </a:p>
            <a:p>
              <a:pPr>
                <a:lnSpc>
                  <a:spcPct val="40000"/>
                </a:lnSpc>
                <a:spcBef>
                  <a:spcPts val="1000"/>
                </a:spcBef>
                <a:buFont typeface="Arial"/>
                <a:defRPr sz="2000">
                  <a:solidFill>
                    <a:schemeClr val="accent1">
                      <a:satOff val="-3547"/>
                      <a:lumOff val="-10352"/>
                    </a:schemeClr>
                  </a:solidFill>
                </a:defRPr>
              </a:pPr>
              <a:r>
                <a:t>99.7%</a:t>
              </a:r>
            </a:p>
          </p:txBody>
        </p:sp>
        <p:sp>
          <p:nvSpPr>
            <p:cNvPr id="443" name="1.0…"/>
            <p:cNvSpPr txBox="1"/>
            <p:nvPr/>
          </p:nvSpPr>
          <p:spPr>
            <a:xfrm>
              <a:off x="2052079" y="675343"/>
              <a:ext cx="425734" cy="90529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45719" tIns="45719" rIns="45719" bIns="45719" numCol="1" anchor="t">
              <a:spAutoFit/>
            </a:bodyPr>
            <a:lstStyle/>
            <a:p>
              <a:pPr>
                <a:lnSpc>
                  <a:spcPct val="40000"/>
                </a:lnSpc>
                <a:spcBef>
                  <a:spcPts val="1000"/>
                </a:spcBef>
                <a:buFont typeface="Arial"/>
                <a:defRPr sz="2000"/>
              </a:pPr>
              <a:r>
                <a:t>1.0</a:t>
              </a:r>
            </a:p>
            <a:p>
              <a:pPr>
                <a:lnSpc>
                  <a:spcPct val="40000"/>
                </a:lnSpc>
                <a:spcBef>
                  <a:spcPts val="1000"/>
                </a:spcBef>
                <a:buFont typeface="Arial"/>
                <a:defRPr sz="2000"/>
              </a:pPr>
              <a:r>
                <a:t>4.0</a:t>
              </a:r>
            </a:p>
            <a:p>
              <a:pPr>
                <a:lnSpc>
                  <a:spcPct val="40000"/>
                </a:lnSpc>
                <a:spcBef>
                  <a:spcPts val="1000"/>
                </a:spcBef>
                <a:buFont typeface="Arial"/>
                <a:defRPr sz="2000"/>
              </a:pPr>
              <a:r>
                <a:t>9.0</a:t>
              </a:r>
            </a:p>
          </p:txBody>
        </p:sp>
        <p:sp>
          <p:nvSpPr>
            <p:cNvPr id="444" name="2.30…"/>
            <p:cNvSpPr txBox="1"/>
            <p:nvPr/>
          </p:nvSpPr>
          <p:spPr>
            <a:xfrm>
              <a:off x="2724075" y="675343"/>
              <a:ext cx="554470" cy="90529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45719" tIns="45719" rIns="45719" bIns="45719" numCol="1" anchor="t">
              <a:spAutoFit/>
            </a:bodyPr>
            <a:lstStyle/>
            <a:p>
              <a:pPr>
                <a:lnSpc>
                  <a:spcPct val="40000"/>
                </a:lnSpc>
                <a:spcBef>
                  <a:spcPts val="1000"/>
                </a:spcBef>
                <a:buFont typeface="Arial"/>
                <a:defRPr sz="2000"/>
              </a:pPr>
              <a:r>
                <a:t>2.30</a:t>
              </a:r>
            </a:p>
            <a:p>
              <a:pPr>
                <a:lnSpc>
                  <a:spcPct val="40000"/>
                </a:lnSpc>
                <a:spcBef>
                  <a:spcPts val="1000"/>
                </a:spcBef>
                <a:buFont typeface="Arial"/>
                <a:defRPr sz="2000"/>
              </a:pPr>
              <a:r>
                <a:t>6.17</a:t>
              </a:r>
            </a:p>
            <a:p>
              <a:pPr>
                <a:lnSpc>
                  <a:spcPct val="40000"/>
                </a:lnSpc>
                <a:spcBef>
                  <a:spcPts val="1000"/>
                </a:spcBef>
                <a:buFont typeface="Arial"/>
                <a:defRPr sz="2000"/>
              </a:pPr>
              <a:r>
                <a:t>11.8</a:t>
              </a:r>
            </a:p>
          </p:txBody>
        </p:sp>
        <p:sp>
          <p:nvSpPr>
            <p:cNvPr id="445" name="3.53…"/>
            <p:cNvSpPr txBox="1"/>
            <p:nvPr/>
          </p:nvSpPr>
          <p:spPr>
            <a:xfrm>
              <a:off x="3524808" y="675343"/>
              <a:ext cx="554470" cy="90529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45719" tIns="45719" rIns="45719" bIns="45719" numCol="1" anchor="t">
              <a:spAutoFit/>
            </a:bodyPr>
            <a:lstStyle/>
            <a:p>
              <a:pPr>
                <a:lnSpc>
                  <a:spcPct val="40000"/>
                </a:lnSpc>
                <a:spcBef>
                  <a:spcPts val="1000"/>
                </a:spcBef>
                <a:buFont typeface="Arial"/>
                <a:defRPr sz="2000"/>
              </a:pPr>
              <a:r>
                <a:t>3.53</a:t>
              </a:r>
            </a:p>
            <a:p>
              <a:pPr>
                <a:lnSpc>
                  <a:spcPct val="40000"/>
                </a:lnSpc>
                <a:spcBef>
                  <a:spcPts val="1000"/>
                </a:spcBef>
                <a:buFont typeface="Arial"/>
                <a:defRPr sz="2000"/>
              </a:pPr>
              <a:r>
                <a:t>8.02</a:t>
              </a:r>
            </a:p>
            <a:p>
              <a:pPr>
                <a:lnSpc>
                  <a:spcPct val="40000"/>
                </a:lnSpc>
                <a:spcBef>
                  <a:spcPts val="1000"/>
                </a:spcBef>
                <a:buFont typeface="Arial"/>
                <a:defRPr sz="2000"/>
              </a:pPr>
              <a:r>
                <a:t>14.2</a:t>
              </a:r>
            </a:p>
          </p:txBody>
        </p:sp>
        <p:sp>
          <p:nvSpPr>
            <p:cNvPr id="446" name="1"/>
            <p:cNvSpPr txBox="1"/>
            <p:nvPr/>
          </p:nvSpPr>
          <p:spPr>
            <a:xfrm>
              <a:off x="2148507" y="298422"/>
              <a:ext cx="232877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45719" tIns="45719" rIns="45719" bIns="45719" numCol="1" anchor="t">
              <a:spAutoFit/>
            </a:bodyPr>
            <a:lstStyle>
              <a:lvl1pPr>
                <a:lnSpc>
                  <a:spcPct val="40000"/>
                </a:lnSpc>
                <a:spcBef>
                  <a:spcPts val="1000"/>
                </a:spcBef>
                <a:buFont typeface="Arial"/>
                <a:defRPr sz="2000">
                  <a:solidFill>
                    <a:schemeClr val="accent1">
                      <a:satOff val="-3547"/>
                      <a:lumOff val="-10352"/>
                    </a:schemeClr>
                  </a:solidFill>
                </a:defRPr>
              </a:lvl1pPr>
            </a:lstStyle>
            <a:p>
              <a:r>
                <a:t>1</a:t>
              </a:r>
            </a:p>
          </p:txBody>
        </p:sp>
        <p:sp>
          <p:nvSpPr>
            <p:cNvPr id="447" name="2"/>
            <p:cNvSpPr txBox="1"/>
            <p:nvPr/>
          </p:nvSpPr>
          <p:spPr>
            <a:xfrm>
              <a:off x="2884871" y="298422"/>
              <a:ext cx="232878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45719" tIns="45719" rIns="45719" bIns="45719" numCol="1" anchor="t">
              <a:spAutoFit/>
            </a:bodyPr>
            <a:lstStyle>
              <a:lvl1pPr>
                <a:lnSpc>
                  <a:spcPct val="40000"/>
                </a:lnSpc>
                <a:spcBef>
                  <a:spcPts val="1000"/>
                </a:spcBef>
                <a:buFont typeface="Arial"/>
                <a:defRPr sz="2000">
                  <a:solidFill>
                    <a:schemeClr val="accent1">
                      <a:satOff val="-3547"/>
                      <a:lumOff val="-10352"/>
                    </a:schemeClr>
                  </a:solidFill>
                </a:defRPr>
              </a:lvl1pPr>
            </a:lstStyle>
            <a:p>
              <a:r>
                <a:t>2</a:t>
              </a:r>
            </a:p>
          </p:txBody>
        </p:sp>
        <p:sp>
          <p:nvSpPr>
            <p:cNvPr id="448" name="3"/>
            <p:cNvSpPr txBox="1"/>
            <p:nvPr/>
          </p:nvSpPr>
          <p:spPr>
            <a:xfrm>
              <a:off x="3685604" y="298422"/>
              <a:ext cx="232877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45719" tIns="45719" rIns="45719" bIns="45719" numCol="1" anchor="t">
              <a:spAutoFit/>
            </a:bodyPr>
            <a:lstStyle>
              <a:lvl1pPr>
                <a:lnSpc>
                  <a:spcPct val="40000"/>
                </a:lnSpc>
                <a:spcBef>
                  <a:spcPts val="1000"/>
                </a:spcBef>
                <a:buFont typeface="Arial"/>
                <a:defRPr sz="2000">
                  <a:solidFill>
                    <a:schemeClr val="accent1">
                      <a:satOff val="-3547"/>
                      <a:lumOff val="-10352"/>
                    </a:schemeClr>
                  </a:solidFill>
                </a:defRPr>
              </a:lvl1pPr>
            </a:lstStyle>
            <a:p>
              <a:r>
                <a:t>3</a:t>
              </a:r>
            </a:p>
          </p:txBody>
        </p:sp>
        <p:sp>
          <p:nvSpPr>
            <p:cNvPr id="449" name="Line"/>
            <p:cNvSpPr/>
            <p:nvPr/>
          </p:nvSpPr>
          <p:spPr>
            <a:xfrm flipV="1">
              <a:off x="1928947" y="672966"/>
              <a:ext cx="1" cy="905293"/>
            </a:xfrm>
            <a:prstGeom prst="line">
              <a:avLst/>
            </a:prstGeom>
            <a:noFill/>
            <a:ln w="12700" cap="flat">
              <a:solidFill>
                <a:schemeClr val="accent1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450" name="Line"/>
            <p:cNvSpPr/>
            <p:nvPr/>
          </p:nvSpPr>
          <p:spPr>
            <a:xfrm flipH="1" flipV="1">
              <a:off x="1928947" y="660266"/>
              <a:ext cx="2152996" cy="1"/>
            </a:xfrm>
            <a:prstGeom prst="line">
              <a:avLst/>
            </a:prstGeom>
            <a:noFill/>
            <a:ln w="12700" cap="flat">
              <a:solidFill>
                <a:schemeClr val="accent1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51" name="1…"/>
                <p:cNvSpPr txBox="1"/>
                <p:nvPr/>
              </p:nvSpPr>
              <p:spPr>
                <a:xfrm>
                  <a:off x="1274906" y="576508"/>
                  <a:ext cx="370114" cy="1052162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:ma14="http://schemas.microsoft.com/office/mac/drawingml/2011/main" xmlns:m="http://schemas.openxmlformats.org/officeDocument/2006/math" xmlns="" val="1"/>
                  </a:ext>
                </a:extLst>
              </p:spPr>
              <p:txBody>
                <a:bodyPr wrap="none" lIns="45719" tIns="45719" rIns="45719" bIns="45719" numCol="1" anchor="t">
                  <a:spAutoFit/>
                </a:bodyPr>
                <a:lstStyle/>
                <a:p>
                  <a:pPr>
                    <a:lnSpc>
                      <a:spcPct val="40000"/>
                    </a:lnSpc>
                    <a:spcBef>
                      <a:spcPts val="1000"/>
                    </a:spcBef>
                    <a:buFont typeface="Arial"/>
                    <a:defRPr sz="2000" baseline="-30000">
                      <a:solidFill>
                        <a:schemeClr val="accent1">
                          <a:satOff val="-3547"/>
                          <a:lumOff val="-10352"/>
                        </a:schemeClr>
                      </a:solidFill>
                    </a:defRPr>
                  </a:pPr>
                  <a:r>
                    <a:t>1</a:t>
                  </a:r>
                  <a14:m>
                    <m:oMath xmlns:m="http://schemas.openxmlformats.org/officeDocument/2006/math">
                      <m:r>
                        <a:rPr sz="2150" i="1">
                          <a:solidFill>
                            <a:srgbClr val="365B9C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</m:oMath>
                  </a14:m>
                  <a:endParaRPr/>
                </a:p>
                <a:p>
                  <a:pPr>
                    <a:lnSpc>
                      <a:spcPct val="40000"/>
                    </a:lnSpc>
                    <a:spcBef>
                      <a:spcPts val="1000"/>
                    </a:spcBef>
                    <a:buFont typeface="Arial"/>
                    <a:defRPr sz="2000" baseline="-30000">
                      <a:solidFill>
                        <a:schemeClr val="accent1">
                          <a:satOff val="-3547"/>
                          <a:lumOff val="-10352"/>
                        </a:schemeClr>
                      </a:solidFill>
                    </a:defRPr>
                  </a:pPr>
                  <a:r>
                    <a:t>2</a:t>
                  </a:r>
                  <a14:m>
                    <m:oMath xmlns:m="http://schemas.openxmlformats.org/officeDocument/2006/math">
                      <m:r>
                        <a:rPr sz="2150" i="1">
                          <a:solidFill>
                            <a:srgbClr val="365B9C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</m:oMath>
                  </a14:m>
                  <a:endParaRPr/>
                </a:p>
                <a:p>
                  <a:pPr>
                    <a:lnSpc>
                      <a:spcPct val="10000"/>
                    </a:lnSpc>
                    <a:spcBef>
                      <a:spcPts val="1000"/>
                    </a:spcBef>
                    <a:buFont typeface="Arial"/>
                    <a:defRPr sz="2000" baseline="-30000">
                      <a:solidFill>
                        <a:schemeClr val="accent1">
                          <a:satOff val="-3547"/>
                          <a:lumOff val="-10352"/>
                        </a:schemeClr>
                      </a:solidFill>
                    </a:defRPr>
                  </a:pPr>
                  <a:r>
                    <a:t>3</a:t>
                  </a:r>
                  <a14:m>
                    <m:oMath xmlns:m="http://schemas.openxmlformats.org/officeDocument/2006/math">
                      <m:r>
                        <a:rPr sz="2150" i="1">
                          <a:solidFill>
                            <a:srgbClr val="365B9C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</m:oMath>
                  </a14:m>
                  <a:endParaRPr>
                    <a:solidFill>
                      <a:srgbClr val="365B9D"/>
                    </a:solidFill>
                  </a:endParaRPr>
                </a:p>
              </p:txBody>
            </p:sp>
          </mc:Choice>
          <mc:Fallback>
            <p:sp>
              <p:nvSpPr>
                <p:cNvPr id="451" name="1…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4906" y="576508"/>
                  <a:ext cx="370114" cy="1052162"/>
                </a:xfrm>
                <a:prstGeom prst="rect">
                  <a:avLst/>
                </a:prstGeom>
                <a:blipFill>
                  <a:blip r:embed="rId6"/>
                  <a:stretch>
                    <a:fillRect l="-17241"/>
                  </a:stretch>
                </a:blipFill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  </a:ext>
                </a:ex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53" name="Contours of equal probability are defined by"/>
          <p:cNvSpPr txBox="1"/>
          <p:nvPr/>
        </p:nvSpPr>
        <p:spPr>
          <a:xfrm>
            <a:off x="523650" y="2631297"/>
            <a:ext cx="4649848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000"/>
            </a:lvl1pPr>
          </a:lstStyle>
          <a:p>
            <a:r>
              <a:t>Contours of equal probability are defined by</a:t>
            </a:r>
          </a:p>
        </p:txBody>
      </p:sp>
      <p:pic>
        <p:nvPicPr>
          <p:cNvPr id="454" name="prob_hist.png" descr="prob_his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37086" y="1529968"/>
            <a:ext cx="6269398" cy="4374583"/>
          </a:xfrm>
          <a:prstGeom prst="rect">
            <a:avLst/>
          </a:prstGeom>
          <a:ln w="12700">
            <a:miter lim="400000"/>
          </a:ln>
        </p:spPr>
      </p:pic>
      <p:sp>
        <p:nvSpPr>
          <p:cNvPr id="455" name="Line"/>
          <p:cNvSpPr/>
          <p:nvPr/>
        </p:nvSpPr>
        <p:spPr>
          <a:xfrm>
            <a:off x="8046733" y="1707142"/>
            <a:ext cx="1997367" cy="1"/>
          </a:xfrm>
          <a:prstGeom prst="line">
            <a:avLst/>
          </a:prstGeom>
          <a:ln w="63500">
            <a:solidFill>
              <a:schemeClr val="accent6"/>
            </a:solidFill>
            <a:miter/>
            <a:headEnd type="triangle"/>
            <a:tailEnd type="triangle"/>
          </a:ln>
        </p:spPr>
        <p:txBody>
          <a:bodyPr lIns="45719" rIns="45719"/>
          <a:lstStyle/>
          <a:p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56" name="Text"/>
              <p:cNvSpPr txBox="1"/>
              <p:nvPr/>
            </p:nvSpPr>
            <p:spPr>
              <a:xfrm>
                <a:off x="8217094" y="1057119"/>
                <a:ext cx="1656644" cy="504414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none" lIns="45719" rIns="45719">
                <a:spAutoFit/>
              </a:bodyPr>
              <a:lstStyle>
                <a:lvl1pPr>
                  <a:lnSpc>
                    <a:spcPct val="90000"/>
                  </a:lnSpc>
                  <a:spcBef>
                    <a:spcPts val="1000"/>
                  </a:spcBef>
                  <a:buFont typeface="Arial"/>
                  <a:defRPr sz="2000">
                    <a:solidFill>
                      <a:schemeClr val="accent6"/>
                    </a:solidFill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sz="2150">
                              <a:solidFill>
                                <a:srgbClr val="70AD4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2150" i="1">
                              <a:solidFill>
                                <a:srgbClr val="70AD47"/>
                              </a:solidFill>
                              <a:latin typeface="Cambria Math" panose="02040503050406030204" pitchFamily="18" charset="0"/>
                            </a:rPr>
                            <m:t>𝜒</m:t>
                          </m:r>
                        </m:e>
                        <m:sup>
                          <m:r>
                            <a:rPr sz="2150" i="1">
                              <a:solidFill>
                                <a:srgbClr val="70AD47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sz="2150" i="1">
                          <a:solidFill>
                            <a:srgbClr val="70AD47"/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sSubSup>
                        <m:sSubSupPr>
                          <m:ctrlPr>
                            <a:rPr sz="2150" i="1">
                              <a:solidFill>
                                <a:srgbClr val="70AD4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sz="2150" i="1">
                              <a:solidFill>
                                <a:srgbClr val="70AD47"/>
                              </a:solidFill>
                              <a:latin typeface="Cambria Math" panose="02040503050406030204" pitchFamily="18" charset="0"/>
                            </a:rPr>
                            <m:t>𝜒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sz="2150" i="1">
                              <a:solidFill>
                                <a:srgbClr val="70AD47"/>
                              </a:solidFill>
                              <a:latin typeface="Cambria Math" panose="02040503050406030204" pitchFamily="18" charset="0"/>
                            </a:rPr>
                            <m:t>min</m:t>
                          </m:r>
                        </m:sub>
                        <m:sup>
                          <m:r>
                            <a:rPr sz="2150" i="1">
                              <a:solidFill>
                                <a:srgbClr val="70AD47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sz="2150" i="1">
                          <a:solidFill>
                            <a:srgbClr val="70AD47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>
                  <a:solidFill>
                    <a:srgbClr val="70AD47"/>
                  </a:solidFill>
                </a:endParaRPr>
              </a:p>
            </p:txBody>
          </p:sp>
        </mc:Choice>
        <mc:Fallback>
          <p:sp>
            <p:nvSpPr>
              <p:cNvPr id="456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7094" y="1057119"/>
                <a:ext cx="1656644" cy="504414"/>
              </a:xfrm>
              <a:prstGeom prst="rect">
                <a:avLst/>
              </a:prstGeom>
              <a:blipFill>
                <a:blip r:embed="rId8"/>
                <a:stretch>
                  <a:fillRect l="-3053" r="-14504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7" name="WARNING: This process knows nothing about physics: beware of unphysical regions"/>
          <p:cNvSpPr txBox="1"/>
          <p:nvPr/>
        </p:nvSpPr>
        <p:spPr>
          <a:xfrm>
            <a:off x="622710" y="6303054"/>
            <a:ext cx="8720173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000"/>
            </a:pPr>
            <a:r>
              <a:rPr b="1"/>
              <a:t>WARNING</a:t>
            </a:r>
            <a:r>
              <a:t>: This process knows nothing about physics: beware of unphysical regions</a:t>
            </a:r>
          </a:p>
        </p:txBody>
      </p:sp>
    </p:spTree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59" name="Title 1"/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460280" y="315831"/>
                <a:ext cx="10515601" cy="1325564"/>
              </a:xfrm>
              <a:prstGeom prst="rect">
                <a:avLst/>
              </a:prstGeom>
            </p:spPr>
            <p:txBody>
              <a:bodyPr/>
              <a:lstStyle/>
              <a:p>
                <a:pPr>
                  <a:defRPr i="1">
                    <a:solidFill>
                      <a:srgbClr val="C00000"/>
                    </a:solidFill>
                  </a:defRPr>
                </a:pPr>
                <a14:m>
                  <m:oMath xmlns:m="http://schemas.openxmlformats.org/officeDocument/2006/math">
                    <m:sSup>
                      <m:sSupPr>
                        <m:ctrlPr>
                          <a:rPr sz="49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sz="49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sz="49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t> : estimating uncertainties : bootstrapping</a:t>
                </a:r>
              </a:p>
            </p:txBody>
          </p:sp>
        </mc:Choice>
        <mc:Fallback>
          <p:sp>
            <p:nvSpPr>
              <p:cNvPr id="459" name="Title 1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460280" y="315831"/>
                <a:ext cx="10515601" cy="1325564"/>
              </a:xfrm>
              <a:prstGeom prst="rect">
                <a:avLst/>
              </a:prstGeom>
              <a:blipFill>
                <a:blip r:embed="rId2"/>
                <a:stretch>
                  <a:fillRect l="-1568" b="-9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0" name="Slide Number Placeholder 2"/>
          <p:cNvSpPr txBox="1">
            <a:spLocks noGrp="1"/>
          </p:cNvSpPr>
          <p:nvPr>
            <p:ph type="sldNum" sz="quarter" idx="2"/>
          </p:nvPr>
        </p:nvSpPr>
        <p:spPr>
          <a:xfrm>
            <a:off x="11684000" y="6402746"/>
            <a:ext cx="284372" cy="280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25</a:t>
            </a:fld>
            <a:endParaRPr/>
          </a:p>
        </p:txBody>
      </p:sp>
      <p:sp>
        <p:nvSpPr>
          <p:cNvPr id="461" name="Resampling the data with replacement"/>
          <p:cNvSpPr txBox="1"/>
          <p:nvPr/>
        </p:nvSpPr>
        <p:spPr>
          <a:xfrm>
            <a:off x="836275" y="1361297"/>
            <a:ext cx="4501963" cy="385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200"/>
            </a:pPr>
            <a:r>
              <a:t>Resampling the data </a:t>
            </a:r>
            <a:r>
              <a:rPr b="1"/>
              <a:t>with</a:t>
            </a:r>
            <a:r>
              <a:t> replacement</a:t>
            </a:r>
          </a:p>
        </p:txBody>
      </p:sp>
      <p:grpSp>
        <p:nvGrpSpPr>
          <p:cNvPr id="471" name="Group"/>
          <p:cNvGrpSpPr/>
          <p:nvPr/>
        </p:nvGrpSpPr>
        <p:grpSpPr>
          <a:xfrm>
            <a:off x="481771" y="2447219"/>
            <a:ext cx="1524001" cy="1522019"/>
            <a:chOff x="0" y="0"/>
            <a:chExt cx="1524000" cy="1522017"/>
          </a:xfrm>
        </p:grpSpPr>
        <p:sp>
          <p:nvSpPr>
            <p:cNvPr id="462" name="Circle"/>
            <p:cNvSpPr/>
            <p:nvPr/>
          </p:nvSpPr>
          <p:spPr>
            <a:xfrm>
              <a:off x="0" y="0"/>
              <a:ext cx="1524000" cy="1522018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chemeClr val="accent1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  <p:sp>
          <p:nvSpPr>
            <p:cNvPr id="463" name="Star"/>
            <p:cNvSpPr/>
            <p:nvPr/>
          </p:nvSpPr>
          <p:spPr>
            <a:xfrm>
              <a:off x="177044" y="934066"/>
              <a:ext cx="253648" cy="241234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gradFill flip="none" rotWithShape="1">
              <a:gsLst>
                <a:gs pos="0">
                  <a:srgbClr val="80B860"/>
                </a:gs>
                <a:gs pos="50000">
                  <a:srgbClr val="6FB242"/>
                </a:gs>
                <a:gs pos="100000">
                  <a:srgbClr val="61A236"/>
                </a:gs>
              </a:gsLst>
              <a:lin ang="54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64" name="Star"/>
            <p:cNvSpPr/>
            <p:nvPr/>
          </p:nvSpPr>
          <p:spPr>
            <a:xfrm>
              <a:off x="933523" y="934066"/>
              <a:ext cx="253647" cy="241234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gradFill flip="none" rotWithShape="1">
              <a:gsLst>
                <a:gs pos="0">
                  <a:srgbClr val="80B860"/>
                </a:gs>
                <a:gs pos="50000">
                  <a:srgbClr val="6FB242"/>
                </a:gs>
                <a:gs pos="100000">
                  <a:srgbClr val="61A236"/>
                </a:gs>
              </a:gsLst>
              <a:lin ang="54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65" name="Star"/>
            <p:cNvSpPr/>
            <p:nvPr/>
          </p:nvSpPr>
          <p:spPr>
            <a:xfrm>
              <a:off x="226188" y="414032"/>
              <a:ext cx="253648" cy="241233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gradFill flip="none" rotWithShape="1">
              <a:gsLst>
                <a:gs pos="0">
                  <a:schemeClr val="accent4">
                    <a:hueOff val="-406799"/>
                    <a:lumOff val="30382"/>
                  </a:schemeClr>
                </a:gs>
                <a:gs pos="50000">
                  <a:srgbClr val="FFD58D"/>
                </a:gs>
                <a:gs pos="100000">
                  <a:schemeClr val="accent4">
                    <a:hueOff val="-362075"/>
                    <a:lumOff val="23565"/>
                  </a:schemeClr>
                </a:gs>
              </a:gsLst>
              <a:lin ang="5400000" scaled="0"/>
            </a:gradFill>
            <a:ln w="6350" cap="flat">
              <a:solidFill>
                <a:schemeClr val="accent4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  <p:sp>
          <p:nvSpPr>
            <p:cNvPr id="466" name="Star"/>
            <p:cNvSpPr/>
            <p:nvPr/>
          </p:nvSpPr>
          <p:spPr>
            <a:xfrm>
              <a:off x="933523" y="414032"/>
              <a:ext cx="253647" cy="241233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gradFill flip="none" rotWithShape="1">
              <a:gsLst>
                <a:gs pos="0">
                  <a:srgbClr val="70A6DB"/>
                </a:gs>
                <a:gs pos="50000">
                  <a:srgbClr val="559BDB"/>
                </a:gs>
                <a:gs pos="100000">
                  <a:srgbClr val="448AC9"/>
                </a:gs>
              </a:gsLst>
              <a:lin ang="5400000" scaled="0"/>
            </a:gradFill>
            <a:ln w="6350" cap="flat">
              <a:solidFill>
                <a:schemeClr val="accent5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67" name="Star"/>
            <p:cNvSpPr/>
            <p:nvPr/>
          </p:nvSpPr>
          <p:spPr>
            <a:xfrm>
              <a:off x="555284" y="641373"/>
              <a:ext cx="253647" cy="241233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gradFill flip="none" rotWithShape="1">
              <a:gsLst>
                <a:gs pos="0">
                  <a:srgbClr val="80B860"/>
                </a:gs>
                <a:gs pos="50000">
                  <a:srgbClr val="6FB242"/>
                </a:gs>
                <a:gs pos="100000">
                  <a:srgbClr val="61A236"/>
                </a:gs>
              </a:gsLst>
              <a:lin ang="54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68" name="Star"/>
            <p:cNvSpPr/>
            <p:nvPr/>
          </p:nvSpPr>
          <p:spPr>
            <a:xfrm>
              <a:off x="555284" y="1099677"/>
              <a:ext cx="253647" cy="241234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solidFill>
              <a:schemeClr val="accent2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69" name="Star"/>
            <p:cNvSpPr/>
            <p:nvPr/>
          </p:nvSpPr>
          <p:spPr>
            <a:xfrm>
              <a:off x="635176" y="95846"/>
              <a:ext cx="253648" cy="241233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gradFill flip="none" rotWithShape="1">
              <a:gsLst>
                <a:gs pos="0">
                  <a:srgbClr val="70A6DB"/>
                </a:gs>
                <a:gs pos="50000">
                  <a:srgbClr val="559BDB"/>
                </a:gs>
                <a:gs pos="100000">
                  <a:srgbClr val="448AC9"/>
                </a:gs>
              </a:gsLst>
              <a:lin ang="5400000" scaled="0"/>
            </a:gradFill>
            <a:ln w="6350" cap="flat">
              <a:solidFill>
                <a:schemeClr val="accent5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70" name="Star"/>
            <p:cNvSpPr/>
            <p:nvPr/>
          </p:nvSpPr>
          <p:spPr>
            <a:xfrm>
              <a:off x="1179240" y="641373"/>
              <a:ext cx="253648" cy="241233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gradFill flip="none" rotWithShape="1">
              <a:gsLst>
                <a:gs pos="0">
                  <a:srgbClr val="80B860"/>
                </a:gs>
                <a:gs pos="50000">
                  <a:srgbClr val="6FB242"/>
                </a:gs>
                <a:gs pos="100000">
                  <a:srgbClr val="61A236"/>
                </a:gs>
              </a:gsLst>
              <a:lin ang="54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481" name="Group"/>
          <p:cNvGrpSpPr/>
          <p:nvPr/>
        </p:nvGrpSpPr>
        <p:grpSpPr>
          <a:xfrm>
            <a:off x="3090241" y="4334792"/>
            <a:ext cx="1524001" cy="1522019"/>
            <a:chOff x="0" y="0"/>
            <a:chExt cx="1524000" cy="1522017"/>
          </a:xfrm>
        </p:grpSpPr>
        <p:sp>
          <p:nvSpPr>
            <p:cNvPr id="472" name="Circle"/>
            <p:cNvSpPr/>
            <p:nvPr/>
          </p:nvSpPr>
          <p:spPr>
            <a:xfrm>
              <a:off x="0" y="0"/>
              <a:ext cx="1524000" cy="1522018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chemeClr val="accent1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  <p:sp>
          <p:nvSpPr>
            <p:cNvPr id="473" name="Star"/>
            <p:cNvSpPr/>
            <p:nvPr/>
          </p:nvSpPr>
          <p:spPr>
            <a:xfrm>
              <a:off x="401225" y="1081418"/>
              <a:ext cx="253648" cy="241233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gradFill flip="none" rotWithShape="1">
              <a:gsLst>
                <a:gs pos="0">
                  <a:srgbClr val="80B860"/>
                </a:gs>
                <a:gs pos="50000">
                  <a:srgbClr val="6FB242"/>
                </a:gs>
                <a:gs pos="100000">
                  <a:srgbClr val="61A236"/>
                </a:gs>
              </a:gsLst>
              <a:lin ang="54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74" name="Star"/>
            <p:cNvSpPr/>
            <p:nvPr/>
          </p:nvSpPr>
          <p:spPr>
            <a:xfrm>
              <a:off x="779464" y="788725"/>
              <a:ext cx="253648" cy="241233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gradFill flip="none" rotWithShape="1">
              <a:gsLst>
                <a:gs pos="0">
                  <a:srgbClr val="80B860"/>
                </a:gs>
                <a:gs pos="50000">
                  <a:srgbClr val="6FB242"/>
                </a:gs>
                <a:gs pos="100000">
                  <a:srgbClr val="61A236"/>
                </a:gs>
              </a:gsLst>
              <a:lin ang="54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75" name="Star"/>
            <p:cNvSpPr/>
            <p:nvPr/>
          </p:nvSpPr>
          <p:spPr>
            <a:xfrm>
              <a:off x="859357" y="243197"/>
              <a:ext cx="253647" cy="241233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gradFill flip="none" rotWithShape="1">
              <a:gsLst>
                <a:gs pos="0">
                  <a:srgbClr val="70A6DB"/>
                </a:gs>
                <a:gs pos="50000">
                  <a:srgbClr val="559BDB"/>
                </a:gs>
                <a:gs pos="100000">
                  <a:srgbClr val="448AC9"/>
                </a:gs>
              </a:gsLst>
              <a:lin ang="5400000" scaled="0"/>
            </a:gradFill>
            <a:ln w="6350" cap="flat">
              <a:solidFill>
                <a:schemeClr val="accent5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76" name="Star"/>
            <p:cNvSpPr/>
            <p:nvPr/>
          </p:nvSpPr>
          <p:spPr>
            <a:xfrm>
              <a:off x="402157" y="689140"/>
              <a:ext cx="253648" cy="241233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gradFill flip="none" rotWithShape="1">
              <a:gsLst>
                <a:gs pos="0">
                  <a:srgbClr val="80B860"/>
                </a:gs>
                <a:gs pos="50000">
                  <a:srgbClr val="6FB242"/>
                </a:gs>
                <a:gs pos="100000">
                  <a:srgbClr val="61A236"/>
                </a:gs>
              </a:gsLst>
              <a:lin ang="54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77" name="Star"/>
            <p:cNvSpPr/>
            <p:nvPr/>
          </p:nvSpPr>
          <p:spPr>
            <a:xfrm>
              <a:off x="1156772" y="640392"/>
              <a:ext cx="253648" cy="241233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solidFill>
              <a:schemeClr val="accent2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78" name="Star"/>
            <p:cNvSpPr/>
            <p:nvPr/>
          </p:nvSpPr>
          <p:spPr>
            <a:xfrm>
              <a:off x="482049" y="219813"/>
              <a:ext cx="253648" cy="241233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gradFill flip="none" rotWithShape="1">
              <a:gsLst>
                <a:gs pos="0">
                  <a:srgbClr val="70A6DB"/>
                </a:gs>
                <a:gs pos="50000">
                  <a:srgbClr val="559BDB"/>
                </a:gs>
                <a:gs pos="100000">
                  <a:srgbClr val="448AC9"/>
                </a:gs>
              </a:gsLst>
              <a:lin ang="5400000" scaled="0"/>
            </a:gradFill>
            <a:ln w="6350" cap="flat">
              <a:solidFill>
                <a:schemeClr val="accent5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79" name="Star"/>
            <p:cNvSpPr/>
            <p:nvPr/>
          </p:nvSpPr>
          <p:spPr>
            <a:xfrm>
              <a:off x="849586" y="1056482"/>
              <a:ext cx="253648" cy="241233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solidFill>
              <a:schemeClr val="accent2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80" name="Star"/>
            <p:cNvSpPr/>
            <p:nvPr/>
          </p:nvSpPr>
          <p:spPr>
            <a:xfrm>
              <a:off x="118341" y="465439"/>
              <a:ext cx="253648" cy="241233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gradFill flip="none" rotWithShape="1">
              <a:gsLst>
                <a:gs pos="0">
                  <a:srgbClr val="70A6DB"/>
                </a:gs>
                <a:gs pos="50000">
                  <a:srgbClr val="559BDB"/>
                </a:gs>
                <a:gs pos="100000">
                  <a:srgbClr val="448AC9"/>
                </a:gs>
              </a:gsLst>
              <a:lin ang="5400000" scaled="0"/>
            </a:gradFill>
            <a:ln w="6350" cap="flat">
              <a:solidFill>
                <a:schemeClr val="accent5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491" name="Group"/>
          <p:cNvGrpSpPr/>
          <p:nvPr/>
        </p:nvGrpSpPr>
        <p:grpSpPr>
          <a:xfrm>
            <a:off x="730180" y="4941956"/>
            <a:ext cx="1524001" cy="1522018"/>
            <a:chOff x="0" y="0"/>
            <a:chExt cx="1524000" cy="1522017"/>
          </a:xfrm>
        </p:grpSpPr>
        <p:sp>
          <p:nvSpPr>
            <p:cNvPr id="482" name="Circle"/>
            <p:cNvSpPr/>
            <p:nvPr/>
          </p:nvSpPr>
          <p:spPr>
            <a:xfrm>
              <a:off x="0" y="0"/>
              <a:ext cx="1524000" cy="1522018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chemeClr val="accent1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  <p:sp>
          <p:nvSpPr>
            <p:cNvPr id="483" name="Star"/>
            <p:cNvSpPr/>
            <p:nvPr/>
          </p:nvSpPr>
          <p:spPr>
            <a:xfrm>
              <a:off x="134078" y="905546"/>
              <a:ext cx="253648" cy="241233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gradFill flip="none" rotWithShape="1">
              <a:gsLst>
                <a:gs pos="0">
                  <a:srgbClr val="80B860"/>
                </a:gs>
                <a:gs pos="50000">
                  <a:srgbClr val="6FB242"/>
                </a:gs>
                <a:gs pos="100000">
                  <a:srgbClr val="61A236"/>
                </a:gs>
              </a:gsLst>
              <a:lin ang="54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84" name="Star"/>
            <p:cNvSpPr/>
            <p:nvPr/>
          </p:nvSpPr>
          <p:spPr>
            <a:xfrm>
              <a:off x="890556" y="385511"/>
              <a:ext cx="253648" cy="241234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gradFill flip="none" rotWithShape="1">
              <a:gsLst>
                <a:gs pos="0">
                  <a:srgbClr val="70A6DB"/>
                </a:gs>
                <a:gs pos="50000">
                  <a:srgbClr val="559BDB"/>
                </a:gs>
                <a:gs pos="100000">
                  <a:srgbClr val="448AC9"/>
                </a:gs>
              </a:gsLst>
              <a:lin ang="5400000" scaled="0"/>
            </a:gradFill>
            <a:ln w="6350" cap="flat">
              <a:solidFill>
                <a:schemeClr val="accent5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85" name="Star"/>
            <p:cNvSpPr/>
            <p:nvPr/>
          </p:nvSpPr>
          <p:spPr>
            <a:xfrm>
              <a:off x="1136274" y="612852"/>
              <a:ext cx="253648" cy="241234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gradFill flip="none" rotWithShape="1">
              <a:gsLst>
                <a:gs pos="0">
                  <a:srgbClr val="80B860"/>
                </a:gs>
                <a:gs pos="50000">
                  <a:srgbClr val="6FB242"/>
                </a:gs>
                <a:gs pos="100000">
                  <a:srgbClr val="61A236"/>
                </a:gs>
              </a:gsLst>
              <a:lin ang="54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86" name="Star"/>
            <p:cNvSpPr/>
            <p:nvPr/>
          </p:nvSpPr>
          <p:spPr>
            <a:xfrm>
              <a:off x="446057" y="1083466"/>
              <a:ext cx="253647" cy="241233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gradFill flip="none" rotWithShape="1">
              <a:gsLst>
                <a:gs pos="0">
                  <a:srgbClr val="80B860"/>
                </a:gs>
                <a:gs pos="50000">
                  <a:srgbClr val="6FB242"/>
                </a:gs>
                <a:gs pos="100000">
                  <a:srgbClr val="61A236"/>
                </a:gs>
              </a:gsLst>
              <a:lin ang="54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87" name="Star"/>
            <p:cNvSpPr/>
            <p:nvPr/>
          </p:nvSpPr>
          <p:spPr>
            <a:xfrm>
              <a:off x="862396" y="943173"/>
              <a:ext cx="253647" cy="241233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gradFill flip="none" rotWithShape="1">
              <a:gsLst>
                <a:gs pos="0">
                  <a:srgbClr val="80B860"/>
                </a:gs>
                <a:gs pos="50000">
                  <a:srgbClr val="6FB242"/>
                </a:gs>
                <a:gs pos="100000">
                  <a:srgbClr val="61A236"/>
                </a:gs>
              </a:gsLst>
              <a:lin ang="54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88" name="Star"/>
            <p:cNvSpPr/>
            <p:nvPr/>
          </p:nvSpPr>
          <p:spPr>
            <a:xfrm>
              <a:off x="293557" y="341586"/>
              <a:ext cx="253648" cy="241233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gradFill flip="none" rotWithShape="1">
              <a:gsLst>
                <a:gs pos="0">
                  <a:schemeClr val="accent4">
                    <a:hueOff val="-406799"/>
                    <a:lumOff val="30382"/>
                  </a:schemeClr>
                </a:gs>
                <a:gs pos="50000">
                  <a:srgbClr val="FFD58D"/>
                </a:gs>
                <a:gs pos="100000">
                  <a:schemeClr val="accent4">
                    <a:hueOff val="-362075"/>
                    <a:lumOff val="23565"/>
                  </a:schemeClr>
                </a:gs>
              </a:gsLst>
              <a:lin ang="5400000" scaled="0"/>
            </a:gradFill>
            <a:ln w="6350" cap="flat">
              <a:solidFill>
                <a:schemeClr val="accent4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  <p:sp>
          <p:nvSpPr>
            <p:cNvPr id="489" name="Star"/>
            <p:cNvSpPr/>
            <p:nvPr/>
          </p:nvSpPr>
          <p:spPr>
            <a:xfrm>
              <a:off x="508353" y="568927"/>
              <a:ext cx="253647" cy="241233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gradFill flip="none" rotWithShape="1">
              <a:gsLst>
                <a:gs pos="0">
                  <a:srgbClr val="80B860"/>
                </a:gs>
                <a:gs pos="50000">
                  <a:srgbClr val="6FB242"/>
                </a:gs>
                <a:gs pos="100000">
                  <a:srgbClr val="61A236"/>
                </a:gs>
              </a:gsLst>
              <a:lin ang="54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0" name="Star"/>
            <p:cNvSpPr/>
            <p:nvPr/>
          </p:nvSpPr>
          <p:spPr>
            <a:xfrm>
              <a:off x="609887" y="54388"/>
              <a:ext cx="253648" cy="241233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gradFill flip="none" rotWithShape="1">
              <a:gsLst>
                <a:gs pos="0">
                  <a:srgbClr val="80B860"/>
                </a:gs>
                <a:gs pos="50000">
                  <a:srgbClr val="6FB242"/>
                </a:gs>
                <a:gs pos="100000">
                  <a:srgbClr val="61A236"/>
                </a:gs>
              </a:gsLst>
              <a:lin ang="54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501" name="Group"/>
          <p:cNvGrpSpPr/>
          <p:nvPr/>
        </p:nvGrpSpPr>
        <p:grpSpPr>
          <a:xfrm>
            <a:off x="3441700" y="2357355"/>
            <a:ext cx="1524000" cy="1522019"/>
            <a:chOff x="0" y="0"/>
            <a:chExt cx="1524000" cy="1522017"/>
          </a:xfrm>
        </p:grpSpPr>
        <p:sp>
          <p:nvSpPr>
            <p:cNvPr id="492" name="Circle"/>
            <p:cNvSpPr/>
            <p:nvPr/>
          </p:nvSpPr>
          <p:spPr>
            <a:xfrm>
              <a:off x="0" y="0"/>
              <a:ext cx="1524000" cy="1522018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chemeClr val="accent1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  <p:sp>
          <p:nvSpPr>
            <p:cNvPr id="493" name="Star"/>
            <p:cNvSpPr/>
            <p:nvPr/>
          </p:nvSpPr>
          <p:spPr>
            <a:xfrm>
              <a:off x="262459" y="514601"/>
              <a:ext cx="253648" cy="241233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gradFill flip="none" rotWithShape="1">
              <a:gsLst>
                <a:gs pos="0">
                  <a:schemeClr val="accent4">
                    <a:hueOff val="-406799"/>
                    <a:lumOff val="30382"/>
                  </a:schemeClr>
                </a:gs>
                <a:gs pos="50000">
                  <a:srgbClr val="FFD58D"/>
                </a:gs>
                <a:gs pos="100000">
                  <a:schemeClr val="accent4">
                    <a:hueOff val="-362075"/>
                    <a:lumOff val="23565"/>
                  </a:schemeClr>
                </a:gs>
              </a:gsLst>
              <a:lin ang="5400000" scaled="0"/>
            </a:gradFill>
            <a:ln w="6350" cap="flat">
              <a:solidFill>
                <a:schemeClr val="accent4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  <p:sp>
          <p:nvSpPr>
            <p:cNvPr id="494" name="Star"/>
            <p:cNvSpPr/>
            <p:nvPr/>
          </p:nvSpPr>
          <p:spPr>
            <a:xfrm>
              <a:off x="961511" y="863916"/>
              <a:ext cx="253648" cy="241233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gradFill flip="none" rotWithShape="1">
              <a:gsLst>
                <a:gs pos="0">
                  <a:srgbClr val="70A6DB"/>
                </a:gs>
                <a:gs pos="50000">
                  <a:srgbClr val="559BDB"/>
                </a:gs>
                <a:gs pos="100000">
                  <a:srgbClr val="448AC9"/>
                </a:gs>
              </a:gsLst>
              <a:lin ang="5400000" scaled="0"/>
            </a:gradFill>
            <a:ln w="6350" cap="flat">
              <a:solidFill>
                <a:schemeClr val="accent5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5" name="Star"/>
            <p:cNvSpPr/>
            <p:nvPr/>
          </p:nvSpPr>
          <p:spPr>
            <a:xfrm>
              <a:off x="553454" y="1136746"/>
              <a:ext cx="253648" cy="241233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solidFill>
              <a:schemeClr val="accent2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6" name="Star"/>
            <p:cNvSpPr/>
            <p:nvPr/>
          </p:nvSpPr>
          <p:spPr>
            <a:xfrm>
              <a:off x="282226" y="935134"/>
              <a:ext cx="253648" cy="241233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gradFill flip="none" rotWithShape="1">
              <a:gsLst>
                <a:gs pos="0">
                  <a:srgbClr val="80B860"/>
                </a:gs>
                <a:gs pos="50000">
                  <a:srgbClr val="6FB242"/>
                </a:gs>
                <a:gs pos="100000">
                  <a:srgbClr val="61A236"/>
                </a:gs>
              </a:gsLst>
              <a:lin ang="54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7" name="Star"/>
            <p:cNvSpPr/>
            <p:nvPr/>
          </p:nvSpPr>
          <p:spPr>
            <a:xfrm>
              <a:off x="660465" y="642440"/>
              <a:ext cx="253648" cy="241233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gradFill flip="none" rotWithShape="1">
              <a:gsLst>
                <a:gs pos="0">
                  <a:srgbClr val="80B860"/>
                </a:gs>
                <a:gs pos="50000">
                  <a:srgbClr val="6FB242"/>
                </a:gs>
                <a:gs pos="100000">
                  <a:srgbClr val="61A236"/>
                </a:gs>
              </a:gsLst>
              <a:lin ang="54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8" name="Star"/>
            <p:cNvSpPr/>
            <p:nvPr/>
          </p:nvSpPr>
          <p:spPr>
            <a:xfrm>
              <a:off x="1152011" y="476501"/>
              <a:ext cx="253648" cy="241233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gradFill flip="none" rotWithShape="1">
              <a:gsLst>
                <a:gs pos="0">
                  <a:schemeClr val="accent4">
                    <a:hueOff val="-406799"/>
                    <a:lumOff val="30382"/>
                  </a:schemeClr>
                </a:gs>
                <a:gs pos="50000">
                  <a:srgbClr val="FFD58D"/>
                </a:gs>
                <a:gs pos="100000">
                  <a:schemeClr val="accent4">
                    <a:hueOff val="-362075"/>
                    <a:lumOff val="23565"/>
                  </a:schemeClr>
                </a:gs>
              </a:gsLst>
              <a:lin ang="5400000" scaled="0"/>
            </a:gradFill>
            <a:ln w="6350" cap="flat">
              <a:solidFill>
                <a:schemeClr val="accent4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  <p:sp>
          <p:nvSpPr>
            <p:cNvPr id="499" name="Star"/>
            <p:cNvSpPr/>
            <p:nvPr/>
          </p:nvSpPr>
          <p:spPr>
            <a:xfrm>
              <a:off x="885032" y="231264"/>
              <a:ext cx="253648" cy="241233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gradFill flip="none" rotWithShape="1">
              <a:gsLst>
                <a:gs pos="0">
                  <a:srgbClr val="80B860"/>
                </a:gs>
                <a:gs pos="50000">
                  <a:srgbClr val="6FB242"/>
                </a:gs>
                <a:gs pos="100000">
                  <a:srgbClr val="61A236"/>
                </a:gs>
              </a:gsLst>
              <a:lin ang="54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00" name="Star"/>
            <p:cNvSpPr/>
            <p:nvPr/>
          </p:nvSpPr>
          <p:spPr>
            <a:xfrm>
              <a:off x="451782" y="139823"/>
              <a:ext cx="253647" cy="241233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gradFill flip="none" rotWithShape="1">
              <a:gsLst>
                <a:gs pos="0">
                  <a:srgbClr val="70A6DB"/>
                </a:gs>
                <a:gs pos="50000">
                  <a:srgbClr val="559BDB"/>
                </a:gs>
                <a:gs pos="100000">
                  <a:srgbClr val="448AC9"/>
                </a:gs>
              </a:gsLst>
              <a:lin ang="5400000" scaled="0"/>
            </a:gradFill>
            <a:ln w="6350" cap="flat">
              <a:solidFill>
                <a:schemeClr val="accent5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02" name="Line"/>
          <p:cNvSpPr/>
          <p:nvPr/>
        </p:nvSpPr>
        <p:spPr>
          <a:xfrm>
            <a:off x="1800086" y="3716130"/>
            <a:ext cx="1505955" cy="972323"/>
          </a:xfrm>
          <a:prstGeom prst="line">
            <a:avLst/>
          </a:prstGeom>
          <a:ln w="63500">
            <a:solidFill>
              <a:schemeClr val="accent1"/>
            </a:solidFill>
            <a:miter/>
            <a:tailEnd type="triangle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503" name="Line"/>
          <p:cNvSpPr/>
          <p:nvPr/>
        </p:nvSpPr>
        <p:spPr>
          <a:xfrm flipV="1">
            <a:off x="2026478" y="3082238"/>
            <a:ext cx="1397893" cy="147980"/>
          </a:xfrm>
          <a:prstGeom prst="line">
            <a:avLst/>
          </a:prstGeom>
          <a:ln w="63500">
            <a:solidFill>
              <a:schemeClr val="accent1"/>
            </a:solidFill>
            <a:miter/>
            <a:tailEnd type="triangle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504" name="Line"/>
          <p:cNvSpPr/>
          <p:nvPr/>
        </p:nvSpPr>
        <p:spPr>
          <a:xfrm flipH="1">
            <a:off x="1281043" y="3942521"/>
            <a:ext cx="1" cy="1080006"/>
          </a:xfrm>
          <a:prstGeom prst="line">
            <a:avLst/>
          </a:prstGeom>
          <a:ln w="63500">
            <a:solidFill>
              <a:schemeClr val="accent1"/>
            </a:solidFill>
            <a:miter/>
            <a:tailEnd type="triangle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505" name="Rectangle"/>
          <p:cNvSpPr/>
          <p:nvPr/>
        </p:nvSpPr>
        <p:spPr>
          <a:xfrm>
            <a:off x="5524016" y="2717485"/>
            <a:ext cx="5037852" cy="2463248"/>
          </a:xfrm>
          <a:prstGeom prst="rect">
            <a:avLst/>
          </a:prstGeom>
          <a:solidFill>
            <a:srgbClr val="FFFFFF">
              <a:alpha val="87136"/>
            </a:srgbClr>
          </a:solidFill>
          <a:ln w="12700">
            <a:solidFill>
              <a:schemeClr val="accent1">
                <a:alpha val="87136"/>
              </a:schemeClr>
            </a:solidFill>
            <a:miter/>
          </a:ln>
        </p:spPr>
        <p:txBody>
          <a:bodyPr lIns="45719" rIns="45719" anchor="ctr"/>
          <a:lstStyle/>
          <a:p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06" name="(For a dataset with   measurements)"/>
              <p:cNvSpPr txBox="1"/>
              <p:nvPr/>
            </p:nvSpPr>
            <p:spPr>
              <a:xfrm>
                <a:off x="5493188" y="2088650"/>
                <a:ext cx="4335530" cy="398622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none" lIns="45719" rIns="45719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ts val="1000"/>
                  </a:spcBef>
                  <a:buFont typeface="Arial"/>
                  <a:defRPr sz="2200"/>
                </a:pPr>
                <a:r>
                  <a:t>(For a dataset with </a:t>
                </a:r>
                <a14:m>
                  <m:oMath xmlns:m="http://schemas.openxmlformats.org/officeDocument/2006/math"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t> measurements)</a:t>
                </a:r>
              </a:p>
            </p:txBody>
          </p:sp>
        </mc:Choice>
        <mc:Fallback>
          <p:sp>
            <p:nvSpPr>
              <p:cNvPr id="506" name="(For a dataset with   measurements)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3188" y="2088650"/>
                <a:ext cx="4335530" cy="398622"/>
              </a:xfrm>
              <a:prstGeom prst="rect">
                <a:avLst/>
              </a:prstGeom>
              <a:blipFill>
                <a:blip r:embed="rId3"/>
                <a:stretch>
                  <a:fillRect l="-2924" t="-15625" r="-3509" b="-34375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7" name="&gt; Randomly select   values"/>
              <p:cNvSpPr txBox="1"/>
              <p:nvPr/>
            </p:nvSpPr>
            <p:spPr>
              <a:xfrm>
                <a:off x="6699801" y="3344598"/>
                <a:ext cx="3279867" cy="398622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none" lIns="45719" rIns="45719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ts val="1000"/>
                  </a:spcBef>
                  <a:buFont typeface="Arial"/>
                  <a:defRPr sz="2200"/>
                </a:pPr>
                <a:r>
                  <a:t>&gt; Randomly select </a:t>
                </a:r>
                <a14:m>
                  <m:oMath xmlns:m="http://schemas.openxmlformats.org/officeDocument/2006/math"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t> values </a:t>
                </a:r>
              </a:p>
            </p:txBody>
          </p:sp>
        </mc:Choice>
        <mc:Fallback>
          <p:sp>
            <p:nvSpPr>
              <p:cNvPr id="507" name="&gt; Randomly select   value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9801" y="3344598"/>
                <a:ext cx="3279867" cy="398622"/>
              </a:xfrm>
              <a:prstGeom prst="rect">
                <a:avLst/>
              </a:prstGeom>
              <a:blipFill>
                <a:blip r:embed="rId4"/>
                <a:stretch>
                  <a:fillRect l="-3861" t="-15625" r="-4247" b="-34375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8" name="For each of   samples:"/>
              <p:cNvSpPr txBox="1"/>
              <p:nvPr/>
            </p:nvSpPr>
            <p:spPr>
              <a:xfrm>
                <a:off x="5716713" y="2844976"/>
                <a:ext cx="2631368" cy="407716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none" lIns="45719" rIns="45719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ts val="1000"/>
                  </a:spcBef>
                  <a:buFont typeface="Arial"/>
                  <a:defRPr sz="2200"/>
                </a:pPr>
                <a:r>
                  <a:t>For each of </a:t>
                </a:r>
                <a14:m>
                  <m:oMath xmlns:m="http://schemas.openxmlformats.org/officeDocument/2006/math"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t> samples:</a:t>
                </a:r>
              </a:p>
            </p:txBody>
          </p:sp>
        </mc:Choice>
        <mc:Fallback>
          <p:sp>
            <p:nvSpPr>
              <p:cNvPr id="508" name="For each of   samples: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6713" y="2844976"/>
                <a:ext cx="2631368" cy="407716"/>
              </a:xfrm>
              <a:prstGeom prst="rect">
                <a:avLst/>
              </a:prstGeom>
              <a:blipFill>
                <a:blip r:embed="rId5"/>
                <a:stretch>
                  <a:fillRect l="-4808" t="-18182" r="-5769" b="-27273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9" name="&gt; Calculate the"/>
              <p:cNvSpPr txBox="1"/>
              <p:nvPr/>
            </p:nvSpPr>
            <p:spPr>
              <a:xfrm>
                <a:off x="6729066" y="3793965"/>
                <a:ext cx="2111164" cy="478743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none" lIns="45719" rIns="45719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ts val="1000"/>
                  </a:spcBef>
                  <a:buFont typeface="Arial"/>
                  <a:defRPr sz="2200"/>
                </a:pPr>
                <a:r>
                  <a:t>&gt; Calculate 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sz="235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/>
              </a:p>
            </p:txBody>
          </p:sp>
        </mc:Choice>
        <mc:Fallback>
          <p:sp>
            <p:nvSpPr>
              <p:cNvPr id="509" name="&gt; Calculate the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29066" y="3793965"/>
                <a:ext cx="2111164" cy="478743"/>
              </a:xfrm>
              <a:prstGeom prst="rect">
                <a:avLst/>
              </a:prstGeom>
              <a:blipFill>
                <a:blip r:embed="rId6"/>
                <a:stretch>
                  <a:fillRect l="-5389" t="-12821" r="-3593" b="-10256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10" name="Calculate the mean, and variance on"/>
              <p:cNvSpPr txBox="1"/>
              <p:nvPr/>
            </p:nvSpPr>
            <p:spPr>
              <a:xfrm>
                <a:off x="5716713" y="4613246"/>
                <a:ext cx="4550866" cy="478743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none" lIns="45719" rIns="45719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ts val="1000"/>
                  </a:spcBef>
                  <a:buFont typeface="Arial"/>
                  <a:defRPr sz="2200"/>
                </a:pPr>
                <a:r>
                  <a:t>Calculate the mean, and variance 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sz="235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/>
              </a:p>
            </p:txBody>
          </p:sp>
        </mc:Choice>
        <mc:Fallback>
          <p:sp>
            <p:nvSpPr>
              <p:cNvPr id="510" name="Calculate the mean, and variance 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6713" y="4613246"/>
                <a:ext cx="4550866" cy="478743"/>
              </a:xfrm>
              <a:prstGeom prst="rect">
                <a:avLst/>
              </a:prstGeom>
              <a:blipFill>
                <a:blip r:embed="rId7"/>
                <a:stretch>
                  <a:fillRect l="-2786" t="-13158" r="-1393" b="-13158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1" name="Does not assume a functional form for the distribution"/>
          <p:cNvSpPr txBox="1"/>
          <p:nvPr/>
        </p:nvSpPr>
        <p:spPr>
          <a:xfrm>
            <a:off x="5566143" y="5423646"/>
            <a:ext cx="6382319" cy="385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200" b="1" i="1">
                <a:solidFill>
                  <a:srgbClr val="C00000"/>
                </a:solidFill>
              </a:defRPr>
            </a:lvl1pPr>
          </a:lstStyle>
          <a:p>
            <a:r>
              <a:t>Does not assume a functional form for the distribution</a:t>
            </a:r>
          </a:p>
        </p:txBody>
      </p:sp>
      <p:sp>
        <p:nvSpPr>
          <p:cNvPr id="512" name="NB: Can also sample from uncertainties : ‘MonteCarlo’"/>
          <p:cNvSpPr txBox="1"/>
          <p:nvPr/>
        </p:nvSpPr>
        <p:spPr>
          <a:xfrm>
            <a:off x="5566143" y="5913196"/>
            <a:ext cx="6376998" cy="385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200" b="1" i="1">
                <a:solidFill>
                  <a:srgbClr val="C00000"/>
                </a:solidFill>
              </a:defRPr>
            </a:lvl1pPr>
          </a:lstStyle>
          <a:p>
            <a:r>
              <a:t>NB: Can also sample from uncertainties : ‘MonteCarlo’</a:t>
            </a:r>
          </a:p>
        </p:txBody>
      </p:sp>
    </p:spTree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Rectangle"/>
          <p:cNvSpPr/>
          <p:nvPr/>
        </p:nvSpPr>
        <p:spPr>
          <a:xfrm>
            <a:off x="7350666" y="1822905"/>
            <a:ext cx="4722787" cy="4394566"/>
          </a:xfrm>
          <a:prstGeom prst="rect">
            <a:avLst/>
          </a:prstGeom>
          <a:solidFill>
            <a:schemeClr val="accent6">
              <a:satOff val="-3457"/>
              <a:lumOff val="26078"/>
            </a:schemeClr>
          </a:solidFill>
          <a:ln w="12700">
            <a:solidFill>
              <a:srgbClr val="A7A7A7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19" rIns="45719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1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26</a:t>
            </a:fld>
            <a:endParaRPr/>
          </a:p>
        </p:txBody>
      </p:sp>
      <p:sp>
        <p:nvSpPr>
          <p:cNvPr id="516" name="Title 1"/>
          <p:cNvSpPr txBox="1"/>
          <p:nvPr/>
        </p:nvSpPr>
        <p:spPr>
          <a:xfrm>
            <a:off x="812800" y="238125"/>
            <a:ext cx="10515600" cy="13255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normAutofit/>
          </a:bodyPr>
          <a:lstStyle>
            <a:lvl1pPr>
              <a:lnSpc>
                <a:spcPct val="90000"/>
              </a:lnSpc>
              <a:defRPr sz="4400">
                <a:solidFill>
                  <a:srgbClr val="C00000"/>
                </a:solidFill>
                <a:latin typeface="Carlito"/>
                <a:ea typeface="Carlito"/>
                <a:cs typeface="Carlito"/>
                <a:sym typeface="Carlito"/>
              </a:defRPr>
            </a:lvl1pPr>
          </a:lstStyle>
          <a:p>
            <a:r>
              <a:t>Model Selection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17" name="Given two models   how do we know which one to choose?"/>
              <p:cNvSpPr txBox="1"/>
              <p:nvPr/>
            </p:nvSpPr>
            <p:spPr>
              <a:xfrm>
                <a:off x="803118" y="1306067"/>
                <a:ext cx="7633609" cy="432072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none" lIns="45719" rIns="45719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ts val="1000"/>
                  </a:spcBef>
                  <a:buFont typeface="Arial"/>
                  <a:defRPr sz="2200"/>
                </a:pPr>
                <a:r>
                  <a:t>Given two models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235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t> how do we know which one to choose? </a:t>
                </a:r>
              </a:p>
            </p:txBody>
          </p:sp>
        </mc:Choice>
        <mc:Fallback>
          <p:sp>
            <p:nvSpPr>
              <p:cNvPr id="517" name="Given two models   how do we know which one to choose?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118" y="1306067"/>
                <a:ext cx="7633609" cy="432072"/>
              </a:xfrm>
              <a:prstGeom prst="rect">
                <a:avLst/>
              </a:prstGeom>
              <a:blipFill>
                <a:blip r:embed="rId2"/>
                <a:stretch>
                  <a:fillRect l="-1661" t="-14286" r="-1993" b="-22857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18" name="Recall that for a good fit, we expect:"/>
              <p:cNvSpPr txBox="1"/>
              <p:nvPr/>
            </p:nvSpPr>
            <p:spPr>
              <a:xfrm>
                <a:off x="832356" y="2294149"/>
                <a:ext cx="6166084" cy="559067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none" lIns="45719" rIns="45719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ts val="1000"/>
                  </a:spcBef>
                  <a:buFont typeface="Arial"/>
                  <a:defRPr sz="2200" b="1" i="1">
                    <a:solidFill>
                      <a:srgbClr val="C00000"/>
                    </a:solidFill>
                  </a:defRPr>
                </a:pPr>
                <a:r>
                  <a:t>Recall that for a good fit, we expect: 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sz="24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min</m:t>
                    </m:r>
                    <m:r>
                      <a:rPr sz="24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m:rPr>
                            <m:nor/>
                          </m:rPr>
                          <a:rPr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red</m:t>
                        </m:r>
                      </m:sub>
                      <m:sup>
                        <m:r>
                          <a:rPr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sz="24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)∼1</m:t>
                    </m:r>
                  </m:oMath>
                </a14:m>
                <a:endParaRPr/>
              </a:p>
            </p:txBody>
          </p:sp>
        </mc:Choice>
        <mc:Fallback>
          <p:sp>
            <p:nvSpPr>
              <p:cNvPr id="518" name="Recall that for a good fit, we expect: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356" y="2294149"/>
                <a:ext cx="6166084" cy="559067"/>
              </a:xfrm>
              <a:prstGeom prst="rect">
                <a:avLst/>
              </a:prstGeom>
              <a:blipFill>
                <a:blip r:embed="rId3"/>
                <a:stretch>
                  <a:fillRect l="-2053" t="-2222" r="-4107" b="-4444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19" name="model_sel.png" descr="model_sel.png"/>
          <p:cNvPicPr>
            <a:picLocks noChangeAspect="1"/>
          </p:cNvPicPr>
          <p:nvPr/>
        </p:nvPicPr>
        <p:blipFill>
          <a:blip r:embed="rId4"/>
          <a:srcRect t="55" b="55"/>
          <a:stretch>
            <a:fillRect/>
          </a:stretch>
        </p:blipFill>
        <p:spPr>
          <a:xfrm>
            <a:off x="7465548" y="1916353"/>
            <a:ext cx="4492837" cy="4207714"/>
          </a:xfrm>
          <a:prstGeom prst="rect">
            <a:avLst/>
          </a:prstGeom>
          <a:ln w="12700">
            <a:solidFill>
              <a:srgbClr val="DDDDDD"/>
            </a:solidFill>
            <a:miter/>
          </a:ln>
        </p:spPr>
      </p:pic>
      <p:sp>
        <p:nvSpPr>
          <p:cNvPr id="520" name="Rectangle"/>
          <p:cNvSpPr/>
          <p:nvPr/>
        </p:nvSpPr>
        <p:spPr>
          <a:xfrm>
            <a:off x="771269" y="3488426"/>
            <a:ext cx="6313658" cy="2840136"/>
          </a:xfrm>
          <a:prstGeom prst="rect">
            <a:avLst/>
          </a:prstGeom>
          <a:solidFill>
            <a:srgbClr val="FFFFFF">
              <a:alpha val="87136"/>
            </a:srgbClr>
          </a:solidFill>
          <a:ln w="12700">
            <a:solidFill>
              <a:schemeClr val="accent1">
                <a:alpha val="87136"/>
              </a:schemeClr>
            </a:solidFill>
            <a:miter/>
          </a:ln>
        </p:spPr>
        <p:txBody>
          <a:bodyPr lIns="45719" rIns="45719" anchor="ctr"/>
          <a:lstStyle/>
          <a:p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21" name="Equation"/>
              <p:cNvSpPr txBox="1"/>
              <p:nvPr/>
            </p:nvSpPr>
            <p:spPr>
              <a:xfrm>
                <a:off x="2416424" y="4259260"/>
                <a:ext cx="3621150" cy="328524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AIC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=−2</m:t>
                      </m:r>
                      <m:r>
                        <m:rPr>
                          <m:sty m:val="p"/>
                        </m:rP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ℒ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))+2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</m:oMath>
                  </m:oMathPara>
                </a14:m>
                <a:endParaRPr sz="2900"/>
              </a:p>
            </p:txBody>
          </p:sp>
        </mc:Choice>
        <mc:Fallback>
          <p:sp>
            <p:nvSpPr>
              <p:cNvPr id="521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6424" y="4259260"/>
                <a:ext cx="3621150" cy="328524"/>
              </a:xfrm>
              <a:prstGeom prst="rect">
                <a:avLst/>
              </a:prstGeom>
              <a:blipFill>
                <a:blip r:embed="rId5"/>
                <a:stretch>
                  <a:fillRect l="-3497" r="-7343" b="-74074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2" name="See Week 13 for the optimum way to do this"/>
          <p:cNvSpPr txBox="1"/>
          <p:nvPr/>
        </p:nvSpPr>
        <p:spPr>
          <a:xfrm>
            <a:off x="6738912" y="222507"/>
            <a:ext cx="5226793" cy="385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200" b="1" i="1">
                <a:solidFill>
                  <a:srgbClr val="C00000"/>
                </a:solidFill>
              </a:defRPr>
            </a:lvl1pPr>
          </a:lstStyle>
          <a:p>
            <a:r>
              <a:t>See Week 13 for the optimum way to do this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23" name="Equation"/>
              <p:cNvSpPr txBox="1"/>
              <p:nvPr/>
            </p:nvSpPr>
            <p:spPr>
              <a:xfrm>
                <a:off x="2480925" y="5717375"/>
                <a:ext cx="4277996" cy="333312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BIC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=−2</m:t>
                      </m:r>
                      <m:r>
                        <m:rPr>
                          <m:sty m:val="p"/>
                        </m:rP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ℒ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))+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m:rPr>
                          <m:sty m:val="p"/>
                        </m:rP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log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sz="2900"/>
              </a:p>
            </p:txBody>
          </p:sp>
        </mc:Choice>
        <mc:Fallback>
          <p:sp>
            <p:nvSpPr>
              <p:cNvPr id="523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0925" y="5717375"/>
                <a:ext cx="4277996" cy="333312"/>
              </a:xfrm>
              <a:prstGeom prst="rect">
                <a:avLst/>
              </a:prstGeom>
              <a:blipFill>
                <a:blip r:embed="rId6"/>
                <a:stretch>
                  <a:fillRect l="-2959" r="-3550" b="-74074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4" name="Akaike Information Criteria (AIC)"/>
          <p:cNvSpPr txBox="1"/>
          <p:nvPr/>
        </p:nvSpPr>
        <p:spPr>
          <a:xfrm>
            <a:off x="903567" y="3638343"/>
            <a:ext cx="3757624" cy="385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200" i="1"/>
            </a:lvl1pPr>
          </a:lstStyle>
          <a:p>
            <a:r>
              <a:t>Akaike Information Criteria (AIC)</a:t>
            </a:r>
          </a:p>
        </p:txBody>
      </p:sp>
      <p:sp>
        <p:nvSpPr>
          <p:cNvPr id="525" name="Bayes Information Criteria (BIC)"/>
          <p:cNvSpPr txBox="1"/>
          <p:nvPr/>
        </p:nvSpPr>
        <p:spPr>
          <a:xfrm>
            <a:off x="941494" y="5098243"/>
            <a:ext cx="3672084" cy="385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200" i="1"/>
            </a:lvl1pPr>
          </a:lstStyle>
          <a:p>
            <a:r>
              <a:t>Bayes Information Criteria (BIC)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26" name="(  ;  )"/>
              <p:cNvSpPr txBox="1"/>
              <p:nvPr/>
            </p:nvSpPr>
            <p:spPr>
              <a:xfrm>
                <a:off x="8071828" y="6302280"/>
                <a:ext cx="3280278" cy="481731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none" lIns="45719" rIns="45719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ts val="1000"/>
                  </a:spcBef>
                  <a:buFont typeface="Arial"/>
                  <a:defRPr sz="2200"/>
                </a:pPr>
                <a:r>
                  <a:t>(</a:t>
                </a:r>
                <a14:m>
                  <m:oMath xmlns:m="http://schemas.openxmlformats.org/officeDocument/2006/math"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m:rPr>
                            <m:nor/>
                          </m:rP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params</m:t>
                        </m:r>
                      </m:sub>
                    </m:sSub>
                  </m:oMath>
                </a14:m>
                <a:r>
                  <a:t> ; </a:t>
                </a:r>
                <a14:m>
                  <m:oMath xmlns:m="http://schemas.openxmlformats.org/officeDocument/2006/math"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m:rPr>
                            <m:nor/>
                          </m:rPr>
                          <a:rPr sz="23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data</m:t>
                        </m:r>
                      </m:sub>
                    </m:sSub>
                  </m:oMath>
                </a14:m>
                <a:r>
                  <a:t>)</a:t>
                </a:r>
              </a:p>
            </p:txBody>
          </p:sp>
        </mc:Choice>
        <mc:Fallback>
          <p:sp>
            <p:nvSpPr>
              <p:cNvPr id="526" name="(  ;  )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1828" y="6302280"/>
                <a:ext cx="3280278" cy="481731"/>
              </a:xfrm>
              <a:prstGeom prst="rect">
                <a:avLst/>
              </a:prstGeom>
              <a:blipFill>
                <a:blip r:embed="rId7"/>
                <a:stretch>
                  <a:fillRect l="-3861" t="-10256" r="-11969" b="-12821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27</a:t>
            </a:fld>
            <a:endParaRPr/>
          </a:p>
        </p:txBody>
      </p:sp>
      <p:sp>
        <p:nvSpPr>
          <p:cNvPr id="529" name="Week 12: Learning outcomes"/>
          <p:cNvSpPr txBox="1">
            <a:spLocks noGrp="1"/>
          </p:cNvSpPr>
          <p:nvPr>
            <p:ph type="title" idx="4294967295"/>
          </p:nvPr>
        </p:nvSpPr>
        <p:spPr>
          <a:xfrm>
            <a:off x="310352" y="146261"/>
            <a:ext cx="10515601" cy="1325564"/>
          </a:xfrm>
          <a:prstGeom prst="rect">
            <a:avLst/>
          </a:prstGeom>
        </p:spPr>
        <p:txBody>
          <a:bodyPr/>
          <a:lstStyle>
            <a:lvl1pPr>
              <a:defRPr sz="3600" i="1">
                <a:solidFill>
                  <a:srgbClr val="C00000"/>
                </a:solidFill>
              </a:defRPr>
            </a:lvl1pPr>
          </a:lstStyle>
          <a:p>
            <a:r>
              <a:t>Week 12: Learning outcomes</a:t>
            </a:r>
          </a:p>
        </p:txBody>
      </p:sp>
      <p:sp>
        <p:nvSpPr>
          <p:cNvPr id="530" name="Today you have learnt…"/>
          <p:cNvSpPr txBox="1">
            <a:spLocks noGrp="1"/>
          </p:cNvSpPr>
          <p:nvPr>
            <p:ph type="body" idx="4294967295"/>
          </p:nvPr>
        </p:nvSpPr>
        <p:spPr>
          <a:xfrm>
            <a:off x="914466" y="1478813"/>
            <a:ext cx="9956668" cy="4287707"/>
          </a:xfrm>
          <a:prstGeom prst="rect">
            <a:avLst/>
          </a:prstGeom>
        </p:spPr>
        <p:txBody>
          <a:bodyPr/>
          <a:lstStyle/>
          <a:p>
            <a:pPr>
              <a:spcBef>
                <a:spcPts val="2000"/>
              </a:spcBef>
              <a:defRPr>
                <a:solidFill>
                  <a:srgbClr val="C00000"/>
                </a:solidFill>
              </a:defRPr>
            </a:pPr>
            <a:r>
              <a:rPr i="1"/>
              <a:t>Today you have learnt</a:t>
            </a:r>
          </a:p>
          <a:p>
            <a:pPr marL="876300" lvl="1" indent="-228600">
              <a:spcBef>
                <a:spcPts val="500"/>
              </a:spcBef>
              <a:buSzPct val="100000"/>
              <a:buChar char="-"/>
              <a:defRPr sz="2200"/>
            </a:pPr>
            <a:r>
              <a:t>How to relate probabilities to measurements: the likelihood</a:t>
            </a:r>
          </a:p>
          <a:p>
            <a:pPr marL="876300" lvl="1" indent="-228600">
              <a:spcBef>
                <a:spcPts val="500"/>
              </a:spcBef>
              <a:buSzPct val="100000"/>
              <a:buChar char="-"/>
              <a:defRPr sz="2200" u="sng"/>
            </a:pPr>
            <a:r>
              <a:t>How to define a null hypothesis</a:t>
            </a:r>
          </a:p>
          <a:p>
            <a:pPr marL="1143000" lvl="2" indent="-228600">
              <a:spcBef>
                <a:spcPts val="500"/>
              </a:spcBef>
              <a:buSzPct val="100000"/>
              <a:buChar char="-"/>
              <a:defRPr sz="2200"/>
            </a:pPr>
            <a:r>
              <a:t>How to use probabilities to test our hypothesis</a:t>
            </a:r>
          </a:p>
          <a:p>
            <a:pPr marL="876300" lvl="1" indent="-228600">
              <a:spcBef>
                <a:spcPts val="500"/>
              </a:spcBef>
              <a:buSzPct val="100000"/>
              <a:buChar char="-"/>
              <a:defRPr sz="2200" u="sng"/>
            </a:pPr>
            <a:r>
              <a:t>Three key distributions in Physics</a:t>
            </a:r>
          </a:p>
          <a:p>
            <a:pPr marL="876300" lvl="1" indent="-228600">
              <a:spcBef>
                <a:spcPts val="500"/>
              </a:spcBef>
              <a:buSzPct val="100000"/>
              <a:buChar char="-"/>
              <a:defRPr sz="2200"/>
            </a:pPr>
            <a:r>
              <a:t>Key tests of whether our hypothesis (assumptions) are correct</a:t>
            </a:r>
          </a:p>
          <a:p>
            <a:pPr marL="1143000" lvl="2" indent="-228600">
              <a:spcBef>
                <a:spcPts val="500"/>
              </a:spcBef>
              <a:buSzPct val="100000"/>
              <a:buChar char="-"/>
              <a:defRPr sz="2200"/>
            </a:pPr>
            <a:r>
              <a:t>Distributions: KS test</a:t>
            </a:r>
          </a:p>
          <a:p>
            <a:pPr marL="1143000" lvl="2" indent="-228600">
              <a:spcBef>
                <a:spcPts val="500"/>
              </a:spcBef>
              <a:buSzPct val="100000"/>
              <a:buChar char="-"/>
              <a:defRPr sz="2200"/>
            </a:pPr>
            <a:r>
              <a:t>Correlations: Spearman’s Rank</a:t>
            </a:r>
          </a:p>
          <a:p>
            <a:pPr marL="876300" lvl="1" indent="-228600">
              <a:spcBef>
                <a:spcPts val="500"/>
              </a:spcBef>
              <a:buSzPct val="100000"/>
              <a:buChar char="-"/>
              <a:defRPr sz="2200" u="sng"/>
            </a:pPr>
            <a:r>
              <a:t>Goodness-of-fit metrics: calculating likelihoods</a:t>
            </a:r>
          </a:p>
          <a:p>
            <a:pPr marL="1143000" lvl="2" indent="-228600">
              <a:spcBef>
                <a:spcPts val="500"/>
              </a:spcBef>
              <a:buSzPct val="100000"/>
              <a:buChar char="-"/>
              <a:defRPr sz="2200"/>
            </a:pPr>
            <a:r>
              <a:t>Selecting a model given a likelihood </a:t>
            </a:r>
          </a:p>
        </p:txBody>
      </p:sp>
      <p:sp>
        <p:nvSpPr>
          <p:cNvPr id="531" name="Practical examples on Friday!"/>
          <p:cNvSpPr txBox="1"/>
          <p:nvPr/>
        </p:nvSpPr>
        <p:spPr>
          <a:xfrm>
            <a:off x="7969679" y="6010575"/>
            <a:ext cx="3097695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500"/>
              </a:spcBef>
              <a:defRPr sz="2000">
                <a:solidFill>
                  <a:schemeClr val="accent1">
                    <a:satOff val="-3547"/>
                    <a:lumOff val="-10352"/>
                  </a:schemeClr>
                </a:solidFill>
              </a:defRPr>
            </a:lvl1pPr>
          </a:lstStyle>
          <a:p>
            <a:r>
              <a:t>Practical examples on Friday!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2023</Words>
  <Application>Microsoft Macintosh PowerPoint</Application>
  <PresentationFormat>Widescreen</PresentationFormat>
  <Paragraphs>316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4" baseType="lpstr">
      <vt:lpstr>Arial</vt:lpstr>
      <vt:lpstr>Calibri</vt:lpstr>
      <vt:lpstr>Calibri Light</vt:lpstr>
      <vt:lpstr>Cambria Math</vt:lpstr>
      <vt:lpstr>Carlito</vt:lpstr>
      <vt:lpstr>Times Roman</vt:lpstr>
      <vt:lpstr>Office Theme</vt:lpstr>
      <vt:lpstr>PHYS465: Statistical Data Analysis in Physics  Week 2: Hypothesis Testing, Common distributions, Model testing</vt:lpstr>
      <vt:lpstr>Module Structure</vt:lpstr>
      <vt:lpstr>Week 12: Previous session</vt:lpstr>
      <vt:lpstr>Week 12: Learning aims</vt:lpstr>
      <vt:lpstr>Revision: Probabilities</vt:lpstr>
      <vt:lpstr>Conditional Probabilities</vt:lpstr>
      <vt:lpstr>Hypothesis testing</vt:lpstr>
      <vt:lpstr>Null Hypothesis testing</vt:lpstr>
      <vt:lpstr>Confidence Intervals</vt:lpstr>
      <vt:lpstr>Key Assumption:</vt:lpstr>
      <vt:lpstr>Key Distributions: Gaussian</vt:lpstr>
      <vt:lpstr>Key Distributions: Binomial</vt:lpstr>
      <vt:lpstr>Key Distributions: Poisson</vt:lpstr>
      <vt:lpstr>Key Distributions: χ^2</vt:lpstr>
      <vt:lpstr>PowerPoint Presentation</vt:lpstr>
      <vt:lpstr>PowerPoint Presentation</vt:lpstr>
      <vt:lpstr>Gaussian Distribution: probabilities</vt:lpstr>
      <vt:lpstr>Multiple parameters: Marginalisation</vt:lpstr>
      <vt:lpstr>An aside: Covariance</vt:lpstr>
      <vt:lpstr>PowerPoint Presentation</vt:lpstr>
      <vt:lpstr>PowerPoint Presentation</vt:lpstr>
      <vt:lpstr>PowerPoint Presentation</vt:lpstr>
      <vt:lpstr>PowerPoint Presentation</vt:lpstr>
      <vt:lpstr>Confidence levels &amp; χ^2</vt:lpstr>
      <vt:lpstr>χ^2 : estimating uncertainties : bootstrapping</vt:lpstr>
      <vt:lpstr>PowerPoint Presentation</vt:lpstr>
      <vt:lpstr>Week 12: Learning outcomes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Smith, Mathew</cp:lastModifiedBy>
  <cp:revision>1</cp:revision>
  <dcterms:modified xsi:type="dcterms:W3CDTF">2026-01-20T18:16:20Z</dcterms:modified>
</cp:coreProperties>
</file>