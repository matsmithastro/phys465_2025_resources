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algn="ctr">
              <a:buFontTx/>
              <a:defRPr sz="2400"/>
            </a:lvl1pPr>
            <a:lvl2pPr algn="ctr">
              <a:buFontTx/>
              <a:defRPr sz="2400"/>
            </a:lvl2pPr>
            <a:lvl3pPr algn="ctr">
              <a:buFontTx/>
              <a:defRPr sz="2400"/>
            </a:lvl3pPr>
            <a:lvl4pPr algn="ctr">
              <a:buFontTx/>
              <a:defRPr sz="2400"/>
            </a:lvl4pPr>
            <a:lvl5pPr algn="ctr">
              <a:buFontTx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>
              <a:buFontTx/>
              <a:defRPr sz="2400">
                <a:solidFill>
                  <a:srgbClr val="888888"/>
                </a:solidFill>
              </a:defRPr>
            </a:lvl1pPr>
            <a:lvl2pPr>
              <a:buFontTx/>
              <a:defRPr sz="2400">
                <a:solidFill>
                  <a:srgbClr val="888888"/>
                </a:solidFill>
              </a:defRPr>
            </a:lvl2pPr>
            <a:lvl3pPr>
              <a:buFontTx/>
              <a:defRPr sz="2400">
                <a:solidFill>
                  <a:srgbClr val="888888"/>
                </a:solidFill>
              </a:defRPr>
            </a:lvl3pPr>
            <a:lvl4pPr>
              <a:buFontTx/>
              <a:defRPr sz="2400">
                <a:solidFill>
                  <a:srgbClr val="888888"/>
                </a:solidFill>
              </a:defRPr>
            </a:lvl4pPr>
            <a:lvl5pPr>
              <a:buFontTx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>
              <a:buFontTx/>
              <a:defRPr b="1" sz="2400"/>
            </a:lvl1pPr>
            <a:lvl2pPr>
              <a:buFontTx/>
              <a:defRPr b="1" sz="2400"/>
            </a:lvl2pPr>
            <a:lvl3pPr>
              <a:buFontTx/>
              <a:defRPr b="1" sz="2400"/>
            </a:lvl3pPr>
            <a:lvl4pPr>
              <a:buFontTx/>
              <a:defRPr b="1" sz="2400"/>
            </a:lvl4pPr>
            <a:lvl5pPr>
              <a:buFontTx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>
              <a:buFontTx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>
              <a:buFontTx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>
              <a:buFontTx/>
              <a:defRPr sz="1600"/>
            </a:lvl1pPr>
            <a:lvl2pPr>
              <a:buFontTx/>
              <a:defRPr sz="1600"/>
            </a:lvl2pPr>
            <a:lvl3pPr>
              <a:buFontTx/>
              <a:defRPr sz="1600"/>
            </a:lvl3pPr>
            <a:lvl4pPr>
              <a:buFontTx/>
              <a:defRPr sz="1600"/>
            </a:lvl4pPr>
            <a:lvl5pPr>
              <a:buFontTx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Char char="•"/>
            </a:lvl1pPr>
            <a:lvl2pPr marL="723900" indent="-266700">
              <a:buSzPct val="100000"/>
              <a:buChar char="•"/>
            </a:lvl2pPr>
            <a:lvl3pPr marL="1234439" indent="-320039">
              <a:buSzPct val="100000"/>
              <a:buChar char="•"/>
            </a:lvl3pPr>
            <a:lvl4pPr marL="1727200" indent="-355600">
              <a:buSzPct val="100000"/>
              <a:buChar char="•"/>
            </a:lvl4pPr>
            <a:lvl5pPr marL="2184400" indent="-355600">
              <a:buSzPct val="100000"/>
              <a:buChar char="•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>
              <a:buSzPct val="100000"/>
              <a:buChar char="•"/>
            </a:lvl1pPr>
            <a:lvl2pPr marL="723900" indent="-266700">
              <a:buSzPct val="100000"/>
              <a:buChar char="•"/>
            </a:lvl2pPr>
            <a:lvl3pPr marL="1234439" indent="-320039">
              <a:buSzPct val="100000"/>
              <a:buChar char="•"/>
            </a:lvl3pPr>
            <a:lvl4pPr marL="1727200" indent="-355600">
              <a:buSzPct val="100000"/>
              <a:buChar char="•"/>
            </a:lvl4pPr>
            <a:lvl5pPr marL="2184400" indent="-355600">
              <a:buSzPct val="100000"/>
              <a:buChar char="•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/>
          <p:nvPr>
            <p:ph type="sldNum" sz="quarter" idx="2"/>
          </p:nvPr>
        </p:nvSpPr>
        <p:spPr>
          <a:xfrm>
            <a:off x="11679029" y="6398513"/>
            <a:ext cx="284372" cy="280799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914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1371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1828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2286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2743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3200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3657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mat.smith@lancaster.ac.uk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ctrTitle"/>
          </p:nvPr>
        </p:nvSpPr>
        <p:spPr>
          <a:xfrm>
            <a:off x="511628" y="1122362"/>
            <a:ext cx="11179630" cy="3351667"/>
          </a:xfrm>
          <a:prstGeom prst="rect">
            <a:avLst/>
          </a:prstGeom>
        </p:spPr>
        <p:txBody>
          <a:bodyPr anchor="t"/>
          <a:lstStyle/>
          <a:p>
            <a:pPr>
              <a:defRPr sz="4800">
                <a:solidFill>
                  <a:srgbClr val="C00000"/>
                </a:solidFill>
              </a:defRPr>
            </a:pPr>
            <a:r>
              <a:t>PHYS465: Statistical Data Analysis in Physics</a:t>
            </a:r>
            <a:br/>
            <a:br/>
            <a:r>
              <a:rPr i="1">
                <a:solidFill>
                  <a:srgbClr val="000000"/>
                </a:solidFill>
              </a:rPr>
              <a:t>Week 2: Hypothesis Testing, Common distributions, Model testing</a:t>
            </a:r>
          </a:p>
        </p:txBody>
      </p:sp>
      <p:sp>
        <p:nvSpPr>
          <p:cNvPr id="129" name="Subtitle 2"/>
          <p:cNvSpPr txBox="1"/>
          <p:nvPr>
            <p:ph type="subTitle" sz="quarter" idx="1"/>
          </p:nvPr>
        </p:nvSpPr>
        <p:spPr>
          <a:xfrm>
            <a:off x="1524000" y="4907755"/>
            <a:ext cx="9144000" cy="1287536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Dr. Mathew Smith</a:t>
            </a:r>
          </a:p>
          <a:p>
            <a:pPr>
              <a:defRPr sz="2000"/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mat.smith@lancaster.ac.uk</a:t>
            </a:r>
          </a:p>
          <a:p>
            <a:pPr>
              <a:defRPr sz="2000"/>
            </a:pPr>
            <a:r>
              <a:t>Physics Building; C46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ounded Rectangle"/>
          <p:cNvSpPr/>
          <p:nvPr/>
        </p:nvSpPr>
        <p:spPr>
          <a:xfrm>
            <a:off x="800429" y="1679620"/>
            <a:ext cx="10591142" cy="2460934"/>
          </a:xfrm>
          <a:prstGeom prst="roundRect">
            <a:avLst>
              <a:gd name="adj" fmla="val 10616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2" name="Rounded Rectangle"/>
          <p:cNvSpPr/>
          <p:nvPr/>
        </p:nvSpPr>
        <p:spPr>
          <a:xfrm>
            <a:off x="800429" y="4357302"/>
            <a:ext cx="10591142" cy="187557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Module Structure</a:t>
            </a:r>
          </a:p>
        </p:txBody>
      </p:sp>
      <p:sp>
        <p:nvSpPr>
          <p:cNvPr id="134" name="Rectangle"/>
          <p:cNvSpPr/>
          <p:nvPr/>
        </p:nvSpPr>
        <p:spPr>
          <a:xfrm>
            <a:off x="863512" y="3020825"/>
            <a:ext cx="10439576" cy="484347"/>
          </a:xfrm>
          <a:prstGeom prst="rect">
            <a:avLst/>
          </a:prstGeom>
          <a:solidFill>
            <a:srgbClr val="F0F0F0"/>
          </a:solidFill>
          <a:ln w="635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Content Placeholder 2"/>
          <p:cNvSpPr txBox="1"/>
          <p:nvPr>
            <p:ph type="body" idx="1"/>
          </p:nvPr>
        </p:nvSpPr>
        <p:spPr>
          <a:xfrm>
            <a:off x="908487" y="2545400"/>
            <a:ext cx="10221965" cy="4163324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t>Week 11: </a:t>
            </a:r>
            <a:r>
              <a:rPr>
                <a:solidFill>
                  <a:srgbClr val="000000"/>
                </a:solidFill>
              </a:rPr>
              <a:t>Fitting a model to data; estimating parameters</a:t>
            </a:r>
          </a:p>
          <a:p>
            <a:pPr>
              <a:defRPr>
                <a:solidFill>
                  <a:srgbClr val="C00000"/>
                </a:solidFill>
              </a:defRPr>
            </a:pPr>
            <a:r>
              <a:t>Week 12: </a:t>
            </a:r>
            <a:r>
              <a:rPr>
                <a:solidFill>
                  <a:srgbClr val="000000"/>
                </a:solidFill>
              </a:rPr>
              <a:t>Hypothesis testing; the likelihood; estimating uncertainties</a:t>
            </a:r>
          </a:p>
          <a:p>
            <a:pPr>
              <a:defRPr>
                <a:solidFill>
                  <a:srgbClr val="C00000"/>
                </a:solidFill>
              </a:defRPr>
            </a:pPr>
            <a:r>
              <a:t>Week 13: </a:t>
            </a:r>
            <a:r>
              <a:rPr>
                <a:solidFill>
                  <a:srgbClr val="000000"/>
                </a:solidFill>
              </a:rPr>
              <a:t>Posterior sampling; Bayesian statistics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rgbClr val="C00000"/>
                </a:solidFill>
              </a:defRPr>
            </a:pP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rgbClr val="C00000"/>
                </a:solidFill>
              </a:defRPr>
            </a:pPr>
          </a:p>
          <a:p>
            <a:pPr>
              <a:defRPr>
                <a:solidFill>
                  <a:srgbClr val="C00000"/>
                </a:solidFill>
              </a:defRPr>
            </a:pPr>
            <a:r>
              <a:t>Week 14: </a:t>
            </a:r>
            <a:r>
              <a:rPr>
                <a:solidFill>
                  <a:srgbClr val="000000"/>
                </a:solidFill>
              </a:rPr>
              <a:t>Clustering and Classification algorithms</a:t>
            </a:r>
          </a:p>
          <a:p>
            <a:pPr>
              <a:defRPr>
                <a:solidFill>
                  <a:srgbClr val="C00000"/>
                </a:solidFill>
              </a:defRPr>
            </a:pPr>
            <a:r>
              <a:t>Week 15: </a:t>
            </a:r>
            <a:r>
              <a:rPr>
                <a:solidFill>
                  <a:srgbClr val="000000"/>
                </a:solidFill>
              </a:rPr>
              <a:t>Machine learning techniques</a:t>
            </a:r>
          </a:p>
        </p:txBody>
      </p:sp>
      <p:sp>
        <p:nvSpPr>
          <p:cNvPr id="136" name="Slide Number Placeholder 3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7" name="‘data driven’: what does our data tell us?"/>
          <p:cNvSpPr txBox="1"/>
          <p:nvPr/>
        </p:nvSpPr>
        <p:spPr>
          <a:xfrm>
            <a:off x="2604875" y="4529537"/>
            <a:ext cx="6829188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solidFill>
                  <a:schemeClr val="accent5">
                    <a:satOff val="-19091"/>
                    <a:lumOff val="-11921"/>
                  </a:schemeClr>
                </a:solidFill>
              </a:defRPr>
            </a:pPr>
            <a:r>
              <a:t>‘d</a:t>
            </a:r>
            <a:r>
              <a:rPr i="1"/>
              <a:t>ata driven</a:t>
            </a:r>
            <a:r>
              <a:t>’: what does our data tell us?</a:t>
            </a:r>
          </a:p>
        </p:txBody>
      </p:sp>
      <p:sp>
        <p:nvSpPr>
          <p:cNvPr id="138" name="‘model testing’: does our data agree with our model?"/>
          <p:cNvSpPr txBox="1"/>
          <p:nvPr/>
        </p:nvSpPr>
        <p:spPr>
          <a:xfrm>
            <a:off x="1590265" y="1907620"/>
            <a:ext cx="885840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3200">
                <a:solidFill>
                  <a:schemeClr val="accent5">
                    <a:satOff val="-19091"/>
                    <a:lumOff val="-11921"/>
                  </a:schemeClr>
                </a:solidFill>
              </a:defRPr>
            </a:pPr>
            <a:r>
              <a:t>‘</a:t>
            </a:r>
            <a:r>
              <a:rPr i="1"/>
              <a:t>model testing</a:t>
            </a:r>
            <a:r>
              <a:t>’: does our data agree with our model?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/>
          <p:nvPr>
            <p:ph type="sldNum" sz="quarter" idx="2"/>
          </p:nvPr>
        </p:nvSpPr>
        <p:spPr>
          <a:xfrm>
            <a:off x="11769144" y="6398513"/>
            <a:ext cx="194257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1" name="Week 12: Previous session"/>
          <p:cNvSpPr txBox="1"/>
          <p:nvPr>
            <p:ph type="title" idx="4294967295"/>
          </p:nvPr>
        </p:nvSpPr>
        <p:spPr>
          <a:xfrm>
            <a:off x="310352" y="146261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i="1" sz="3600">
                <a:solidFill>
                  <a:srgbClr val="C00000"/>
                </a:solidFill>
              </a:defRPr>
            </a:lvl1pPr>
          </a:lstStyle>
          <a:p>
            <a:pPr/>
            <a:r>
              <a:t>Week 12: Previous session</a:t>
            </a:r>
          </a:p>
        </p:txBody>
      </p:sp>
      <p:sp>
        <p:nvSpPr>
          <p:cNvPr id="142" name="Last week we learnt:…"/>
          <p:cNvSpPr txBox="1"/>
          <p:nvPr>
            <p:ph type="body" idx="4294967295"/>
          </p:nvPr>
        </p:nvSpPr>
        <p:spPr>
          <a:xfrm>
            <a:off x="914466" y="1478813"/>
            <a:ext cx="9956668" cy="502943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000"/>
              </a:spcBef>
              <a:defRPr>
                <a:solidFill>
                  <a:srgbClr val="C00000"/>
                </a:solidFill>
              </a:defRPr>
            </a:pPr>
            <a:r>
              <a:rPr i="1"/>
              <a:t>Last week we learnt: 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Our measurements drawn from an underlying continuous distribution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The shape of this distribution is dependent on our experiment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The probability of our data can be described through a PDF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Given a model we can find the best-fit parameters using least-squares fitting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This is generalised to </a:t>
            </a:r>
            <a14:m>
              <m:oMath>
                <m:s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-fitting in the presence of gaussian uncertainties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A good model will have </a:t>
            </a:r>
            <a14:m>
              <m:oMath>
                <m:sSub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b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∼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Where </a:t>
            </a:r>
            <a14:m>
              <m:oMath>
                <m:sSub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b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sSub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sub>
                </m:sSub>
              </m:oMath>
            </a14:m>
            <a:endParaRPr sz="2000"/>
          </a:p>
          <a:p>
            <a:pPr lvl="2" marL="1122218" indent="-207818">
              <a:spcBef>
                <a:spcPts val="500"/>
              </a:spcBef>
              <a:buSzPct val="100000"/>
              <a:buChar char="-"/>
              <a:defRPr sz="2200"/>
            </a:pPr>
            <a14:m>
              <m:oMath>
                <m:sSub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b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rPr sz="2000"/>
              <a:t> suggests the need for more complicated models; </a:t>
            </a:r>
            <a14:m>
              <m:oMath>
                <m:sSub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sub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&lt;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rPr sz="2000"/>
              <a:t> is the reverse</a:t>
            </a:r>
            <a:endParaRPr sz="2000"/>
          </a:p>
          <a:p>
            <a:pPr lvl="1" marL="855518" indent="-207818">
              <a:spcBef>
                <a:spcPts val="500"/>
              </a:spcBef>
              <a:buSzPct val="100000"/>
              <a:buChar char="-"/>
              <a:defRPr sz="2200"/>
            </a:pPr>
            <a:r>
              <a:rPr sz="2000"/>
              <a:t>Our knowledge of model parameters is expressed through confidence intervals </a:t>
            </a:r>
            <a:endParaRPr sz="2000"/>
          </a:p>
          <a:p>
            <a:pPr lvl="1" marL="855518" indent="-207818">
              <a:spcBef>
                <a:spcPts val="500"/>
              </a:spcBef>
              <a:buSzPct val="100000"/>
              <a:buChar char="-"/>
              <a:defRPr sz="2200" u="sng"/>
            </a:pPr>
            <a:r>
              <a:rPr sz="2000"/>
              <a:t>Question: how do we measure a confidence interval or parameter uncertainty?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lide Number"/>
          <p:cNvSpPr txBox="1"/>
          <p:nvPr>
            <p:ph type="sldNum" sz="quarter" idx="2"/>
          </p:nvPr>
        </p:nvSpPr>
        <p:spPr>
          <a:xfrm>
            <a:off x="11769144" y="6398513"/>
            <a:ext cx="194257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5" name="Week 12: Learning aims"/>
          <p:cNvSpPr txBox="1"/>
          <p:nvPr>
            <p:ph type="title" idx="4294967295"/>
          </p:nvPr>
        </p:nvSpPr>
        <p:spPr>
          <a:xfrm>
            <a:off x="310352" y="146261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i="1" sz="3600">
                <a:solidFill>
                  <a:srgbClr val="C00000"/>
                </a:solidFill>
              </a:defRPr>
            </a:lvl1pPr>
          </a:lstStyle>
          <a:p>
            <a:pPr/>
            <a:r>
              <a:t>Week 12: Learning aims</a:t>
            </a:r>
          </a:p>
        </p:txBody>
      </p:sp>
      <p:sp>
        <p:nvSpPr>
          <p:cNvPr id="146" name="Today we will introduce…"/>
          <p:cNvSpPr txBox="1"/>
          <p:nvPr>
            <p:ph type="body" idx="4294967295"/>
          </p:nvPr>
        </p:nvSpPr>
        <p:spPr>
          <a:xfrm>
            <a:off x="914466" y="1478813"/>
            <a:ext cx="9956668" cy="4287707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000"/>
              </a:spcBef>
              <a:defRPr>
                <a:solidFill>
                  <a:srgbClr val="C00000"/>
                </a:solidFill>
              </a:defRPr>
            </a:pPr>
            <a:r>
              <a:rPr i="1"/>
              <a:t>Today we will introduce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Probabilities and how they relate to measurements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 u="sng"/>
            </a:pPr>
            <a:r>
              <a:t>The Null Hypothesis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And how to test it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 u="sng"/>
            </a:pPr>
            <a:r>
              <a:t>How our experiment will change how the data is distributed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How to test which distribution is correct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How do we estimate confidence intervals?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 u="sng"/>
            </a:pPr>
            <a:r>
              <a:t>How to select which model is most likely</a:t>
            </a:r>
          </a:p>
        </p:txBody>
      </p:sp>
      <p:sp>
        <p:nvSpPr>
          <p:cNvPr id="147" name="Practical examples on Friday!"/>
          <p:cNvSpPr txBox="1"/>
          <p:nvPr/>
        </p:nvSpPr>
        <p:spPr>
          <a:xfrm>
            <a:off x="7969679" y="6010575"/>
            <a:ext cx="3097695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Practical examples on Friday!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lide Number"/>
          <p:cNvSpPr txBox="1"/>
          <p:nvPr>
            <p:ph type="sldNum" sz="quarter" idx="2"/>
          </p:nvPr>
        </p:nvSpPr>
        <p:spPr>
          <a:xfrm>
            <a:off x="11769144" y="6398513"/>
            <a:ext cx="194257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0" name="Revision: Probabilities"/>
          <p:cNvSpPr txBox="1"/>
          <p:nvPr>
            <p:ph type="title" idx="4294967295"/>
          </p:nvPr>
        </p:nvSpPr>
        <p:spPr>
          <a:xfrm>
            <a:off x="381000" y="153283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Revision: Probabilities</a:t>
            </a:r>
          </a:p>
        </p:txBody>
      </p:sp>
      <p:sp>
        <p:nvSpPr>
          <p:cNvPr id="151" name="Text"/>
          <p:cNvSpPr txBox="1"/>
          <p:nvPr/>
        </p:nvSpPr>
        <p:spPr>
          <a:xfrm>
            <a:off x="263544" y="4711061"/>
            <a:ext cx="127001" cy="1154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</a:p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</a:p>
        </p:txBody>
      </p:sp>
      <p:pic>
        <p:nvPicPr>
          <p:cNvPr id="152" name="Screenshot 2025-01-18 at 11.58.56.png" descr="Screenshot 2025-01-18 at 11.58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54918" y="999181"/>
            <a:ext cx="3724965" cy="5152287"/>
          </a:xfrm>
          <a:prstGeom prst="rect">
            <a:avLst/>
          </a:prstGeom>
          <a:ln w="12700">
            <a:solidFill>
              <a:srgbClr val="A7A7A7"/>
            </a:solidFill>
            <a:miter lim="400000"/>
          </a:ln>
        </p:spPr>
      </p:pic>
      <p:sp>
        <p:nvSpPr>
          <p:cNvPr id="153" name="Given an experiment:…"/>
          <p:cNvSpPr txBox="1"/>
          <p:nvPr/>
        </p:nvSpPr>
        <p:spPr>
          <a:xfrm>
            <a:off x="426089" y="1356712"/>
            <a:ext cx="5075786" cy="8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Given an experiment: </a:t>
            </a:r>
          </a:p>
          <a:p>
            <a:pPr lvl="1" marL="89535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-"/>
              <a:defRPr sz="2200"/>
            </a:pPr>
            <a14:m>
              <m:oMath>
                <m:r>
                  <m:rPr>
                    <m:sty m:val="p"/>
                  </m:rP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Ω</m:t>
                </m:r>
              </m:oMath>
            </a14:m>
            <a:r>
              <a:t>is the list of all possible outcomes</a:t>
            </a:r>
          </a:p>
        </p:txBody>
      </p:sp>
      <p:sp>
        <p:nvSpPr>
          <p:cNvPr id="154" name="Axioms:"/>
          <p:cNvSpPr txBox="1"/>
          <p:nvPr/>
        </p:nvSpPr>
        <p:spPr>
          <a:xfrm>
            <a:off x="426089" y="2296576"/>
            <a:ext cx="7097810" cy="1858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Axioms:</a:t>
            </a:r>
          </a:p>
          <a:p>
            <a:pPr lvl="1" marL="89535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-"/>
              <a:defRPr sz="22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</a:p>
          <a:p>
            <a:pPr lvl="1" marL="89535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-"/>
              <a:defRPr sz="22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Ω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</a:p>
          <a:p>
            <a:pPr lvl="1" marL="89535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-"/>
              <a:defRPr sz="22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sSub>
                    <m:e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sSub>
                    <m:e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b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sub>
                  </m:sSub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</a:p>
        </p:txBody>
      </p:sp>
      <p:sp>
        <p:nvSpPr>
          <p:cNvPr id="155" name="Consequences:…"/>
          <p:cNvSpPr txBox="1"/>
          <p:nvPr/>
        </p:nvSpPr>
        <p:spPr>
          <a:xfrm>
            <a:off x="426089" y="4430176"/>
            <a:ext cx="6647969" cy="1835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Consequences:</a:t>
            </a:r>
          </a:p>
          <a:p>
            <a:pPr lvl="1" marL="89535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-"/>
              <a:defRPr sz="22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p>
                      <m:r>
                        <a:rPr xmlns:a="http://schemas.openxmlformats.org/drawingml/2006/main" sz="2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sup>
                  </m:sSup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</a:p>
          <a:p>
            <a:pPr lvl="1" marL="89535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-"/>
              <a:defRPr sz="22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∪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2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  <a:p>
            <a:pPr lvl="1" marL="89535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-"/>
              <a:defRPr sz="2200"/>
            </a:pP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if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r>
              <a:t> are independent</a:t>
            </a:r>
          </a:p>
        </p:txBody>
      </p:sp>
      <p:sp>
        <p:nvSpPr>
          <p:cNvPr id="156" name="Rectangle"/>
          <p:cNvSpPr/>
          <p:nvPr/>
        </p:nvSpPr>
        <p:spPr>
          <a:xfrm>
            <a:off x="7682230" y="941782"/>
            <a:ext cx="4032264" cy="5466321"/>
          </a:xfrm>
          <a:prstGeom prst="rect">
            <a:avLst/>
          </a:prstGeom>
          <a:solidFill>
            <a:srgbClr val="CEF0D1"/>
          </a:solidFill>
          <a:ln w="12700">
            <a:solidFill>
              <a:srgbClr val="A7A7A7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7" name="Oval"/>
          <p:cNvSpPr/>
          <p:nvPr/>
        </p:nvSpPr>
        <p:spPr>
          <a:xfrm>
            <a:off x="7848869" y="1134741"/>
            <a:ext cx="3698985" cy="5080402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8" name="Oval"/>
          <p:cNvSpPr/>
          <p:nvPr/>
        </p:nvSpPr>
        <p:spPr>
          <a:xfrm>
            <a:off x="8442362" y="1757661"/>
            <a:ext cx="1628190" cy="2181956"/>
          </a:xfrm>
          <a:prstGeom prst="ellipse">
            <a:avLst/>
          </a:prstGeom>
          <a:solidFill>
            <a:srgbClr val="FFA900">
              <a:alpha val="59663"/>
            </a:srgbClr>
          </a:solidFill>
          <a:ln w="25400">
            <a:solidFill>
              <a:srgbClr val="7C4118">
                <a:alpha val="59663"/>
              </a:srgbClr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Oval"/>
          <p:cNvSpPr/>
          <p:nvPr/>
        </p:nvSpPr>
        <p:spPr>
          <a:xfrm>
            <a:off x="8840839" y="3061424"/>
            <a:ext cx="2108956" cy="2785233"/>
          </a:xfrm>
          <a:prstGeom prst="ellipse">
            <a:avLst/>
          </a:prstGeom>
          <a:solidFill>
            <a:srgbClr val="B6FEFC">
              <a:alpha val="50987"/>
            </a:srgbClr>
          </a:solidFill>
          <a:ln w="25400">
            <a:solidFill>
              <a:schemeClr val="accent5">
                <a:satOff val="-19091"/>
                <a:lumOff val="-11921"/>
                <a:alpha val="50987"/>
              </a:schemeClr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Equation"/>
          <p:cNvSpPr txBox="1"/>
          <p:nvPr/>
        </p:nvSpPr>
        <p:spPr>
          <a:xfrm>
            <a:off x="10216032" y="1673047"/>
            <a:ext cx="627279" cy="48077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5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Ω</m:t>
                  </m:r>
                </m:oMath>
              </m:oMathPara>
            </a14:m>
            <a:endParaRPr sz="5600"/>
          </a:p>
        </p:txBody>
      </p:sp>
      <p:sp>
        <p:nvSpPr>
          <p:cNvPr id="161" name="Equation"/>
          <p:cNvSpPr txBox="1"/>
          <p:nvPr/>
        </p:nvSpPr>
        <p:spPr>
          <a:xfrm>
            <a:off x="8820927" y="2083197"/>
            <a:ext cx="200516" cy="2348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</m:oMath>
              </m:oMathPara>
            </a14:m>
            <a:endParaRPr sz="2900"/>
          </a:p>
        </p:txBody>
      </p:sp>
      <p:sp>
        <p:nvSpPr>
          <p:cNvPr id="162" name="Equation"/>
          <p:cNvSpPr txBox="1"/>
          <p:nvPr/>
        </p:nvSpPr>
        <p:spPr>
          <a:xfrm>
            <a:off x="10185713" y="4853036"/>
            <a:ext cx="153399" cy="2327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</m:oMath>
              </m:oMathPara>
            </a14:m>
            <a:endParaRPr sz="2900"/>
          </a:p>
        </p:txBody>
      </p:sp>
      <p:sp>
        <p:nvSpPr>
          <p:cNvPr id="163" name="Equation"/>
          <p:cNvSpPr txBox="1"/>
          <p:nvPr/>
        </p:nvSpPr>
        <p:spPr>
          <a:xfrm>
            <a:off x="9139047" y="3423925"/>
            <a:ext cx="702157" cy="2198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r>
                    <m:rPr>
                      <m:nor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</m:oMath>
              </m:oMathPara>
            </a14:m>
            <a:endParaRPr sz="26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"/>
          <p:cNvSpPr/>
          <p:nvPr/>
        </p:nvSpPr>
        <p:spPr>
          <a:xfrm>
            <a:off x="596316" y="1302052"/>
            <a:ext cx="6307516" cy="2110620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xfrm>
            <a:off x="11769144" y="6398513"/>
            <a:ext cx="194257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67" name="Conditional Probabilities"/>
          <p:cNvSpPr txBox="1"/>
          <p:nvPr>
            <p:ph type="title" idx="4294967295"/>
          </p:nvPr>
        </p:nvSpPr>
        <p:spPr>
          <a:xfrm>
            <a:off x="381000" y="153283"/>
            <a:ext cx="10515600" cy="13255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Conditional Probabilities</a:t>
            </a:r>
          </a:p>
        </p:txBody>
      </p:sp>
      <p:sp>
        <p:nvSpPr>
          <p:cNvPr id="168" name="Text"/>
          <p:cNvSpPr txBox="1"/>
          <p:nvPr/>
        </p:nvSpPr>
        <p:spPr>
          <a:xfrm>
            <a:off x="263544" y="4711061"/>
            <a:ext cx="127001" cy="1154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</a:p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</a:p>
        </p:txBody>
      </p:sp>
      <p:pic>
        <p:nvPicPr>
          <p:cNvPr id="169" name="Screenshot 2025-01-18 at 11.58.56.png" descr="Screenshot 2025-01-18 at 11.58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54918" y="999181"/>
            <a:ext cx="3724965" cy="5152287"/>
          </a:xfrm>
          <a:prstGeom prst="rect">
            <a:avLst/>
          </a:prstGeom>
          <a:ln w="12700">
            <a:solidFill>
              <a:srgbClr val="A7A7A7"/>
            </a:solidFill>
            <a:miter lim="400000"/>
          </a:ln>
        </p:spPr>
      </p:pic>
      <p:sp>
        <p:nvSpPr>
          <p:cNvPr id="170" name="Rectangle"/>
          <p:cNvSpPr/>
          <p:nvPr/>
        </p:nvSpPr>
        <p:spPr>
          <a:xfrm>
            <a:off x="7682230" y="941782"/>
            <a:ext cx="4032264" cy="5466321"/>
          </a:xfrm>
          <a:prstGeom prst="rect">
            <a:avLst/>
          </a:prstGeom>
          <a:solidFill>
            <a:srgbClr val="CEF0D1"/>
          </a:solidFill>
          <a:ln w="12700">
            <a:solidFill>
              <a:srgbClr val="A7A7A7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1" name="Oval"/>
          <p:cNvSpPr/>
          <p:nvPr/>
        </p:nvSpPr>
        <p:spPr>
          <a:xfrm>
            <a:off x="7848869" y="1134741"/>
            <a:ext cx="3698985" cy="5080402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2" name="Oval"/>
          <p:cNvSpPr/>
          <p:nvPr/>
        </p:nvSpPr>
        <p:spPr>
          <a:xfrm>
            <a:off x="8442362" y="1757661"/>
            <a:ext cx="1628190" cy="2181956"/>
          </a:xfrm>
          <a:prstGeom prst="ellipse">
            <a:avLst/>
          </a:prstGeom>
          <a:solidFill>
            <a:srgbClr val="FFA900">
              <a:alpha val="59663"/>
            </a:srgbClr>
          </a:solidFill>
          <a:ln w="25400">
            <a:solidFill>
              <a:srgbClr val="7C4118">
                <a:alpha val="59663"/>
              </a:srgbClr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Oval"/>
          <p:cNvSpPr/>
          <p:nvPr/>
        </p:nvSpPr>
        <p:spPr>
          <a:xfrm>
            <a:off x="8840839" y="3061424"/>
            <a:ext cx="2108956" cy="2785233"/>
          </a:xfrm>
          <a:prstGeom prst="ellipse">
            <a:avLst/>
          </a:prstGeom>
          <a:solidFill>
            <a:srgbClr val="B6FEFC">
              <a:alpha val="50987"/>
            </a:srgbClr>
          </a:solidFill>
          <a:ln w="25400">
            <a:solidFill>
              <a:schemeClr val="accent5">
                <a:satOff val="-19091"/>
                <a:lumOff val="-11921"/>
                <a:alpha val="50987"/>
              </a:schemeClr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Equation"/>
          <p:cNvSpPr txBox="1"/>
          <p:nvPr/>
        </p:nvSpPr>
        <p:spPr>
          <a:xfrm>
            <a:off x="10216032" y="1673047"/>
            <a:ext cx="627279" cy="48077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sty m:val="p"/>
                    </m:rPr>
                    <a:rPr xmlns:a="http://schemas.openxmlformats.org/drawingml/2006/main" sz="5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Ω</m:t>
                  </m:r>
                </m:oMath>
              </m:oMathPara>
            </a14:m>
            <a:endParaRPr sz="5600"/>
          </a:p>
        </p:txBody>
      </p:sp>
      <p:sp>
        <p:nvSpPr>
          <p:cNvPr id="175" name="Equation"/>
          <p:cNvSpPr txBox="1"/>
          <p:nvPr/>
        </p:nvSpPr>
        <p:spPr>
          <a:xfrm>
            <a:off x="8820927" y="2083197"/>
            <a:ext cx="200516" cy="23486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</m:oMath>
              </m:oMathPara>
            </a14:m>
            <a:endParaRPr sz="2900"/>
          </a:p>
        </p:txBody>
      </p:sp>
      <p:sp>
        <p:nvSpPr>
          <p:cNvPr id="176" name="Equation"/>
          <p:cNvSpPr txBox="1"/>
          <p:nvPr/>
        </p:nvSpPr>
        <p:spPr>
          <a:xfrm>
            <a:off x="10185713" y="4853036"/>
            <a:ext cx="153399" cy="2327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</m:oMath>
              </m:oMathPara>
            </a14:m>
            <a:endParaRPr sz="2900"/>
          </a:p>
        </p:txBody>
      </p:sp>
      <p:sp>
        <p:nvSpPr>
          <p:cNvPr id="177" name="Equation"/>
          <p:cNvSpPr txBox="1"/>
          <p:nvPr/>
        </p:nvSpPr>
        <p:spPr>
          <a:xfrm>
            <a:off x="9139047" y="3423925"/>
            <a:ext cx="702157" cy="2198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∩</m:t>
                  </m:r>
                  <m:r>
                    <m:rPr>
                      <m:nor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</m:oMath>
              </m:oMathPara>
            </a14:m>
            <a:endParaRPr sz="2600"/>
          </a:p>
        </p:txBody>
      </p:sp>
      <p:sp>
        <p:nvSpPr>
          <p:cNvPr id="178" name="Equation"/>
          <p:cNvSpPr txBox="1"/>
          <p:nvPr/>
        </p:nvSpPr>
        <p:spPr>
          <a:xfrm>
            <a:off x="2246638" y="1615414"/>
            <a:ext cx="2981472" cy="8500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</m:oMath>
              </m:oMathPara>
            </a14:m>
            <a:endParaRPr sz="2900"/>
          </a:p>
        </p:txBody>
      </p:sp>
      <p:sp>
        <p:nvSpPr>
          <p:cNvPr id="179" name="The probability of   given   (an event or condition)"/>
          <p:cNvSpPr txBox="1"/>
          <p:nvPr>
            <p:ph type="body" sz="quarter" idx="4294967295"/>
          </p:nvPr>
        </p:nvSpPr>
        <p:spPr>
          <a:xfrm>
            <a:off x="776610" y="2736068"/>
            <a:ext cx="5946928" cy="480772"/>
          </a:xfrm>
          <a:prstGeom prst="rect">
            <a:avLst/>
          </a:prstGeom>
        </p:spPr>
        <p:txBody>
          <a:bodyPr/>
          <a:lstStyle/>
          <a:p>
            <a:pPr>
              <a:defRPr i="1" sz="2200"/>
            </a:pPr>
            <a:r>
              <a:t>The probability of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</m:oMath>
            </a14:m>
            <a:r>
              <a:t> given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r>
              <a:t> (an event or condition)</a:t>
            </a:r>
          </a:p>
        </p:txBody>
      </p:sp>
      <p:sp>
        <p:nvSpPr>
          <p:cNvPr id="180" name="is called the likelihood:"/>
          <p:cNvSpPr txBox="1"/>
          <p:nvPr/>
        </p:nvSpPr>
        <p:spPr>
          <a:xfrm>
            <a:off x="1621601" y="4327281"/>
            <a:ext cx="4734323" cy="437498"/>
          </a:xfrm>
          <a:prstGeom prst="rect">
            <a:avLst/>
          </a:prstGeom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called the</a:t>
            </a:r>
            <a:r>
              <a:rPr b="1" i="1"/>
              <a:t> likelihood: </a:t>
            </a:r>
            <a14:m>
              <m:oMath>
                <m:r>
                  <m:rPr>
                    <m:scr m:val="script"/>
                  </m:rP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181" name="“the likelihood of obtaining the data ‘A’ given the model”"/>
          <p:cNvSpPr txBox="1"/>
          <p:nvPr/>
        </p:nvSpPr>
        <p:spPr>
          <a:xfrm>
            <a:off x="716783" y="5095390"/>
            <a:ext cx="6569359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“the</a:t>
            </a:r>
            <a:r>
              <a:rPr b="1" i="1"/>
              <a:t> likelihood </a:t>
            </a:r>
            <a:r>
              <a:t>of obtaining the data ‘A’ given the model”</a:t>
            </a:r>
          </a:p>
        </p:txBody>
      </p:sp>
      <p:sp>
        <p:nvSpPr>
          <p:cNvPr id="182" name="when   is a model, or parameter"/>
          <p:cNvSpPr txBox="1"/>
          <p:nvPr/>
        </p:nvSpPr>
        <p:spPr>
          <a:xfrm>
            <a:off x="690456" y="3793670"/>
            <a:ext cx="3796988" cy="40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when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t> is a model, or parameter</a:t>
            </a:r>
          </a:p>
        </p:txBody>
      </p:sp>
      <p:sp>
        <p:nvSpPr>
          <p:cNvPr id="183" name="Plenty more on this with Bayesian statistics next week"/>
          <p:cNvSpPr txBox="1"/>
          <p:nvPr/>
        </p:nvSpPr>
        <p:spPr>
          <a:xfrm>
            <a:off x="923071" y="5805028"/>
            <a:ext cx="6182183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i="1" sz="2200">
                <a:solidFill>
                  <a:schemeClr val="accent6"/>
                </a:solidFill>
              </a:defRPr>
            </a:lvl1pPr>
          </a:lstStyle>
          <a:p>
            <a:pPr/>
            <a:r>
              <a:t>Plenty more on this with Bayesian statistics next week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lide Number"/>
          <p:cNvSpPr txBox="1"/>
          <p:nvPr>
            <p:ph type="sldNum" sz="quarter" idx="2"/>
          </p:nvPr>
        </p:nvSpPr>
        <p:spPr>
          <a:xfrm>
            <a:off x="11769144" y="6398513"/>
            <a:ext cx="194257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6" name="Hypothesis testing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Hypothesis testing</a:t>
            </a:r>
          </a:p>
        </p:txBody>
      </p:sp>
      <p:sp>
        <p:nvSpPr>
          <p:cNvPr id="187" name="How good is the model?"/>
          <p:cNvSpPr txBox="1"/>
          <p:nvPr/>
        </p:nvSpPr>
        <p:spPr>
          <a:xfrm>
            <a:off x="880510" y="1350506"/>
            <a:ext cx="26009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How good is the model?</a:t>
            </a:r>
          </a:p>
        </p:txBody>
      </p:sp>
      <p:sp>
        <p:nvSpPr>
          <p:cNvPr id="188" name="Fundamental question:  Is the model that we are testing a good fit to our measured data?"/>
          <p:cNvSpPr txBox="1"/>
          <p:nvPr>
            <p:ph type="body" sz="quarter" idx="4294967295"/>
          </p:nvPr>
        </p:nvSpPr>
        <p:spPr>
          <a:xfrm>
            <a:off x="838200" y="1876425"/>
            <a:ext cx="10515600" cy="485048"/>
          </a:xfrm>
          <a:prstGeom prst="rect">
            <a:avLst/>
          </a:prstGeom>
        </p:spPr>
        <p:txBody>
          <a:bodyPr/>
          <a:lstStyle/>
          <a:p>
            <a:pPr>
              <a:defRPr sz="2200"/>
            </a:pPr>
            <a:r>
              <a:rPr b="1"/>
              <a:t>Fundamental question: </a:t>
            </a:r>
            <a:r>
              <a:t> Is the model that we are testing a good fit to our measured data?</a:t>
            </a:r>
          </a:p>
        </p:txBody>
      </p:sp>
      <p:sp>
        <p:nvSpPr>
          <p:cNvPr id="189" name="Text"/>
          <p:cNvSpPr txBox="1"/>
          <p:nvPr/>
        </p:nvSpPr>
        <p:spPr>
          <a:xfrm>
            <a:off x="263544" y="4711061"/>
            <a:ext cx="127001" cy="1154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</a:p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</a:p>
        </p:txBody>
      </p:sp>
      <p:sp>
        <p:nvSpPr>
          <p:cNvPr id="190" name="Null Hypothesis:"/>
          <p:cNvSpPr txBox="1"/>
          <p:nvPr/>
        </p:nvSpPr>
        <p:spPr>
          <a:xfrm>
            <a:off x="858367" y="2835076"/>
            <a:ext cx="2003324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sz="2200"/>
            </a:lvl1pPr>
          </a:lstStyle>
          <a:p>
            <a:pPr>
              <a:defRPr b="0"/>
            </a:pPr>
            <a:r>
              <a:rPr b="1"/>
              <a:t>Null Hypothesis:</a:t>
            </a:r>
          </a:p>
        </p:txBody>
      </p:sp>
      <p:sp>
        <p:nvSpPr>
          <p:cNvPr id="191" name="Is there a more likely alternative?"/>
          <p:cNvSpPr txBox="1"/>
          <p:nvPr/>
        </p:nvSpPr>
        <p:spPr>
          <a:xfrm>
            <a:off x="3653537" y="2272061"/>
            <a:ext cx="3877405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Is there a more likely alternative?</a:t>
            </a:r>
          </a:p>
        </p:txBody>
      </p:sp>
      <p:sp>
        <p:nvSpPr>
          <p:cNvPr id="192" name="Our starting assumption"/>
          <p:cNvSpPr txBox="1"/>
          <p:nvPr/>
        </p:nvSpPr>
        <p:spPr>
          <a:xfrm>
            <a:off x="3641724" y="2835076"/>
            <a:ext cx="2843025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Our starting assumption</a:t>
            </a:r>
          </a:p>
        </p:txBody>
      </p:sp>
      <p:sp>
        <p:nvSpPr>
          <p:cNvPr id="193" name="Can be either parameter values or choice of model"/>
          <p:cNvSpPr txBox="1"/>
          <p:nvPr/>
        </p:nvSpPr>
        <p:spPr>
          <a:xfrm>
            <a:off x="3641724" y="3236312"/>
            <a:ext cx="584521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Can be either parameter values or choice of model</a:t>
            </a:r>
          </a:p>
        </p:txBody>
      </p:sp>
      <p:sp>
        <p:nvSpPr>
          <p:cNvPr id="194" name="In practice:"/>
          <p:cNvSpPr txBox="1"/>
          <p:nvPr/>
        </p:nvSpPr>
        <p:spPr>
          <a:xfrm>
            <a:off x="858367" y="3862845"/>
            <a:ext cx="1389818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sz="2200"/>
            </a:lvl1pPr>
          </a:lstStyle>
          <a:p>
            <a:pPr>
              <a:defRPr b="0"/>
            </a:pPr>
            <a:r>
              <a:rPr b="1"/>
              <a:t>In practice:</a:t>
            </a:r>
          </a:p>
        </p:txBody>
      </p:sp>
      <p:sp>
        <p:nvSpPr>
          <p:cNvPr id="195" name="Compares our assumption (or prediction) with experimental  measurements e.g. does the luminosity distribution of galaxies match a Schechter function?"/>
          <p:cNvSpPr txBox="1"/>
          <p:nvPr/>
        </p:nvSpPr>
        <p:spPr>
          <a:xfrm>
            <a:off x="3667020" y="3976462"/>
            <a:ext cx="7489042" cy="117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Compares our assumption (or prediction) with experimental  measurements</a:t>
            </a:r>
            <a:br/>
            <a:r>
              <a:t>e.g. does the luminosity distribution of galaxies match a Schechter function? </a:t>
            </a:r>
          </a:p>
        </p:txBody>
      </p:sp>
      <p:sp>
        <p:nvSpPr>
          <p:cNvPr id="196" name="Make a statement on the probability of obtaining our result  (see confidence level slides)."/>
          <p:cNvSpPr txBox="1"/>
          <p:nvPr/>
        </p:nvSpPr>
        <p:spPr>
          <a:xfrm>
            <a:off x="3674251" y="5511196"/>
            <a:ext cx="6280260" cy="62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Make a statement on the probability of obtaining our result </a:t>
            </a:r>
            <a:br/>
            <a:r>
              <a:t>(see confidence level slides).</a:t>
            </a:r>
          </a:p>
        </p:txBody>
      </p:sp>
      <p:sp>
        <p:nvSpPr>
          <p:cNvPr id="197" name="Outcome:"/>
          <p:cNvSpPr txBox="1"/>
          <p:nvPr/>
        </p:nvSpPr>
        <p:spPr>
          <a:xfrm>
            <a:off x="858367" y="5437645"/>
            <a:ext cx="1246980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sz="2200"/>
            </a:lvl1pPr>
          </a:lstStyle>
          <a:p>
            <a:pPr>
              <a:defRPr b="0"/>
            </a:pPr>
            <a:r>
              <a:rPr b="1"/>
              <a:t>Outcome: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"/>
          <p:cNvSpPr/>
          <p:nvPr/>
        </p:nvSpPr>
        <p:spPr>
          <a:xfrm>
            <a:off x="6366103" y="2047648"/>
            <a:ext cx="5348391" cy="4360455"/>
          </a:xfrm>
          <a:prstGeom prst="rect">
            <a:avLst/>
          </a:prstGeom>
          <a:solidFill>
            <a:srgbClr val="B6FEFC"/>
          </a:solidFill>
          <a:ln w="12700">
            <a:solidFill>
              <a:srgbClr val="A7A7A7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0" name="Rectangle"/>
          <p:cNvSpPr/>
          <p:nvPr/>
        </p:nvSpPr>
        <p:spPr>
          <a:xfrm>
            <a:off x="571963" y="2108198"/>
            <a:ext cx="5280314" cy="210534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1" name="Slide Number"/>
          <p:cNvSpPr txBox="1"/>
          <p:nvPr>
            <p:ph type="sldNum" sz="quarter" idx="2"/>
          </p:nvPr>
        </p:nvSpPr>
        <p:spPr>
          <a:xfrm>
            <a:off x="11769144" y="6398513"/>
            <a:ext cx="194257" cy="28079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2" name="Null Hypothesis testing"/>
          <p:cNvSpPr txBox="1"/>
          <p:nvPr>
            <p:ph type="title" idx="4294967295"/>
          </p:nvPr>
        </p:nvSpPr>
        <p:spPr>
          <a:xfrm>
            <a:off x="554535" y="398497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pPr>
            <a:r>
              <a:rPr i="1">
                <a:latin typeface="Calibri Light"/>
                <a:ea typeface="Calibri Light"/>
                <a:cs typeface="Calibri Light"/>
                <a:sym typeface="Calibri Light"/>
              </a:rPr>
              <a:t>Null</a:t>
            </a:r>
            <a:r>
              <a:t> Hypothesis testing</a:t>
            </a:r>
          </a:p>
        </p:txBody>
      </p:sp>
      <p:sp>
        <p:nvSpPr>
          <p:cNvPr id="203" name="e.g. Given a model  , with parameter  , is the value of   in a set of possible values  ?"/>
          <p:cNvSpPr txBox="1"/>
          <p:nvPr>
            <p:ph type="body" sz="quarter" idx="4294967295"/>
          </p:nvPr>
        </p:nvSpPr>
        <p:spPr>
          <a:xfrm>
            <a:off x="554535" y="1442585"/>
            <a:ext cx="10515601" cy="485049"/>
          </a:xfrm>
          <a:prstGeom prst="rect">
            <a:avLst/>
          </a:prstGeom>
        </p:spPr>
        <p:txBody>
          <a:bodyPr/>
          <a:lstStyle/>
          <a:p>
            <a:pPr>
              <a:defRPr sz="2200"/>
            </a:pPr>
            <a:r>
              <a:t>e.g. Given a model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with parameter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t>, is the value of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t> in a set of possible values </a:t>
            </a:r>
            <a14:m>
              <m:oMath>
                <m:sSub>
                  <m:e>
                    <m:r>
                      <m:rPr>
                        <m:sty m:val="p"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?</a:t>
            </a:r>
          </a:p>
        </p:txBody>
      </p:sp>
      <p:sp>
        <p:nvSpPr>
          <p:cNvPr id="204" name=":  The Null Hypothesis:…"/>
          <p:cNvSpPr txBox="1"/>
          <p:nvPr/>
        </p:nvSpPr>
        <p:spPr>
          <a:xfrm>
            <a:off x="863435" y="2186660"/>
            <a:ext cx="4697369" cy="144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14:m>
              <m:oMath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 :  </a:t>
            </a:r>
            <a:r>
              <a:rPr b="1"/>
              <a:t>The Null Hypothesis:</a:t>
            </a:r>
            <a:r>
              <a:t>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sSub>
                  <m:e>
                    <m:r>
                      <m:rPr>
                        <m:sty m:val="p"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14:m>
              <m:oMath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t>  :  An Alternative Hypothesis: </a:t>
            </a:r>
          </a:p>
          <a:p>
            <a:pPr lvl="2" marL="139446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200"/>
            </a:pP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sSub>
                  <m:e>
                    <m:r>
                      <m:rPr>
                        <m:sty m:val="p"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t> where </a:t>
            </a:r>
            <a14:m>
              <m:oMath>
                <m:sSub>
                  <m:e>
                    <m:r>
                      <m:rPr>
                        <m:sty m:val="p"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∩</m:t>
                </m:r>
                <m:sSub>
                  <m:e>
                    <m:r>
                      <m:rPr>
                        <m:sty m:val="p"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</a:p>
        </p:txBody>
      </p:sp>
      <p:sp>
        <p:nvSpPr>
          <p:cNvPr id="205" name="With new observations  , such that"/>
          <p:cNvSpPr txBox="1"/>
          <p:nvPr/>
        </p:nvSpPr>
        <p:spPr>
          <a:xfrm>
            <a:off x="554775" y="4247391"/>
            <a:ext cx="4322770" cy="38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</a:pPr>
            <a:r>
              <a:t>With new observations </a:t>
            </a:r>
            <a14:m>
              <m:oMath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, such that </a:t>
            </a:r>
            <a14:m>
              <m:oMath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206" name="Rectangle"/>
          <p:cNvSpPr/>
          <p:nvPr/>
        </p:nvSpPr>
        <p:spPr>
          <a:xfrm>
            <a:off x="571963" y="4701716"/>
            <a:ext cx="5280314" cy="191898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7" name="reject   and accept"/>
          <p:cNvSpPr txBox="1"/>
          <p:nvPr/>
        </p:nvSpPr>
        <p:spPr>
          <a:xfrm>
            <a:off x="2445395" y="4801361"/>
            <a:ext cx="2880848" cy="485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reject </a:t>
            </a:r>
            <a14:m>
              <m:oMath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and accept </a:t>
            </a:r>
            <a14:m>
              <m:oMath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</a:p>
        </p:txBody>
      </p:sp>
      <p:sp>
        <p:nvSpPr>
          <p:cNvPr id="208" name="Equation"/>
          <p:cNvSpPr txBox="1"/>
          <p:nvPr/>
        </p:nvSpPr>
        <p:spPr>
          <a:xfrm>
            <a:off x="883787" y="4890261"/>
            <a:ext cx="1049816" cy="24615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α</m:t>
                  </m:r>
                </m:oMath>
              </m:oMathPara>
            </a14:m>
            <a:endParaRPr sz="2200"/>
          </a:p>
        </p:txBody>
      </p:sp>
      <p:sp>
        <p:nvSpPr>
          <p:cNvPr id="209" name="Equation"/>
          <p:cNvSpPr txBox="1"/>
          <p:nvPr/>
        </p:nvSpPr>
        <p:spPr>
          <a:xfrm>
            <a:off x="876164" y="5867876"/>
            <a:ext cx="1049816" cy="24615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&gt;</m:t>
                  </m:r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α</m:t>
                  </m:r>
                </m:oMath>
              </m:oMathPara>
            </a14:m>
            <a:endParaRPr sz="2200"/>
          </a:p>
        </p:txBody>
      </p:sp>
      <p:sp>
        <p:nvSpPr>
          <p:cNvPr id="210" name="no evidence to reject"/>
          <p:cNvSpPr txBox="1"/>
          <p:nvPr/>
        </p:nvSpPr>
        <p:spPr>
          <a:xfrm>
            <a:off x="2437772" y="5754585"/>
            <a:ext cx="3038519" cy="485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no evidence to reject </a:t>
            </a:r>
            <a14:m>
              <m:oMath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</a:p>
        </p:txBody>
      </p:sp>
      <p:sp>
        <p:nvSpPr>
          <p:cNvPr id="211" name=":  threshold of rejection (e.g. 0.05)"/>
          <p:cNvSpPr txBox="1"/>
          <p:nvPr/>
        </p:nvSpPr>
        <p:spPr>
          <a:xfrm>
            <a:off x="863435" y="3692035"/>
            <a:ext cx="4322771" cy="394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</m:oMath>
            </a14:m>
            <a:r>
              <a:t>  :  threshold of rejection (e.g. 0.05) </a:t>
            </a:r>
          </a:p>
        </p:txBody>
      </p:sp>
      <p:sp>
        <p:nvSpPr>
          <p:cNvPr id="212" name="Rectangle"/>
          <p:cNvSpPr/>
          <p:nvPr/>
        </p:nvSpPr>
        <p:spPr>
          <a:xfrm>
            <a:off x="7663926" y="2211506"/>
            <a:ext cx="3917491" cy="4070839"/>
          </a:xfrm>
          <a:prstGeom prst="rect">
            <a:avLst/>
          </a:prstGeom>
          <a:solidFill>
            <a:srgbClr val="F0F0F0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3" name="Rectangle"/>
          <p:cNvSpPr/>
          <p:nvPr/>
        </p:nvSpPr>
        <p:spPr>
          <a:xfrm rot="16200000">
            <a:off x="7567104" y="2270962"/>
            <a:ext cx="2959088" cy="5082274"/>
          </a:xfrm>
          <a:prstGeom prst="rect">
            <a:avLst/>
          </a:prstGeom>
          <a:solidFill>
            <a:srgbClr val="F0F0F0"/>
          </a:solidFill>
          <a:ln w="12700">
            <a:solidFill>
              <a:schemeClr val="accent2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4" name="Rectangle"/>
          <p:cNvSpPr/>
          <p:nvPr/>
        </p:nvSpPr>
        <p:spPr>
          <a:xfrm>
            <a:off x="9628561" y="3349641"/>
            <a:ext cx="1955206" cy="1476578"/>
          </a:xfrm>
          <a:prstGeom prst="rect">
            <a:avLst/>
          </a:prstGeom>
          <a:solidFill>
            <a:schemeClr val="accent2">
              <a:lumOff val="21960"/>
              <a:alpha val="79973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5" name="Truth"/>
          <p:cNvSpPr txBox="1"/>
          <p:nvPr/>
        </p:nvSpPr>
        <p:spPr>
          <a:xfrm rot="16200000">
            <a:off x="6424187" y="4693222"/>
            <a:ext cx="66782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/>
            </a:lvl1pPr>
          </a:lstStyle>
          <a:p>
            <a:pPr/>
            <a:r>
              <a:t>Truth</a:t>
            </a:r>
          </a:p>
        </p:txBody>
      </p:sp>
      <p:sp>
        <p:nvSpPr>
          <p:cNvPr id="216" name="Outcome"/>
          <p:cNvSpPr txBox="1"/>
          <p:nvPr/>
        </p:nvSpPr>
        <p:spPr>
          <a:xfrm>
            <a:off x="9220716" y="2296947"/>
            <a:ext cx="107301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/>
            </a:lvl1pPr>
          </a:lstStyle>
          <a:p>
            <a:pPr/>
            <a:r>
              <a:t>Outcome</a:t>
            </a:r>
          </a:p>
        </p:txBody>
      </p:sp>
      <p:sp>
        <p:nvSpPr>
          <p:cNvPr id="217" name="Line"/>
          <p:cNvSpPr/>
          <p:nvPr/>
        </p:nvSpPr>
        <p:spPr>
          <a:xfrm>
            <a:off x="7660278" y="2698441"/>
            <a:ext cx="3919173" cy="1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Line"/>
          <p:cNvSpPr/>
          <p:nvPr/>
        </p:nvSpPr>
        <p:spPr>
          <a:xfrm flipV="1">
            <a:off x="7022697" y="3338770"/>
            <a:ext cx="1" cy="2953973"/>
          </a:xfrm>
          <a:prstGeom prst="line">
            <a:avLst/>
          </a:prstGeom>
          <a:ln w="12700">
            <a:solidFill>
              <a:schemeClr val="accent2">
                <a:lumOff val="10980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Line"/>
          <p:cNvSpPr/>
          <p:nvPr/>
        </p:nvSpPr>
        <p:spPr>
          <a:xfrm flipV="1">
            <a:off x="7658311" y="3338770"/>
            <a:ext cx="1" cy="2953973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Line"/>
          <p:cNvSpPr/>
          <p:nvPr/>
        </p:nvSpPr>
        <p:spPr>
          <a:xfrm flipV="1">
            <a:off x="9622468" y="2688832"/>
            <a:ext cx="1" cy="3601673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Line"/>
          <p:cNvSpPr/>
          <p:nvPr/>
        </p:nvSpPr>
        <p:spPr>
          <a:xfrm>
            <a:off x="6996330" y="4826218"/>
            <a:ext cx="4576770" cy="1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is true"/>
          <p:cNvSpPr txBox="1"/>
          <p:nvPr/>
        </p:nvSpPr>
        <p:spPr>
          <a:xfrm rot="16200000">
            <a:off x="6797615" y="5394565"/>
            <a:ext cx="997889" cy="370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14:m>
              <m:oMath>
                <m:sSub>
                  <m:e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t> is true</a:t>
            </a:r>
          </a:p>
        </p:txBody>
      </p:sp>
      <p:sp>
        <p:nvSpPr>
          <p:cNvPr id="223" name="is true"/>
          <p:cNvSpPr txBox="1"/>
          <p:nvPr/>
        </p:nvSpPr>
        <p:spPr>
          <a:xfrm rot="16200000">
            <a:off x="6811043" y="3981571"/>
            <a:ext cx="997889" cy="372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14:m>
              <m:oMath>
                <m:sSub>
                  <m:e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is true</a:t>
            </a:r>
          </a:p>
        </p:txBody>
      </p:sp>
      <p:sp>
        <p:nvSpPr>
          <p:cNvPr id="224" name="not rejected"/>
          <p:cNvSpPr txBox="1"/>
          <p:nvPr/>
        </p:nvSpPr>
        <p:spPr>
          <a:xfrm>
            <a:off x="7852607" y="2894604"/>
            <a:ext cx="1546619" cy="37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14:m>
              <m:oMath>
                <m:sSub>
                  <m:e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not rejected</a:t>
            </a:r>
          </a:p>
        </p:txBody>
      </p:sp>
      <p:sp>
        <p:nvSpPr>
          <p:cNvPr id="225" name="rejected"/>
          <p:cNvSpPr txBox="1"/>
          <p:nvPr/>
        </p:nvSpPr>
        <p:spPr>
          <a:xfrm>
            <a:off x="10066579" y="2872970"/>
            <a:ext cx="1177711" cy="37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14:m>
              <m:oMath>
                <m:sSub>
                  <m:e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 rejected</a:t>
            </a:r>
          </a:p>
        </p:txBody>
      </p:sp>
      <p:sp>
        <p:nvSpPr>
          <p:cNvPr id="226" name="Rectangle"/>
          <p:cNvSpPr/>
          <p:nvPr/>
        </p:nvSpPr>
        <p:spPr>
          <a:xfrm>
            <a:off x="7658311" y="3335521"/>
            <a:ext cx="1955207" cy="1476578"/>
          </a:xfrm>
          <a:prstGeom prst="rect">
            <a:avLst/>
          </a:prstGeom>
          <a:solidFill>
            <a:schemeClr val="accent6">
              <a:satOff val="-3457"/>
              <a:lumOff val="26078"/>
              <a:alpha val="79973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27" name="Type   error"/>
          <p:cNvSpPr txBox="1"/>
          <p:nvPr/>
        </p:nvSpPr>
        <p:spPr>
          <a:xfrm>
            <a:off x="9990379" y="3544915"/>
            <a:ext cx="1198130" cy="34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C00000"/>
                </a:solidFill>
              </a:defRPr>
            </a:pPr>
            <a:r>
              <a:t>Type </a:t>
            </a:r>
            <a14:m>
              <m:oMath>
                <m:r>
                  <m:rPr>
                    <m:sty m:val="p"/>
                  </m:rPr>
                  <a:rPr xmlns:a="http://schemas.openxmlformats.org/drawingml/2006/main" sz="19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I</m:t>
                </m:r>
              </m:oMath>
            </a14:m>
            <a:r>
              <a:t> error</a:t>
            </a:r>
          </a:p>
        </p:txBody>
      </p:sp>
      <p:sp>
        <p:nvSpPr>
          <p:cNvPr id="228" name="Rectangle"/>
          <p:cNvSpPr/>
          <p:nvPr/>
        </p:nvSpPr>
        <p:spPr>
          <a:xfrm>
            <a:off x="7666360" y="4823497"/>
            <a:ext cx="1955207" cy="1463879"/>
          </a:xfrm>
          <a:prstGeom prst="rect">
            <a:avLst/>
          </a:prstGeom>
          <a:solidFill>
            <a:schemeClr val="accent2">
              <a:lumOff val="21960"/>
              <a:alpha val="79973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29" name="Type   error"/>
          <p:cNvSpPr txBox="1"/>
          <p:nvPr/>
        </p:nvSpPr>
        <p:spPr>
          <a:xfrm>
            <a:off x="8006381" y="5044385"/>
            <a:ext cx="1280719" cy="34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C00000"/>
                </a:solidFill>
              </a:defRPr>
            </a:pPr>
            <a:r>
              <a:t>Type </a:t>
            </a:r>
            <a14:m>
              <m:oMath>
                <m:r>
                  <m:rPr>
                    <m:sty m:val="p"/>
                  </m:rPr>
                  <a:rPr xmlns:a="http://schemas.openxmlformats.org/drawingml/2006/main" sz="19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II</m:t>
                </m:r>
              </m:oMath>
            </a14:m>
            <a:r>
              <a:t> error</a:t>
            </a:r>
          </a:p>
        </p:txBody>
      </p:sp>
      <p:sp>
        <p:nvSpPr>
          <p:cNvPr id="230" name="Probability of…"/>
          <p:cNvSpPr txBox="1"/>
          <p:nvPr/>
        </p:nvSpPr>
        <p:spPr>
          <a:xfrm>
            <a:off x="7926108" y="3831201"/>
            <a:ext cx="1399616" cy="640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/>
            <a:r>
              <a:t>Probability of </a:t>
            </a:r>
          </a:p>
          <a:p>
            <a:pPr algn="ctr"/>
            <a:r>
              <a:t>this: </a:t>
            </a:r>
            <a14:m>
              <m:oMath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</m:oMath>
            </a14:m>
          </a:p>
        </p:txBody>
      </p:sp>
      <p:sp>
        <p:nvSpPr>
          <p:cNvPr id="231" name="Rectangle"/>
          <p:cNvSpPr/>
          <p:nvPr/>
        </p:nvSpPr>
        <p:spPr>
          <a:xfrm>
            <a:off x="9619863" y="4823497"/>
            <a:ext cx="1967907" cy="1463879"/>
          </a:xfrm>
          <a:prstGeom prst="rect">
            <a:avLst/>
          </a:prstGeom>
          <a:solidFill>
            <a:schemeClr val="accent6">
              <a:satOff val="-3457"/>
              <a:lumOff val="26078"/>
              <a:alpha val="79973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2" name="Will happen   %…"/>
          <p:cNvSpPr txBox="1"/>
          <p:nvPr/>
        </p:nvSpPr>
        <p:spPr>
          <a:xfrm>
            <a:off x="9842499" y="3965589"/>
            <a:ext cx="1623920" cy="631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/>
            <a:r>
              <a:t>Will happen </a:t>
            </a:r>
            <a14:m>
              <m:oMath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</m:oMath>
            </a14:m>
            <a:r>
              <a:t> %</a:t>
            </a:r>
          </a:p>
          <a:p>
            <a:pPr algn="ctr"/>
            <a:r>
              <a:t>of the time</a:t>
            </a:r>
          </a:p>
        </p:txBody>
      </p:sp>
      <p:sp>
        <p:nvSpPr>
          <p:cNvPr id="233" name="Happens   %…"/>
          <p:cNvSpPr txBox="1"/>
          <p:nvPr/>
        </p:nvSpPr>
        <p:spPr>
          <a:xfrm>
            <a:off x="7817745" y="5478763"/>
            <a:ext cx="1715936" cy="657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/>
            <a:r>
              <a:t>Happens </a:t>
            </a:r>
            <a14:m>
              <m:oMath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</m:oMath>
            </a14:m>
            <a:r>
              <a:t> %</a:t>
            </a:r>
          </a:p>
          <a:p>
            <a:pPr algn="ctr"/>
            <a:r>
              <a:t>of the time</a:t>
            </a:r>
          </a:p>
        </p:txBody>
      </p:sp>
      <p:sp>
        <p:nvSpPr>
          <p:cNvPr id="234" name="Text"/>
          <p:cNvSpPr txBox="1"/>
          <p:nvPr/>
        </p:nvSpPr>
        <p:spPr>
          <a:xfrm>
            <a:off x="9653718" y="5222947"/>
            <a:ext cx="1904893" cy="738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/>
            <a14:m>
              <m:oMath>
                <m:sSub>
                  <m:e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sSub>
                      <m:e>
                        <m:r>
                          <a:rPr xmlns:a="http://schemas.openxmlformats.org/drawingml/2006/mai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xmlns:a="http://schemas.openxmlformats.org/drawingml/2006/mai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sub>
                </m:sSub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m:rPr>
                    <m:nor/>
                  </m:rP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is rejected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</a:t>
            </a:r>
          </a:p>
          <a:p>
            <a:pPr algn="ctr"/>
            <a14:m>
              <m:oMath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9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β</m:t>
                </m:r>
              </m:oMath>
            </a14:m>
            <a:r>
              <a:t> </a:t>
            </a:r>
          </a:p>
        </p:txBody>
      </p:sp>
      <p:sp>
        <p:nvSpPr>
          <p:cNvPr id="235" name="(N.B. This is not the same as accepting  )"/>
          <p:cNvSpPr txBox="1"/>
          <p:nvPr/>
        </p:nvSpPr>
        <p:spPr>
          <a:xfrm>
            <a:off x="1771189" y="6153276"/>
            <a:ext cx="4031416" cy="37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(N.B. This is not the same as accepting </a:t>
            </a:r>
            <a14:m>
              <m:oMath>
                <m:sSub>
                  <m:e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xmlns:a="http://schemas.openxmlformats.org/drawingml/2006/mai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t>)</a:t>
            </a:r>
          </a:p>
        </p:txBody>
      </p:sp>
      <p:sp>
        <p:nvSpPr>
          <p:cNvPr id="236" name="(N.B. This is does not mean accept another model)"/>
          <p:cNvSpPr txBox="1"/>
          <p:nvPr/>
        </p:nvSpPr>
        <p:spPr>
          <a:xfrm>
            <a:off x="1070865" y="5208601"/>
            <a:ext cx="478776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(N.B. This is does not mean accept another model)</a:t>
            </a:r>
          </a:p>
        </p:txBody>
      </p:sp>
      <p:sp>
        <p:nvSpPr>
          <p:cNvPr id="237" name="A good experiment is defined around these requirements"/>
          <p:cNvSpPr txBox="1"/>
          <p:nvPr/>
        </p:nvSpPr>
        <p:spPr>
          <a:xfrm>
            <a:off x="6331422" y="6423559"/>
            <a:ext cx="541775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A </a:t>
            </a:r>
            <a:r>
              <a:rPr i="1"/>
              <a:t>good</a:t>
            </a:r>
            <a:r>
              <a:t> experiment is defined around these requirements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Confidence Intervals</a:t>
            </a:r>
          </a:p>
        </p:txBody>
      </p:sp>
      <p:sp>
        <p:nvSpPr>
          <p:cNvPr id="240" name="Content Placeholder 8"/>
          <p:cNvSpPr txBox="1"/>
          <p:nvPr>
            <p:ph type="body" sz="half" idx="1"/>
          </p:nvPr>
        </p:nvSpPr>
        <p:spPr>
          <a:xfrm>
            <a:off x="838200" y="1724655"/>
            <a:ext cx="10515600" cy="1773904"/>
          </a:xfrm>
          <a:prstGeom prst="rect">
            <a:avLst/>
          </a:prstGeom>
        </p:spPr>
        <p:txBody>
          <a:bodyPr/>
          <a:lstStyle/>
          <a:p>
            <a:pPr>
              <a:defRPr i="1" sz="2000"/>
            </a:pPr>
            <a:r>
              <a:t>Given a probability threshold, what is the allowed range of the parameter:</a:t>
            </a:r>
          </a:p>
          <a:p>
            <a:pPr>
              <a:defRPr sz="2000"/>
            </a:pPr>
          </a:p>
          <a:p>
            <a:pPr>
              <a:defRPr b="1" i="1" sz="2000">
                <a:solidFill>
                  <a:srgbClr val="C00000"/>
                </a:solidFill>
              </a:defRPr>
            </a:pPr>
          </a:p>
          <a:p>
            <a:pPr>
              <a:defRPr b="1" i="1" sz="2000">
                <a:solidFill>
                  <a:srgbClr val="C00000"/>
                </a:solidFill>
              </a:defRPr>
            </a:pPr>
            <a:r>
              <a:t>Interpretation: </a:t>
            </a:r>
            <a:r>
              <a:rPr b="0" i="0">
                <a:solidFill>
                  <a:srgbClr val="000000"/>
                </a:solidFill>
              </a:rPr>
              <a:t>if we repeat our experiment, </a:t>
            </a:r>
            <a:r>
              <a:rPr b="0" i="0">
                <a:solidFill>
                  <a:srgbClr val="000000"/>
                </a:solidFill>
              </a:rPr>
              <a:t>how often will 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b="0" i="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be </a:t>
            </a:r>
            <a:r>
              <a:rPr b="0" i="0">
                <a:solidFill>
                  <a:srgbClr val="000000"/>
                </a:solidFill>
              </a:rPr>
              <a:t>within our quoted range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1" name="Slide Number Placeholder 2"/>
          <p:cNvSpPr txBox="1"/>
          <p:nvPr>
            <p:ph type="sldNum" sz="quarter" idx="2"/>
          </p:nvPr>
        </p:nvSpPr>
        <p:spPr>
          <a:xfrm>
            <a:off x="11774115" y="6402746"/>
            <a:ext cx="194257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2" name="Equation"/>
          <p:cNvSpPr txBox="1"/>
          <p:nvPr/>
        </p:nvSpPr>
        <p:spPr>
          <a:xfrm>
            <a:off x="3666438" y="2320132"/>
            <a:ext cx="3735013" cy="4096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lim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̂</m:t>
                      </m:r>
                    </m:lim>
                  </m:limUpp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sSub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≤</m:t>
                  </m:r>
                  <m:limUp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lim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̂</m:t>
                      </m:r>
                    </m:lim>
                  </m:limUpp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</m:oMath>
              </m:oMathPara>
            </a14:m>
            <a:endParaRPr sz="3400"/>
          </a:p>
        </p:txBody>
      </p:sp>
      <p:sp>
        <p:nvSpPr>
          <p:cNvPr id="243" name="For multiple variables  :"/>
          <p:cNvSpPr txBox="1"/>
          <p:nvPr/>
        </p:nvSpPr>
        <p:spPr>
          <a:xfrm>
            <a:off x="906122" y="3913055"/>
            <a:ext cx="3456789" cy="416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rPr b="1"/>
              <a:t>For multiple variables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b="1"/>
              <a:t>:</a:t>
            </a:r>
          </a:p>
        </p:txBody>
      </p:sp>
      <p:sp>
        <p:nvSpPr>
          <p:cNvPr id="244" name="Line"/>
          <p:cNvSpPr/>
          <p:nvPr/>
        </p:nvSpPr>
        <p:spPr>
          <a:xfrm>
            <a:off x="3922131" y="3655051"/>
            <a:ext cx="3511537" cy="1"/>
          </a:xfrm>
          <a:prstGeom prst="line">
            <a:avLst/>
          </a:prstGeom>
          <a:ln w="12700">
            <a:solidFill>
              <a:srgbClr val="A7A7A7"/>
            </a:solidFill>
            <a:miter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53" name="Group"/>
          <p:cNvGrpSpPr/>
          <p:nvPr/>
        </p:nvGrpSpPr>
        <p:grpSpPr>
          <a:xfrm>
            <a:off x="6964317" y="3879203"/>
            <a:ext cx="4032264" cy="2623470"/>
            <a:chOff x="0" y="0"/>
            <a:chExt cx="4032263" cy="2623468"/>
          </a:xfrm>
        </p:grpSpPr>
        <p:sp>
          <p:nvSpPr>
            <p:cNvPr id="245" name="Rectangle"/>
            <p:cNvSpPr/>
            <p:nvPr/>
          </p:nvSpPr>
          <p:spPr>
            <a:xfrm>
              <a:off x="0" y="0"/>
              <a:ext cx="4032264" cy="2623469"/>
            </a:xfrm>
            <a:prstGeom prst="rect">
              <a:avLst/>
            </a:prstGeom>
            <a:solidFill>
              <a:srgbClr val="CEF0D1"/>
            </a:solidFill>
            <a:ln w="12700" cap="flat">
              <a:solidFill>
                <a:srgbClr val="A7A7A7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6" name="Oval"/>
            <p:cNvSpPr/>
            <p:nvPr/>
          </p:nvSpPr>
          <p:spPr>
            <a:xfrm rot="19800000">
              <a:off x="1234430" y="542527"/>
              <a:ext cx="2024632" cy="1237332"/>
            </a:xfrm>
            <a:prstGeom prst="ellipse">
              <a:avLst/>
            </a:prstGeom>
            <a:solidFill>
              <a:srgbClr val="EFEFE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7" name="Line"/>
            <p:cNvSpPr/>
            <p:nvPr/>
          </p:nvSpPr>
          <p:spPr>
            <a:xfrm flipV="1">
              <a:off x="524183" y="289213"/>
              <a:ext cx="1" cy="199424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8" name="Line"/>
            <p:cNvSpPr/>
            <p:nvPr/>
          </p:nvSpPr>
          <p:spPr>
            <a:xfrm>
              <a:off x="524183" y="2270755"/>
              <a:ext cx="3191126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9" name="Oval"/>
            <p:cNvSpPr/>
            <p:nvPr/>
          </p:nvSpPr>
          <p:spPr>
            <a:xfrm rot="19800000">
              <a:off x="1412230" y="651188"/>
              <a:ext cx="1669032" cy="1020010"/>
            </a:xfrm>
            <a:prstGeom prst="ellipse">
              <a:avLst/>
            </a:prstGeom>
            <a:solidFill>
              <a:srgbClr val="DDDDDD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0" name="Oval"/>
            <p:cNvSpPr/>
            <p:nvPr/>
          </p:nvSpPr>
          <p:spPr>
            <a:xfrm rot="19800000">
              <a:off x="1880619" y="755019"/>
              <a:ext cx="1016001" cy="620918"/>
            </a:xfrm>
            <a:prstGeom prst="ellipse">
              <a:avLst/>
            </a:prstGeom>
            <a:solidFill>
              <a:srgbClr val="BBBBBB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1" name="Equation"/>
            <p:cNvSpPr txBox="1"/>
            <p:nvPr/>
          </p:nvSpPr>
          <p:spPr>
            <a:xfrm>
              <a:off x="184978" y="1167170"/>
              <a:ext cx="171832" cy="186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m:oMathPara>
              </a14:m>
              <a:endParaRPr sz="2200"/>
            </a:p>
          </p:txBody>
        </p:sp>
        <p:sp>
          <p:nvSpPr>
            <p:cNvPr id="252" name="Equation"/>
            <p:cNvSpPr txBox="1"/>
            <p:nvPr/>
          </p:nvSpPr>
          <p:spPr>
            <a:xfrm>
              <a:off x="2033830" y="2331234"/>
              <a:ext cx="166523" cy="1824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m:oMathPara>
              </a14:m>
              <a:endParaRPr sz="2200"/>
            </a:p>
          </p:txBody>
        </p:sp>
      </p:grpSp>
      <p:sp>
        <p:nvSpPr>
          <p:cNvPr id="254" name="An error ellipse containing…"/>
          <p:cNvSpPr txBox="1"/>
          <p:nvPr/>
        </p:nvSpPr>
        <p:spPr>
          <a:xfrm>
            <a:off x="1701245" y="4674315"/>
            <a:ext cx="3197936" cy="797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rPr b="0" i="0">
                <a:solidFill>
                  <a:srgbClr val="000000"/>
                </a:solidFill>
              </a:rPr>
              <a:t>An error ellipse containing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</m:oMath>
            </a14:m>
            <a:r>
              <a:rPr b="0" i="0">
                <a:solidFill>
                  <a:srgbClr val="000000"/>
                </a:solidFill>
              </a:rPr>
              <a:t> </a:t>
            </a:r>
            <a:endParaRPr b="0" i="0">
              <a:solidFill>
                <a:srgbClr val="000000"/>
              </a:solidFill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rPr b="0" i="0">
                <a:solidFill>
                  <a:srgbClr val="000000"/>
                </a:solidFill>
              </a:rPr>
              <a:t>of the probability</a:t>
            </a:r>
          </a:p>
        </p:txBody>
      </p:sp>
      <p:sp>
        <p:nvSpPr>
          <p:cNvPr id="255" name="Typical values are 68%, 90%, 95%."/>
          <p:cNvSpPr txBox="1"/>
          <p:nvPr/>
        </p:nvSpPr>
        <p:spPr>
          <a:xfrm>
            <a:off x="1303591" y="5721713"/>
            <a:ext cx="3815443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>
              <a:defRPr>
                <a:latin typeface="Cambria Math"/>
                <a:ea typeface="Cambria Math"/>
                <a:cs typeface="Cambria Math"/>
                <a:sym typeface="Cambria Math"/>
              </a:defRPr>
            </a:pPr>
            <a:r>
              <a:rPr>
                <a:latin typeface="+mj-lt"/>
                <a:ea typeface="+mj-ea"/>
                <a:cs typeface="+mj-cs"/>
                <a:sym typeface="Calibri"/>
              </a:rPr>
              <a:t>Typical values are 68%, 90%, 95%.</a:t>
            </a:r>
          </a:p>
        </p:txBody>
      </p:sp>
      <p:sp>
        <p:nvSpPr>
          <p:cNvPr id="256" name="Star"/>
          <p:cNvSpPr/>
          <p:nvPr/>
        </p:nvSpPr>
        <p:spPr>
          <a:xfrm>
            <a:off x="9469488" y="4767729"/>
            <a:ext cx="157021" cy="149335"/>
          </a:xfrm>
          <a:prstGeom prst="star5">
            <a:avLst>
              <a:gd name="adj" fmla="val 19100"/>
              <a:gd name="hf" fmla="val 105146"/>
              <a:gd name="vf" fmla="val 110557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Key Assumption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/>
            <a:r>
              <a:t>Key Assumption:</a:t>
            </a:r>
          </a:p>
        </p:txBody>
      </p:sp>
      <p:sp>
        <p:nvSpPr>
          <p:cNvPr id="2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0" name="The probability,  , needed for Hypothesis testing and confidence intervals depend on how the data and model are distributed"/>
          <p:cNvSpPr txBox="1"/>
          <p:nvPr/>
        </p:nvSpPr>
        <p:spPr>
          <a:xfrm>
            <a:off x="939655" y="1871359"/>
            <a:ext cx="7684394" cy="74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The probability,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</m:oMath>
            </a14:m>
            <a:r>
              <a:t>, needed for </a:t>
            </a:r>
            <a:r>
              <a:rPr b="1"/>
              <a:t>Hypothesis testing </a:t>
            </a:r>
            <a:r>
              <a:t>and</a:t>
            </a:r>
            <a:r>
              <a:rPr b="1"/>
              <a:t> confidence intervals </a:t>
            </a:r>
            <a:r>
              <a:t>depend on how the data and model are distributed</a:t>
            </a:r>
          </a:p>
        </p:txBody>
      </p:sp>
      <p:sp>
        <p:nvSpPr>
          <p:cNvPr id="261" name="Are they both drawn from a Gaussian distribution?"/>
          <p:cNvSpPr txBox="1"/>
          <p:nvPr/>
        </p:nvSpPr>
        <p:spPr>
          <a:xfrm>
            <a:off x="939655" y="3236312"/>
            <a:ext cx="7684394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Are they both drawn from a Gaussian distribution?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"/>
          <p:cNvSpPr/>
          <p:nvPr/>
        </p:nvSpPr>
        <p:spPr>
          <a:xfrm>
            <a:off x="7110765" y="1087437"/>
            <a:ext cx="4992543" cy="4432954"/>
          </a:xfrm>
          <a:prstGeom prst="rect">
            <a:avLst/>
          </a:prstGeom>
          <a:solidFill>
            <a:schemeClr val="accent6">
              <a:satOff val="-3457"/>
              <a:lumOff val="26078"/>
            </a:schemeClr>
          </a:solidFill>
          <a:ln w="12700">
            <a:solidFill>
              <a:srgbClr val="A7A7A7"/>
            </a:solidFill>
            <a:miter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Rectangle"/>
          <p:cNvSpPr/>
          <p:nvPr/>
        </p:nvSpPr>
        <p:spPr>
          <a:xfrm>
            <a:off x="552125" y="1920947"/>
            <a:ext cx="6307516" cy="2110620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65" name="Slide Number Placeholder 3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6" name="Equation"/>
          <p:cNvSpPr txBox="1"/>
          <p:nvPr/>
        </p:nvSpPr>
        <p:spPr>
          <a:xfrm>
            <a:off x="1071964" y="2100804"/>
            <a:ext cx="5267839" cy="94483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ad>
                        <m:ra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rad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m:rPr>
                      <m:sty m:val="p"/>
                    </m:rP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μ</m:t>
                  </m:r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</m:oMath>
              </m:oMathPara>
            </a14:m>
            <a:endParaRPr sz="2800"/>
          </a:p>
        </p:txBody>
      </p:sp>
      <p:sp>
        <p:nvSpPr>
          <p:cNvPr id="267" name="Title 1"/>
          <p:cNvSpPr txBox="1"/>
          <p:nvPr>
            <p:ph type="title"/>
          </p:nvPr>
        </p:nvSpPr>
        <p:spPr>
          <a:xfrm>
            <a:off x="812800" y="238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Key Distributions: Gaussian</a:t>
            </a:r>
          </a:p>
        </p:txBody>
      </p:sp>
      <p:sp>
        <p:nvSpPr>
          <p:cNvPr id="268" name="The limiting case ( ) of most other distributions"/>
          <p:cNvSpPr txBox="1"/>
          <p:nvPr/>
        </p:nvSpPr>
        <p:spPr>
          <a:xfrm>
            <a:off x="647375" y="3468532"/>
            <a:ext cx="6320216" cy="863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The limiting case (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m:rPr>
                    <m:sty m:val="p"/>
                  </m:rP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  <a:r>
              <a:t>) of most other distributions</a:t>
            </a:r>
          </a:p>
        </p:txBody>
      </p:sp>
      <p:sp>
        <p:nvSpPr>
          <p:cNvPr id="269" name="Aka a normal"/>
          <p:cNvSpPr txBox="1"/>
          <p:nvPr/>
        </p:nvSpPr>
        <p:spPr>
          <a:xfrm>
            <a:off x="822223" y="1253240"/>
            <a:ext cx="403860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2800"/>
            </a:lvl1pPr>
          </a:lstStyle>
          <a:p>
            <a:pPr/>
            <a:r>
              <a:t>Aka a normal</a:t>
            </a:r>
          </a:p>
        </p:txBody>
      </p:sp>
      <p:sp>
        <p:nvSpPr>
          <p:cNvPr id="270" name="Equation"/>
          <p:cNvSpPr txBox="1"/>
          <p:nvPr/>
        </p:nvSpPr>
        <p:spPr>
          <a:xfrm>
            <a:off x="3797300" y="4548451"/>
            <a:ext cx="1377228" cy="23750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mean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μ</m:t>
                  </m:r>
                </m:oMath>
              </m:oMathPara>
            </a14:m>
            <a:endParaRPr sz="2800"/>
          </a:p>
        </p:txBody>
      </p:sp>
      <p:sp>
        <p:nvSpPr>
          <p:cNvPr id="271" name="Equation"/>
          <p:cNvSpPr txBox="1"/>
          <p:nvPr/>
        </p:nvSpPr>
        <p:spPr>
          <a:xfrm>
            <a:off x="4114800" y="5207000"/>
            <a:ext cx="1068613" cy="30615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m:oMathPara>
            </a14:m>
            <a:endParaRPr sz="2800"/>
          </a:p>
        </p:txBody>
      </p:sp>
      <p:sp>
        <p:nvSpPr>
          <p:cNvPr id="272" name="Expectation value:"/>
          <p:cNvSpPr txBox="1"/>
          <p:nvPr/>
        </p:nvSpPr>
        <p:spPr>
          <a:xfrm>
            <a:off x="1168400" y="4497111"/>
            <a:ext cx="204746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Expectation value:</a:t>
            </a:r>
          </a:p>
        </p:txBody>
      </p:sp>
      <p:sp>
        <p:nvSpPr>
          <p:cNvPr id="273" name="Variance:"/>
          <p:cNvSpPr txBox="1"/>
          <p:nvPr/>
        </p:nvSpPr>
        <p:spPr>
          <a:xfrm>
            <a:off x="1651000" y="5194300"/>
            <a:ext cx="109335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Variance:</a:t>
            </a:r>
          </a:p>
        </p:txBody>
      </p:sp>
      <p:pic>
        <p:nvPicPr>
          <p:cNvPr id="274" name="gaussian_dist.png" descr="gaussian_dist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7253662" y="1293056"/>
            <a:ext cx="4732269" cy="3977779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</p:pic>
      <p:sp>
        <p:nvSpPr>
          <p:cNvPr id="275" name="Common assumption across physics"/>
          <p:cNvSpPr txBox="1"/>
          <p:nvPr/>
        </p:nvSpPr>
        <p:spPr>
          <a:xfrm>
            <a:off x="7548184" y="5569619"/>
            <a:ext cx="4143225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Common assumption across physics</a:t>
            </a:r>
          </a:p>
        </p:txBody>
      </p:sp>
      <p:sp>
        <p:nvSpPr>
          <p:cNvPr id="276" name="Equation"/>
          <p:cNvSpPr txBox="1"/>
          <p:nvPr/>
        </p:nvSpPr>
        <p:spPr>
          <a:xfrm>
            <a:off x="1049877" y="5775929"/>
            <a:ext cx="5048286" cy="99662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sSub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ad>
                        <m:ra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den>
                  </m:f>
                  <m:sSub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p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</m:oMath>
              </m:oMathPara>
            </a14:m>
            <a:endParaRPr sz="2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"/>
          <p:cNvSpPr/>
          <p:nvPr/>
        </p:nvSpPr>
        <p:spPr>
          <a:xfrm>
            <a:off x="899994" y="1940680"/>
            <a:ext cx="6307517" cy="2110620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79" name="draw   events from   possibilities each with probability"/>
          <p:cNvSpPr txBox="1"/>
          <p:nvPr>
            <p:ph type="body" sz="quarter" idx="1"/>
          </p:nvPr>
        </p:nvSpPr>
        <p:spPr>
          <a:xfrm>
            <a:off x="820057" y="3419449"/>
            <a:ext cx="6320216" cy="863320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draw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  <a:r>
              <a:t> events from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  <a:r>
              <a:t> possibilities each with probability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</m:oMath>
            </a14:m>
            <a:r>
              <a:t> </a:t>
            </a:r>
          </a:p>
        </p:txBody>
      </p:sp>
      <p:sp>
        <p:nvSpPr>
          <p:cNvPr id="2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1" name="Key Distributions: Binomial"/>
          <p:cNvSpPr txBox="1"/>
          <p:nvPr>
            <p:ph type="title"/>
          </p:nvPr>
        </p:nvSpPr>
        <p:spPr>
          <a:xfrm>
            <a:off x="812800" y="238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/>
            <a:r>
              <a:t>Key Distributions: Binomial</a:t>
            </a:r>
          </a:p>
        </p:txBody>
      </p:sp>
      <p:sp>
        <p:nvSpPr>
          <p:cNvPr id="282" name="Fixed number of outcomes"/>
          <p:cNvSpPr txBox="1"/>
          <p:nvPr/>
        </p:nvSpPr>
        <p:spPr>
          <a:xfrm>
            <a:off x="822223" y="1253240"/>
            <a:ext cx="404039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2800"/>
            </a:lvl1pPr>
          </a:lstStyle>
          <a:p>
            <a:pPr/>
            <a:r>
              <a:t>Fixed number of outcomes</a:t>
            </a:r>
          </a:p>
        </p:txBody>
      </p:sp>
      <p:sp>
        <p:nvSpPr>
          <p:cNvPr id="283" name="Equation"/>
          <p:cNvSpPr txBox="1"/>
          <p:nvPr/>
        </p:nvSpPr>
        <p:spPr>
          <a:xfrm>
            <a:off x="1527411" y="2110159"/>
            <a:ext cx="5146823" cy="106222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noBar"/>
                        </m:fPr>
                        <m:num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e>
                  </m:d>
                  <m:sSu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p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p>
                  </m:sSup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sSu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p>
                  </m:sSup>
                </m:oMath>
              </m:oMathPara>
            </a14:m>
            <a:endParaRPr sz="3400"/>
          </a:p>
        </p:txBody>
      </p:sp>
      <p:sp>
        <p:nvSpPr>
          <p:cNvPr id="284" name="Equation"/>
          <p:cNvSpPr txBox="1"/>
          <p:nvPr/>
        </p:nvSpPr>
        <p:spPr>
          <a:xfrm>
            <a:off x="3797906" y="4548451"/>
            <a:ext cx="1552785" cy="23750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mean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</m:oMath>
              </m:oMathPara>
            </a14:m>
            <a:endParaRPr sz="2800"/>
          </a:p>
        </p:txBody>
      </p:sp>
      <p:sp>
        <p:nvSpPr>
          <p:cNvPr id="285" name="Equation"/>
          <p:cNvSpPr txBox="1"/>
          <p:nvPr/>
        </p:nvSpPr>
        <p:spPr>
          <a:xfrm>
            <a:off x="4115839" y="5203312"/>
            <a:ext cx="1332126" cy="31328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2800"/>
          </a:p>
        </p:txBody>
      </p:sp>
      <p:sp>
        <p:nvSpPr>
          <p:cNvPr id="286" name="Expectation value:"/>
          <p:cNvSpPr txBox="1"/>
          <p:nvPr/>
        </p:nvSpPr>
        <p:spPr>
          <a:xfrm>
            <a:off x="1171092" y="4497111"/>
            <a:ext cx="2047465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Expectation value:</a:t>
            </a:r>
          </a:p>
        </p:txBody>
      </p:sp>
      <p:sp>
        <p:nvSpPr>
          <p:cNvPr id="287" name="Variance:"/>
          <p:cNvSpPr txBox="1"/>
          <p:nvPr/>
        </p:nvSpPr>
        <p:spPr>
          <a:xfrm>
            <a:off x="1648149" y="5189863"/>
            <a:ext cx="109335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Variance:</a:t>
            </a:r>
          </a:p>
        </p:txBody>
      </p:sp>
      <p:sp>
        <p:nvSpPr>
          <p:cNvPr id="288" name="=&gt; Gaussian distribution as"/>
          <p:cNvSpPr txBox="1"/>
          <p:nvPr/>
        </p:nvSpPr>
        <p:spPr>
          <a:xfrm>
            <a:off x="1892300" y="5880100"/>
            <a:ext cx="3856494" cy="373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=&gt; Gaussian distribution as </a:t>
            </a:r>
            <a14:m>
              <m:oMath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m:rPr>
                    <m:sty m:val="p"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</a:p>
        </p:txBody>
      </p:sp>
      <p:sp>
        <p:nvSpPr>
          <p:cNvPr id="289" name="Example: coin tossing"/>
          <p:cNvSpPr txBox="1"/>
          <p:nvPr/>
        </p:nvSpPr>
        <p:spPr>
          <a:xfrm>
            <a:off x="2960838" y="6347654"/>
            <a:ext cx="236632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Example: coin tossing</a:t>
            </a:r>
          </a:p>
        </p:txBody>
      </p:sp>
      <p:sp>
        <p:nvSpPr>
          <p:cNvPr id="290" name="Rectangle"/>
          <p:cNvSpPr/>
          <p:nvPr/>
        </p:nvSpPr>
        <p:spPr>
          <a:xfrm>
            <a:off x="7383669" y="408090"/>
            <a:ext cx="4597539" cy="6041820"/>
          </a:xfrm>
          <a:prstGeom prst="rect">
            <a:avLst/>
          </a:prstGeom>
          <a:solidFill>
            <a:schemeClr val="accent6">
              <a:satOff val="-3457"/>
              <a:lumOff val="26078"/>
            </a:schemeClr>
          </a:solidFill>
          <a:ln w="12700">
            <a:solidFill>
              <a:srgbClr val="A7A7A7"/>
            </a:solidFill>
            <a:miter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91" name="binomial_dist.png" descr="binomial_di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80390" y="518232"/>
            <a:ext cx="4204240" cy="5821593"/>
          </a:xfrm>
          <a:prstGeom prst="rect">
            <a:avLst/>
          </a:prstGeom>
          <a:ln w="6350">
            <a:solidFill>
              <a:schemeClr val="accent1"/>
            </a:solidFill>
            <a:miter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"/>
          <p:cNvSpPr/>
          <p:nvPr/>
        </p:nvSpPr>
        <p:spPr>
          <a:xfrm>
            <a:off x="899994" y="1940680"/>
            <a:ext cx="6307517" cy="2110620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4" name="observe   events drawn from   possibilities"/>
          <p:cNvSpPr txBox="1"/>
          <p:nvPr>
            <p:ph type="body" sz="quarter" idx="1"/>
          </p:nvPr>
        </p:nvSpPr>
        <p:spPr>
          <a:xfrm>
            <a:off x="1612295" y="3422244"/>
            <a:ext cx="4882915" cy="444759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observe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  <a:r>
              <a:t> events drawn from </a:t>
            </a: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λ</m:t>
                </m:r>
              </m:oMath>
            </a14:m>
            <a:r>
              <a:t> possibilities</a:t>
            </a:r>
          </a:p>
        </p:txBody>
      </p:sp>
      <p:sp>
        <p:nvSpPr>
          <p:cNvPr id="2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96" name="Key Distributions: Poisson"/>
          <p:cNvSpPr txBox="1"/>
          <p:nvPr>
            <p:ph type="title"/>
          </p:nvPr>
        </p:nvSpPr>
        <p:spPr>
          <a:xfrm>
            <a:off x="812800" y="238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/>
            <a:r>
              <a:t>Key Distributions: Poisson</a:t>
            </a:r>
          </a:p>
        </p:txBody>
      </p:sp>
      <p:sp>
        <p:nvSpPr>
          <p:cNvPr id="297" name="The counting distribution"/>
          <p:cNvSpPr txBox="1"/>
          <p:nvPr/>
        </p:nvSpPr>
        <p:spPr>
          <a:xfrm>
            <a:off x="822223" y="1253240"/>
            <a:ext cx="403860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2800"/>
            </a:lvl1pPr>
          </a:lstStyle>
          <a:p>
            <a:pPr/>
            <a:r>
              <a:t>The counting distribution</a:t>
            </a:r>
          </a:p>
        </p:txBody>
      </p:sp>
      <p:sp>
        <p:nvSpPr>
          <p:cNvPr id="298" name="Equation"/>
          <p:cNvSpPr txBox="1"/>
          <p:nvPr/>
        </p:nvSpPr>
        <p:spPr>
          <a:xfrm>
            <a:off x="2497898" y="2094009"/>
            <a:ext cx="3111709" cy="100217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k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p>
                        <m:e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sSup>
                        <m:e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den>
                  </m:f>
                </m:oMath>
              </m:oMathPara>
            </a14:m>
            <a:endParaRPr sz="3400"/>
          </a:p>
        </p:txBody>
      </p:sp>
      <p:sp>
        <p:nvSpPr>
          <p:cNvPr id="299" name="Equation"/>
          <p:cNvSpPr txBox="1"/>
          <p:nvPr/>
        </p:nvSpPr>
        <p:spPr>
          <a:xfrm>
            <a:off x="3797300" y="4546600"/>
            <a:ext cx="1358737" cy="2467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mean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λ</m:t>
                  </m:r>
                </m:oMath>
              </m:oMathPara>
            </a14:m>
            <a:endParaRPr sz="2800"/>
          </a:p>
        </p:txBody>
      </p:sp>
      <p:sp>
        <p:nvSpPr>
          <p:cNvPr id="300" name="Equation"/>
          <p:cNvSpPr txBox="1"/>
          <p:nvPr/>
        </p:nvSpPr>
        <p:spPr>
          <a:xfrm>
            <a:off x="4114800" y="5207000"/>
            <a:ext cx="906622" cy="30793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λ</m:t>
                  </m:r>
                </m:oMath>
              </m:oMathPara>
            </a14:m>
            <a:endParaRPr sz="2800"/>
          </a:p>
        </p:txBody>
      </p:sp>
      <p:sp>
        <p:nvSpPr>
          <p:cNvPr id="301" name="Expectation value:"/>
          <p:cNvSpPr txBox="1"/>
          <p:nvPr/>
        </p:nvSpPr>
        <p:spPr>
          <a:xfrm>
            <a:off x="1168400" y="4497111"/>
            <a:ext cx="204746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Expectation value:</a:t>
            </a:r>
          </a:p>
        </p:txBody>
      </p:sp>
      <p:sp>
        <p:nvSpPr>
          <p:cNvPr id="302" name="Variance:"/>
          <p:cNvSpPr txBox="1"/>
          <p:nvPr/>
        </p:nvSpPr>
        <p:spPr>
          <a:xfrm>
            <a:off x="1651000" y="5194300"/>
            <a:ext cx="109335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Variance:</a:t>
            </a:r>
          </a:p>
        </p:txBody>
      </p:sp>
      <p:sp>
        <p:nvSpPr>
          <p:cNvPr id="303" name="=&gt; Gaussian distribution as"/>
          <p:cNvSpPr txBox="1"/>
          <p:nvPr/>
        </p:nvSpPr>
        <p:spPr>
          <a:xfrm>
            <a:off x="1891861" y="5882616"/>
            <a:ext cx="3794460" cy="381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=&gt; Gaussian distribution as </a:t>
            </a:r>
            <a14:m>
              <m:oMath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k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→</m:t>
                </m:r>
                <m:r>
                  <m:rPr>
                    <m:sty m:val="p"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∞</m:t>
                </m:r>
              </m:oMath>
            </a14:m>
          </a:p>
        </p:txBody>
      </p:sp>
      <p:sp>
        <p:nvSpPr>
          <p:cNvPr id="304" name="Example: histogram (or photon) counting"/>
          <p:cNvSpPr txBox="1"/>
          <p:nvPr/>
        </p:nvSpPr>
        <p:spPr>
          <a:xfrm>
            <a:off x="2738855" y="6373054"/>
            <a:ext cx="4430203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Example: histogram (or photon) counting</a:t>
            </a:r>
          </a:p>
        </p:txBody>
      </p:sp>
      <p:sp>
        <p:nvSpPr>
          <p:cNvPr id="305" name="NB: Other common distributions include ‘uniform’, ‘gamma’, ‘log-normal’…"/>
          <p:cNvSpPr txBox="1"/>
          <p:nvPr/>
        </p:nvSpPr>
        <p:spPr>
          <a:xfrm>
            <a:off x="4061639" y="113585"/>
            <a:ext cx="801534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NB: </a:t>
            </a:r>
            <a:r>
              <a:rPr i="0"/>
              <a:t>Other common distributions include ‘uniform’, ‘gamma’, ‘log-normal’… </a:t>
            </a:r>
          </a:p>
        </p:txBody>
      </p:sp>
      <p:sp>
        <p:nvSpPr>
          <p:cNvPr id="306" name="Rectangle"/>
          <p:cNvSpPr/>
          <p:nvPr/>
        </p:nvSpPr>
        <p:spPr>
          <a:xfrm>
            <a:off x="7383669" y="408090"/>
            <a:ext cx="4597539" cy="6041820"/>
          </a:xfrm>
          <a:prstGeom prst="rect">
            <a:avLst/>
          </a:prstGeom>
          <a:solidFill>
            <a:schemeClr val="accent6">
              <a:satOff val="-3457"/>
              <a:lumOff val="26078"/>
            </a:schemeClr>
          </a:solidFill>
          <a:ln w="12700">
            <a:solidFill>
              <a:srgbClr val="A7A7A7"/>
            </a:solidFill>
            <a:miter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07" name="poisson_dist.png" descr="poisson_di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40173" y="488156"/>
            <a:ext cx="4284505" cy="5881589"/>
          </a:xfrm>
          <a:prstGeom prst="rect">
            <a:avLst/>
          </a:prstGeom>
          <a:ln w="6350">
            <a:solidFill>
              <a:schemeClr val="accent1"/>
            </a:solidFill>
            <a:miter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"/>
          <p:cNvSpPr/>
          <p:nvPr/>
        </p:nvSpPr>
        <p:spPr>
          <a:xfrm>
            <a:off x="899994" y="1940680"/>
            <a:ext cx="6307517" cy="2110620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0" name="is the number of degrees of freedom"/>
          <p:cNvSpPr txBox="1"/>
          <p:nvPr>
            <p:ph type="body" sz="quarter" idx="1"/>
          </p:nvPr>
        </p:nvSpPr>
        <p:spPr>
          <a:xfrm>
            <a:off x="1792229" y="3353942"/>
            <a:ext cx="4882916" cy="444759"/>
          </a:xfrm>
          <a:prstGeom prst="rect">
            <a:avLst/>
          </a:prstGeom>
        </p:spPr>
        <p:txBody>
          <a:bodyPr/>
          <a:lstStyle/>
          <a:p>
            <a:pPr>
              <a:defRPr sz="2000"/>
            </a:pPr>
            <a14:m>
              <m:oMath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ν</m:t>
                </m:r>
              </m:oMath>
            </a14:m>
            <a:r>
              <a:t> is the number of degrees of freedom</a:t>
            </a:r>
          </a:p>
        </p:txBody>
      </p:sp>
      <p:sp>
        <p:nvSpPr>
          <p:cNvPr id="3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2" name="Key Distributions:"/>
          <p:cNvSpPr txBox="1"/>
          <p:nvPr>
            <p:ph type="title"/>
          </p:nvPr>
        </p:nvSpPr>
        <p:spPr>
          <a:xfrm>
            <a:off x="812800" y="2127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t>Key Distributions: </a:t>
            </a:r>
            <a14:m>
              <m:oMath>
                <m:sSup>
                  <m:e>
                    <m:r>
                      <a:rPr xmlns:a="http://schemas.openxmlformats.org/drawingml/2006/main" sz="4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4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313" name="Related to the Gamma distribution"/>
          <p:cNvSpPr txBox="1"/>
          <p:nvPr/>
        </p:nvSpPr>
        <p:spPr>
          <a:xfrm>
            <a:off x="822223" y="1253240"/>
            <a:ext cx="5425329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2800"/>
            </a:lvl1pPr>
          </a:lstStyle>
          <a:p>
            <a:pPr/>
            <a:r>
              <a:t>Related to the Gamma distribution</a:t>
            </a:r>
          </a:p>
        </p:txBody>
      </p:sp>
      <p:sp>
        <p:nvSpPr>
          <p:cNvPr id="314" name="Equation"/>
          <p:cNvSpPr txBox="1"/>
          <p:nvPr/>
        </p:nvSpPr>
        <p:spPr>
          <a:xfrm>
            <a:off x="2059805" y="2463506"/>
            <a:ext cx="3987895" cy="52324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∝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sSu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f>
                        <m:fPr>
                          <m:ctrlP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xmlns:a="http://schemas.openxmlformats.org/drawingml/2006/main"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sup>
                  </m:sSup>
                  <m:r>
                    <m:rPr>
                      <m:sty m:val="p"/>
                    </m:rP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sSup>
                    <m:e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3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3400"/>
          </a:p>
        </p:txBody>
      </p:sp>
      <p:sp>
        <p:nvSpPr>
          <p:cNvPr id="315" name="Equation"/>
          <p:cNvSpPr txBox="1"/>
          <p:nvPr/>
        </p:nvSpPr>
        <p:spPr>
          <a:xfrm>
            <a:off x="3797300" y="4546600"/>
            <a:ext cx="2623721" cy="30510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mean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ν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</m:oMath>
              </m:oMathPara>
            </a14:m>
            <a:endParaRPr sz="2800"/>
          </a:p>
        </p:txBody>
      </p:sp>
      <p:sp>
        <p:nvSpPr>
          <p:cNvPr id="316" name="Equation"/>
          <p:cNvSpPr txBox="1"/>
          <p:nvPr/>
        </p:nvSpPr>
        <p:spPr>
          <a:xfrm>
            <a:off x="4114800" y="5207000"/>
            <a:ext cx="1094379" cy="30864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ν</m:t>
                  </m:r>
                </m:oMath>
              </m:oMathPara>
            </a14:m>
            <a:endParaRPr sz="2800"/>
          </a:p>
        </p:txBody>
      </p:sp>
      <p:sp>
        <p:nvSpPr>
          <p:cNvPr id="317" name="Expectation value:"/>
          <p:cNvSpPr txBox="1"/>
          <p:nvPr/>
        </p:nvSpPr>
        <p:spPr>
          <a:xfrm>
            <a:off x="1168400" y="4497111"/>
            <a:ext cx="204746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Expectation value:</a:t>
            </a:r>
          </a:p>
        </p:txBody>
      </p:sp>
      <p:sp>
        <p:nvSpPr>
          <p:cNvPr id="318" name="Variance:"/>
          <p:cNvSpPr txBox="1"/>
          <p:nvPr/>
        </p:nvSpPr>
        <p:spPr>
          <a:xfrm>
            <a:off x="1651000" y="5194300"/>
            <a:ext cx="109335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Variance:</a:t>
            </a:r>
          </a:p>
        </p:txBody>
      </p:sp>
      <p:sp>
        <p:nvSpPr>
          <p:cNvPr id="319" name="i.e. if the model is correct then we expect"/>
          <p:cNvSpPr txBox="1"/>
          <p:nvPr/>
        </p:nvSpPr>
        <p:spPr>
          <a:xfrm>
            <a:off x="552177" y="5902476"/>
            <a:ext cx="6273003" cy="513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i.e. if the model is correct then we expect  </a:t>
            </a:r>
            <a14:m>
              <m:oMath>
                <m:sSup>
                  <m:e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∼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ν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±</m:t>
                </m:r>
                <m:rad>
                  <m:radPr>
                    <m:ctrlP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</m:ctrlPr>
                    <m:degHide m:val="on"/>
                  </m:radPr>
                  <m:deg/>
                  <m:e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</m:rad>
              </m:oMath>
            </a14:m>
          </a:p>
        </p:txBody>
      </p:sp>
      <p:sp>
        <p:nvSpPr>
          <p:cNvPr id="320" name="Rectangle"/>
          <p:cNvSpPr/>
          <p:nvPr/>
        </p:nvSpPr>
        <p:spPr>
          <a:xfrm>
            <a:off x="7383669" y="408090"/>
            <a:ext cx="4597539" cy="6041820"/>
          </a:xfrm>
          <a:prstGeom prst="rect">
            <a:avLst/>
          </a:prstGeom>
          <a:solidFill>
            <a:schemeClr val="accent6">
              <a:satOff val="-3457"/>
              <a:lumOff val="26078"/>
            </a:schemeClr>
          </a:solidFill>
          <a:ln w="12700">
            <a:solidFill>
              <a:srgbClr val="A7A7A7"/>
            </a:solidFill>
            <a:miter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21" name="chi2_dist.png" descr="chi2_dist.png"/>
          <p:cNvPicPr>
            <a:picLocks noChangeAspect="1"/>
          </p:cNvPicPr>
          <p:nvPr/>
        </p:nvPicPr>
        <p:blipFill>
          <a:blip r:embed="rId2">
            <a:extLst/>
          </a:blip>
          <a:srcRect l="53" t="0" r="53" b="0"/>
          <a:stretch>
            <a:fillRect/>
          </a:stretch>
        </p:blipFill>
        <p:spPr>
          <a:xfrm>
            <a:off x="7550426" y="475456"/>
            <a:ext cx="4289399" cy="5906813"/>
          </a:xfrm>
          <a:prstGeom prst="rect">
            <a:avLst/>
          </a:prstGeom>
          <a:ln w="6350">
            <a:solidFill>
              <a:schemeClr val="accent1"/>
            </a:solidFill>
            <a:miter/>
          </a:ln>
        </p:spPr>
      </p:pic>
      <p:sp>
        <p:nvSpPr>
          <p:cNvPr id="322" name="Equation"/>
          <p:cNvSpPr txBox="1"/>
          <p:nvPr/>
        </p:nvSpPr>
        <p:spPr>
          <a:xfrm>
            <a:off x="4788145" y="6408911"/>
            <a:ext cx="892989" cy="2684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000" i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2000" i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m:t>ν</m:t>
                  </m:r>
                  <m:r>
                    <a:rPr xmlns:a="http://schemas.openxmlformats.org/drawingml/2006/main" sz="2000" i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m:t>∼</m:t>
                  </m:r>
                  <m:r>
                    <a:rPr xmlns:a="http://schemas.openxmlformats.org/drawingml/2006/main" sz="2000" i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sz="200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"/>
          <p:cNvSpPr/>
          <p:nvPr/>
        </p:nvSpPr>
        <p:spPr>
          <a:xfrm>
            <a:off x="854906" y="2373690"/>
            <a:ext cx="5687673" cy="2110620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6" name="Title 1"/>
          <p:cNvSpPr txBox="1"/>
          <p:nvPr/>
        </p:nvSpPr>
        <p:spPr>
          <a:xfrm>
            <a:off x="812800" y="238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Finding the Distribution</a:t>
            </a:r>
          </a:p>
        </p:txBody>
      </p:sp>
      <p:sp>
        <p:nvSpPr>
          <p:cNvPr id="327" name="Kolmogorov-Smirnov (KS) testing"/>
          <p:cNvSpPr txBox="1"/>
          <p:nvPr/>
        </p:nvSpPr>
        <p:spPr>
          <a:xfrm>
            <a:off x="822223" y="1227840"/>
            <a:ext cx="521480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2800" u="sng"/>
            </a:lvl1pPr>
          </a:lstStyle>
          <a:p>
            <a:pPr/>
            <a:r>
              <a:t>Kolmogorov-Smirnov (KS) testing</a:t>
            </a:r>
          </a:p>
        </p:txBody>
      </p:sp>
      <p:sp>
        <p:nvSpPr>
          <p:cNvPr id="328" name="The maximal distance between…"/>
          <p:cNvSpPr txBox="1"/>
          <p:nvPr/>
        </p:nvSpPr>
        <p:spPr>
          <a:xfrm>
            <a:off x="942377" y="2456315"/>
            <a:ext cx="5363965" cy="838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The maximal distance between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Cumulative Density Functions (CDF)</a:t>
            </a:r>
          </a:p>
        </p:txBody>
      </p:sp>
      <p:sp>
        <p:nvSpPr>
          <p:cNvPr id="329" name="Equation"/>
          <p:cNvSpPr txBox="1"/>
          <p:nvPr/>
        </p:nvSpPr>
        <p:spPr>
          <a:xfrm>
            <a:off x="1488917" y="3580757"/>
            <a:ext cx="4419652" cy="57827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m:rPr>
                          <m:nor/>
                        </m:rP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</m:e>
                    <m:lim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lim>
                  </m:limLow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b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sub>
                  </m:sSub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</m:oMath>
              </m:oMathPara>
            </a14:m>
            <a:endParaRPr sz="3100"/>
          </a:p>
        </p:txBody>
      </p:sp>
      <p:sp>
        <p:nvSpPr>
          <p:cNvPr id="330" name="Null hypothesis: the two distributions are the same"/>
          <p:cNvSpPr txBox="1"/>
          <p:nvPr/>
        </p:nvSpPr>
        <p:spPr>
          <a:xfrm>
            <a:off x="817990" y="1639916"/>
            <a:ext cx="9253803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Null hypothesis: the </a:t>
            </a:r>
            <a:r>
              <a:rPr b="1"/>
              <a:t>two distributions are the same</a:t>
            </a:r>
          </a:p>
        </p:txBody>
      </p:sp>
      <p:sp>
        <p:nvSpPr>
          <p:cNvPr id="331" name="Recall: a CDF is a rank-ordered PDF."/>
          <p:cNvSpPr txBox="1"/>
          <p:nvPr/>
        </p:nvSpPr>
        <p:spPr>
          <a:xfrm>
            <a:off x="859761" y="4625785"/>
            <a:ext cx="501273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i="1" sz="2000"/>
            </a:lvl1pPr>
          </a:lstStyle>
          <a:p>
            <a:pPr/>
            <a:r>
              <a:t>Recall: a CDF is a rank-ordered PDF. </a:t>
            </a:r>
          </a:p>
        </p:txBody>
      </p:sp>
      <p:sp>
        <p:nvSpPr>
          <p:cNvPr id="332" name="NB: See also Anderson-Darling test"/>
          <p:cNvSpPr txBox="1"/>
          <p:nvPr/>
        </p:nvSpPr>
        <p:spPr>
          <a:xfrm>
            <a:off x="911905" y="6112599"/>
            <a:ext cx="4131293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200">
                <a:solidFill>
                  <a:srgbClr val="C00000"/>
                </a:solidFill>
              </a:defRPr>
            </a:lvl1pPr>
          </a:lstStyle>
          <a:p>
            <a:pPr/>
            <a:r>
              <a:t>NB: See also Anderson-Darling test</a:t>
            </a:r>
          </a:p>
        </p:txBody>
      </p:sp>
      <p:sp>
        <p:nvSpPr>
          <p:cNvPr id="333" name="No assumptions about the underlying distribution"/>
          <p:cNvSpPr txBox="1"/>
          <p:nvPr/>
        </p:nvSpPr>
        <p:spPr>
          <a:xfrm>
            <a:off x="877257" y="5514923"/>
            <a:ext cx="5888766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/>
            </a:lvl1pPr>
          </a:lstStyle>
          <a:p>
            <a:pPr/>
            <a:r>
              <a:t>No assumptions about the underlying distribution</a:t>
            </a:r>
          </a:p>
        </p:txBody>
      </p:sp>
      <p:sp>
        <p:nvSpPr>
          <p:cNvPr id="334" name="Common in data-science"/>
          <p:cNvSpPr txBox="1"/>
          <p:nvPr/>
        </p:nvSpPr>
        <p:spPr>
          <a:xfrm>
            <a:off x="9251571" y="156299"/>
            <a:ext cx="2675395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Common in data-science</a:t>
            </a:r>
          </a:p>
        </p:txBody>
      </p:sp>
      <p:sp>
        <p:nvSpPr>
          <p:cNvPr id="335" name="Rectangle"/>
          <p:cNvSpPr/>
          <p:nvPr/>
        </p:nvSpPr>
        <p:spPr>
          <a:xfrm>
            <a:off x="6779102" y="2077789"/>
            <a:ext cx="5202106" cy="4321321"/>
          </a:xfrm>
          <a:prstGeom prst="rect">
            <a:avLst/>
          </a:prstGeom>
          <a:solidFill>
            <a:schemeClr val="accent6">
              <a:satOff val="-3457"/>
              <a:lumOff val="26078"/>
            </a:schemeClr>
          </a:solidFill>
          <a:ln w="12700">
            <a:solidFill>
              <a:srgbClr val="A7A7A7"/>
            </a:solidFill>
            <a:miter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36" name="ks_test.png" descr="ks_test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1514"/>
          <a:stretch>
            <a:fillRect/>
          </a:stretch>
        </p:blipFill>
        <p:spPr>
          <a:xfrm>
            <a:off x="6883833" y="2142700"/>
            <a:ext cx="5012694" cy="4191557"/>
          </a:xfrm>
          <a:prstGeom prst="rect">
            <a:avLst/>
          </a:prstGeom>
          <a:ln w="12700">
            <a:miter lim="400000"/>
          </a:ln>
        </p:spPr>
      </p:pic>
      <p:sp>
        <p:nvSpPr>
          <p:cNvPr id="337" name="Line"/>
          <p:cNvSpPr/>
          <p:nvPr/>
        </p:nvSpPr>
        <p:spPr>
          <a:xfrm flipV="1">
            <a:off x="10010913" y="3073788"/>
            <a:ext cx="1" cy="838583"/>
          </a:xfrm>
          <a:prstGeom prst="line">
            <a:avLst/>
          </a:prstGeom>
          <a:ln w="50800">
            <a:solidFill>
              <a:srgbClr val="000000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D"/>
          <p:cNvSpPr txBox="1"/>
          <p:nvPr/>
        </p:nvSpPr>
        <p:spPr>
          <a:xfrm>
            <a:off x="9529913" y="3304310"/>
            <a:ext cx="280267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2200"/>
            </a:lvl1pPr>
          </a:lstStyle>
          <a:p>
            <a:pPr/>
            <a:r>
              <a:t>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"/>
          <p:cNvSpPr/>
          <p:nvPr/>
        </p:nvSpPr>
        <p:spPr>
          <a:xfrm>
            <a:off x="3252163" y="3140063"/>
            <a:ext cx="5687674" cy="2110620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2" name="Title 1"/>
          <p:cNvSpPr txBox="1"/>
          <p:nvPr/>
        </p:nvSpPr>
        <p:spPr>
          <a:xfrm>
            <a:off x="812800" y="238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Testing for Correlations</a:t>
            </a:r>
          </a:p>
        </p:txBody>
      </p:sp>
      <p:sp>
        <p:nvSpPr>
          <p:cNvPr id="343" name="Spearman’s Rank (SR)"/>
          <p:cNvSpPr txBox="1"/>
          <p:nvPr/>
        </p:nvSpPr>
        <p:spPr>
          <a:xfrm>
            <a:off x="822223" y="1278640"/>
            <a:ext cx="521480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 sz="2800" u="sng"/>
            </a:lvl1pPr>
          </a:lstStyle>
          <a:p>
            <a:pPr/>
            <a:r>
              <a:t>Spearman’s Rank (SR)</a:t>
            </a:r>
          </a:p>
        </p:txBody>
      </p:sp>
      <p:sp>
        <p:nvSpPr>
          <p:cNvPr id="344" name="Compares the ordered rankings (R) of two datasets"/>
          <p:cNvSpPr txBox="1"/>
          <p:nvPr/>
        </p:nvSpPr>
        <p:spPr>
          <a:xfrm>
            <a:off x="870410" y="2620633"/>
            <a:ext cx="7009476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/>
            </a:lvl1pPr>
          </a:lstStyle>
          <a:p>
            <a:pPr/>
            <a:r>
              <a:t>Compares the ordered rankings (R) of two datasets</a:t>
            </a:r>
          </a:p>
        </p:txBody>
      </p:sp>
      <p:sp>
        <p:nvSpPr>
          <p:cNvPr id="345" name="Equation"/>
          <p:cNvSpPr txBox="1"/>
          <p:nvPr/>
        </p:nvSpPr>
        <p:spPr>
          <a:xfrm>
            <a:off x="3711210" y="3376867"/>
            <a:ext cx="4769580" cy="110853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sub>
                  </m:sSub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3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Sup>
                        <m:e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e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xmlns:a="http://schemas.openxmlformats.org/drawingml/2006/main" sz="3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3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</m:oMath>
              </m:oMathPara>
            </a14:m>
            <a:endParaRPr sz="3100"/>
          </a:p>
        </p:txBody>
      </p:sp>
      <p:sp>
        <p:nvSpPr>
          <p:cNvPr id="346" name="Testing whether two variables are related"/>
          <p:cNvSpPr txBox="1"/>
          <p:nvPr/>
        </p:nvSpPr>
        <p:spPr>
          <a:xfrm>
            <a:off x="817990" y="1703416"/>
            <a:ext cx="9253803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Testing whether </a:t>
            </a:r>
            <a:r>
              <a:rPr b="1"/>
              <a:t>two variables are related</a:t>
            </a:r>
          </a:p>
        </p:txBody>
      </p:sp>
      <p:sp>
        <p:nvSpPr>
          <p:cNvPr id="347" name="NB: A non-parametric version of the Pearson test"/>
          <p:cNvSpPr txBox="1"/>
          <p:nvPr/>
        </p:nvSpPr>
        <p:spPr>
          <a:xfrm>
            <a:off x="1013505" y="6138874"/>
            <a:ext cx="5249873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NB: A non-parametric version of the Pearson test</a:t>
            </a:r>
          </a:p>
        </p:txBody>
      </p:sp>
      <p:sp>
        <p:nvSpPr>
          <p:cNvPr id="348" name="Output will be a value between -1 and 1."/>
          <p:cNvSpPr txBox="1"/>
          <p:nvPr/>
        </p:nvSpPr>
        <p:spPr>
          <a:xfrm>
            <a:off x="3657930" y="4650543"/>
            <a:ext cx="4799940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/>
            </a:lvl1pPr>
          </a:lstStyle>
          <a:p>
            <a:pPr/>
            <a:r>
              <a:t>Output will be a value between -1 and 1. </a:t>
            </a:r>
          </a:p>
        </p:txBody>
      </p:sp>
      <p:sp>
        <p:nvSpPr>
          <p:cNvPr id="349" name="Null Hypothesis: the two variables are uncorrelated"/>
          <p:cNvSpPr txBox="1"/>
          <p:nvPr/>
        </p:nvSpPr>
        <p:spPr>
          <a:xfrm>
            <a:off x="1008598" y="5481924"/>
            <a:ext cx="7630255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b="1" sz="2800"/>
            </a:pPr>
            <a:r>
              <a:rPr b="0"/>
              <a:t>Null Hypothesis:</a:t>
            </a:r>
            <a:r>
              <a:t> the two variables are uncorrelated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lide Number Placeholder 3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52" name="Title 1"/>
          <p:cNvSpPr txBox="1"/>
          <p:nvPr>
            <p:ph type="title"/>
          </p:nvPr>
        </p:nvSpPr>
        <p:spPr>
          <a:xfrm>
            <a:off x="812800" y="238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i="1">
                <a:solidFill>
                  <a:srgbClr val="C00000"/>
                </a:solidFill>
              </a:defRPr>
            </a:lvl1pPr>
          </a:lstStyle>
          <a:p>
            <a:pPr/>
            <a:r>
              <a:t>Gaussian Distribution: probabilities</a:t>
            </a:r>
          </a:p>
        </p:txBody>
      </p:sp>
      <p:sp>
        <p:nvSpPr>
          <p:cNvPr id="353" name="Equation"/>
          <p:cNvSpPr txBox="1"/>
          <p:nvPr/>
        </p:nvSpPr>
        <p:spPr>
          <a:xfrm>
            <a:off x="1418775" y="2930687"/>
            <a:ext cx="4694108" cy="99662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sSub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&lt;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ad>
                        <m:ra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den>
                  </m:f>
                  <m:sSub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bSup>
                  <m:sSup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p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p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z</m:t>
                  </m:r>
                </m:oMath>
              </m:oMathPara>
            </a14:m>
            <a:endParaRPr sz="2800"/>
          </a:p>
        </p:txBody>
      </p:sp>
      <p:sp>
        <p:nvSpPr>
          <p:cNvPr id="354" name="Rectangle"/>
          <p:cNvSpPr/>
          <p:nvPr/>
        </p:nvSpPr>
        <p:spPr>
          <a:xfrm>
            <a:off x="1436549" y="4263274"/>
            <a:ext cx="4961197" cy="21106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5" name="1  : contains 68.3% of the probability"/>
          <p:cNvSpPr txBox="1"/>
          <p:nvPr/>
        </p:nvSpPr>
        <p:spPr>
          <a:xfrm>
            <a:off x="1644128" y="4409379"/>
            <a:ext cx="3970192" cy="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1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: </a:t>
            </a:r>
            <a:r>
              <a:t>contains </a:t>
            </a:r>
            <a:r>
              <a:rPr b="1"/>
              <a:t>68.3%</a:t>
            </a:r>
            <a:r>
              <a:t> of the probability</a:t>
            </a:r>
          </a:p>
        </p:txBody>
      </p:sp>
      <p:sp>
        <p:nvSpPr>
          <p:cNvPr id="356" name="2  : contains 95.5% of the probability"/>
          <p:cNvSpPr txBox="1"/>
          <p:nvPr/>
        </p:nvSpPr>
        <p:spPr>
          <a:xfrm>
            <a:off x="1644128" y="4874419"/>
            <a:ext cx="3970192" cy="400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2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: </a:t>
            </a:r>
            <a:r>
              <a:t>contains </a:t>
            </a:r>
            <a:r>
              <a:rPr b="1"/>
              <a:t>95.5%</a:t>
            </a:r>
            <a:r>
              <a:t> of the probability</a:t>
            </a:r>
          </a:p>
        </p:txBody>
      </p:sp>
      <p:sp>
        <p:nvSpPr>
          <p:cNvPr id="357" name="3  : contains 99.7% of the probability"/>
          <p:cNvSpPr txBox="1"/>
          <p:nvPr/>
        </p:nvSpPr>
        <p:spPr>
          <a:xfrm>
            <a:off x="1644128" y="5333558"/>
            <a:ext cx="3970192" cy="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3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: </a:t>
            </a:r>
            <a:r>
              <a:t>contains </a:t>
            </a:r>
            <a:r>
              <a:rPr b="1"/>
              <a:t>99.7% </a:t>
            </a:r>
            <a:r>
              <a:t>of the probability</a:t>
            </a:r>
          </a:p>
        </p:txBody>
      </p:sp>
      <p:sp>
        <p:nvSpPr>
          <p:cNvPr id="358" name="5  : contains 99.99994% of the probability"/>
          <p:cNvSpPr txBox="1"/>
          <p:nvPr/>
        </p:nvSpPr>
        <p:spPr>
          <a:xfrm>
            <a:off x="1644128" y="5798599"/>
            <a:ext cx="4507957" cy="40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t>5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rPr>
                <a:latin typeface="Times Roman"/>
                <a:ea typeface="Times Roman"/>
                <a:cs typeface="Times Roman"/>
                <a:sym typeface="Times Roman"/>
              </a:rPr>
              <a:t> : contains </a:t>
            </a:r>
            <a:r>
              <a:rPr b="1">
                <a:latin typeface="Times Roman"/>
                <a:ea typeface="Times Roman"/>
                <a:cs typeface="Times Roman"/>
                <a:sym typeface="Times Roman"/>
              </a:rPr>
              <a:t>99.99994%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 of the probability</a:t>
            </a:r>
          </a:p>
        </p:txBody>
      </p:sp>
      <p:sp>
        <p:nvSpPr>
          <p:cNvPr id="359" name="Equation"/>
          <p:cNvSpPr txBox="1"/>
          <p:nvPr/>
        </p:nvSpPr>
        <p:spPr>
          <a:xfrm>
            <a:off x="1963208" y="1747125"/>
            <a:ext cx="3605241" cy="64113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ad>
                        <m:radPr>
                          <m:ctrlP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rad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  <m:r>
                    <m:rPr>
                      <m:sty m:val="p"/>
                    </m:rP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μ</m:t>
                  </m:r>
                  <m:sSup>
                    <m:e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/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p>
                    <m:e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p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</m:oMath>
              </m:oMathPara>
            </a14:m>
            <a:endParaRPr sz="1900"/>
          </a:p>
        </p:txBody>
      </p:sp>
      <p:sp>
        <p:nvSpPr>
          <p:cNvPr id="360" name="Recall"/>
          <p:cNvSpPr txBox="1"/>
          <p:nvPr/>
        </p:nvSpPr>
        <p:spPr>
          <a:xfrm>
            <a:off x="908264" y="1712720"/>
            <a:ext cx="767853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/>
            </a:lvl1pPr>
          </a:lstStyle>
          <a:p>
            <a:pPr/>
            <a:r>
              <a:t>Recall</a:t>
            </a:r>
          </a:p>
        </p:txBody>
      </p:sp>
      <p:pic>
        <p:nvPicPr>
          <p:cNvPr id="361" name="prob_hist.png" descr="prob_hi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43776" y="1867830"/>
            <a:ext cx="4842668" cy="3379057"/>
          </a:xfrm>
          <a:prstGeom prst="rect">
            <a:avLst/>
          </a:prstGeom>
          <a:ln w="12700">
            <a:miter lim="400000"/>
          </a:ln>
        </p:spPr>
      </p:pic>
      <p:sp>
        <p:nvSpPr>
          <p:cNvPr id="362" name="Line"/>
          <p:cNvSpPr/>
          <p:nvPr/>
        </p:nvSpPr>
        <p:spPr>
          <a:xfrm>
            <a:off x="8700366" y="2061569"/>
            <a:ext cx="1708939" cy="1"/>
          </a:xfrm>
          <a:prstGeom prst="line">
            <a:avLst/>
          </a:prstGeom>
          <a:ln w="63500">
            <a:solidFill>
              <a:schemeClr val="accent6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area containing 68% of the probability"/>
          <p:cNvSpPr txBox="1"/>
          <p:nvPr/>
        </p:nvSpPr>
        <p:spPr>
          <a:xfrm>
            <a:off x="7537861" y="1526967"/>
            <a:ext cx="403394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6"/>
                </a:solidFill>
              </a:defRPr>
            </a:lvl1pPr>
          </a:lstStyle>
          <a:p>
            <a:pPr/>
            <a:r>
              <a:t>area containing 68% of the probability</a:t>
            </a:r>
          </a:p>
        </p:txBody>
      </p:sp>
      <p:sp>
        <p:nvSpPr>
          <p:cNvPr id="364" name="WARNING: This process knows nothing about physics: beware of unphysical regions"/>
          <p:cNvSpPr txBox="1"/>
          <p:nvPr/>
        </p:nvSpPr>
        <p:spPr>
          <a:xfrm>
            <a:off x="7120801" y="5688565"/>
            <a:ext cx="4842668" cy="62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rPr b="1"/>
              <a:t>WARNING</a:t>
            </a:r>
            <a:r>
              <a:t>: This process knows nothing about physics: beware of unphysical regions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angle"/>
          <p:cNvSpPr/>
          <p:nvPr/>
        </p:nvSpPr>
        <p:spPr>
          <a:xfrm>
            <a:off x="401712" y="3717183"/>
            <a:ext cx="6307517" cy="1673981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8" name="Multiple parameters: Marginalisation"/>
          <p:cNvSpPr txBox="1"/>
          <p:nvPr>
            <p:ph type="title"/>
          </p:nvPr>
        </p:nvSpPr>
        <p:spPr>
          <a:xfrm>
            <a:off x="812800" y="238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t>Multiple parameters: </a:t>
            </a:r>
            <a:r>
              <a:rPr i="1">
                <a:latin typeface="Carlito"/>
                <a:ea typeface="Carlito"/>
                <a:cs typeface="Carlito"/>
                <a:sym typeface="Carlito"/>
              </a:rPr>
              <a:t>Marginalisation</a:t>
            </a:r>
          </a:p>
        </p:txBody>
      </p:sp>
      <p:sp>
        <p:nvSpPr>
          <p:cNvPr id="369" name="NB: Coursework 1: is ‘happiness’ a function solely of GDP?"/>
          <p:cNvSpPr txBox="1"/>
          <p:nvPr/>
        </p:nvSpPr>
        <p:spPr>
          <a:xfrm>
            <a:off x="518875" y="2850554"/>
            <a:ext cx="625099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NB: Coursework 1: is ‘happiness’ a function solely of GDP? </a:t>
            </a:r>
          </a:p>
        </p:txBody>
      </p:sp>
      <p:sp>
        <p:nvSpPr>
          <p:cNvPr id="370" name="Distributions are often NOT the function of 1 parameter"/>
          <p:cNvSpPr txBox="1"/>
          <p:nvPr/>
        </p:nvSpPr>
        <p:spPr>
          <a:xfrm>
            <a:off x="362637" y="1871359"/>
            <a:ext cx="6461867" cy="882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Distributions are often NOT the function of 1 parameter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defRPr sz="2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  <p:pic>
        <p:nvPicPr>
          <p:cNvPr id="371" name="bjYYI.png" descr="bjYYI.png"/>
          <p:cNvPicPr>
            <a:picLocks noChangeAspect="1"/>
          </p:cNvPicPr>
          <p:nvPr/>
        </p:nvPicPr>
        <p:blipFill>
          <a:blip r:embed="rId2">
            <a:extLst/>
          </a:blip>
          <a:srcRect l="9704" t="0" r="3942" b="8783"/>
          <a:stretch>
            <a:fillRect/>
          </a:stretch>
        </p:blipFill>
        <p:spPr>
          <a:xfrm>
            <a:off x="7235825" y="1705570"/>
            <a:ext cx="4430748" cy="3526738"/>
          </a:xfrm>
          <a:prstGeom prst="rect">
            <a:avLst/>
          </a:prstGeom>
          <a:ln w="12700">
            <a:solidFill>
              <a:srgbClr val="A7A7A7"/>
            </a:solidFill>
            <a:miter lim="400000"/>
          </a:ln>
        </p:spPr>
      </p:pic>
      <p:sp>
        <p:nvSpPr>
          <p:cNvPr id="372" name="Rectangle"/>
          <p:cNvSpPr/>
          <p:nvPr/>
        </p:nvSpPr>
        <p:spPr>
          <a:xfrm>
            <a:off x="7628466" y="4613123"/>
            <a:ext cx="709085" cy="5622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3" name="Rectangle"/>
          <p:cNvSpPr/>
          <p:nvPr/>
        </p:nvSpPr>
        <p:spPr>
          <a:xfrm>
            <a:off x="10542210" y="4613123"/>
            <a:ext cx="605216" cy="56227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4" name="The probability of   is calculated by integrating over"/>
          <p:cNvSpPr txBox="1"/>
          <p:nvPr/>
        </p:nvSpPr>
        <p:spPr>
          <a:xfrm>
            <a:off x="413437" y="3882728"/>
            <a:ext cx="6461867" cy="1335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The probability of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 is calculated by integrating over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</m:oMath>
            </a14:m>
          </a:p>
          <a:p>
            <a:pPr algn="ctr">
              <a:lnSpc>
                <a:spcPct val="90000"/>
              </a:lnSpc>
              <a:spcBef>
                <a:spcPts val="1000"/>
              </a:spcBef>
              <a:defRPr sz="2200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</m:oMath>
              </m:oMathPara>
            </a14:m>
          </a:p>
        </p:txBody>
      </p:sp>
      <p:sp>
        <p:nvSpPr>
          <p:cNvPr id="375" name="NB: We wanted to measure  , but we measured"/>
          <p:cNvSpPr txBox="1"/>
          <p:nvPr/>
        </p:nvSpPr>
        <p:spPr>
          <a:xfrm>
            <a:off x="371313" y="5658773"/>
            <a:ext cx="10015221" cy="402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:r>
              <a:t>NB: We wanted to measure </a:t>
            </a:r>
            <a14:m>
              <m:oMath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happiness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GDP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, but we measured </a:t>
            </a:r>
            <a14:m>
              <m:oMath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happiness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country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GDP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</a:t>
            </a:r>
          </a:p>
        </p:txBody>
      </p:sp>
      <p:sp>
        <p:nvSpPr>
          <p:cNvPr id="376" name="Text"/>
          <p:cNvSpPr txBox="1"/>
          <p:nvPr/>
        </p:nvSpPr>
        <p:spPr>
          <a:xfrm>
            <a:off x="390666" y="6095411"/>
            <a:ext cx="11701669" cy="402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pPr>
            <a14:m>
              <m:oMath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happiness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GDP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happiness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UK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GDP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happiness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France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GDP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happiness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Spain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m:rPr>
                    <m:nor/>
                  </m:rP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GDP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.</m:t>
                </m:r>
              </m:oMath>
            </a14:m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"/>
          <p:cNvSpPr/>
          <p:nvPr/>
        </p:nvSpPr>
        <p:spPr>
          <a:xfrm>
            <a:off x="2163006" y="3226477"/>
            <a:ext cx="7815188" cy="2110620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80" name="An aside: Covariance"/>
          <p:cNvSpPr txBox="1"/>
          <p:nvPr>
            <p:ph type="title"/>
          </p:nvPr>
        </p:nvSpPr>
        <p:spPr>
          <a:xfrm>
            <a:off x="812800" y="238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t>An aside: </a:t>
            </a:r>
            <a:r>
              <a:rPr i="1">
                <a:latin typeface="Carlito"/>
                <a:ea typeface="Carlito"/>
                <a:cs typeface="Carlito"/>
                <a:sym typeface="Carlito"/>
              </a:rPr>
              <a:t>Covariance</a:t>
            </a:r>
          </a:p>
        </p:txBody>
      </p:sp>
      <p:sp>
        <p:nvSpPr>
          <p:cNvPr id="381" name="When two measurements are not independent, we call them covariant"/>
          <p:cNvSpPr txBox="1"/>
          <p:nvPr/>
        </p:nvSpPr>
        <p:spPr>
          <a:xfrm>
            <a:off x="703723" y="1623524"/>
            <a:ext cx="8243269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/>
            </a:lvl1pPr>
          </a:lstStyle>
          <a:p>
            <a:pPr/>
            <a:r>
              <a:t>When two measurements are not independent, we call them covariant</a:t>
            </a:r>
          </a:p>
        </p:txBody>
      </p:sp>
      <p:sp>
        <p:nvSpPr>
          <p:cNvPr id="382" name="Equation"/>
          <p:cNvSpPr txBox="1"/>
          <p:nvPr/>
        </p:nvSpPr>
        <p:spPr>
          <a:xfrm>
            <a:off x="3279797" y="4048546"/>
            <a:ext cx="6159350" cy="97631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sub>
                  </m:sSub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ctrlP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sSup>
                        <m:e>
                          <m:d>
                            <m:dPr>
                              <m:ctrlPr>
                                <a:rPr xmlns:a="http://schemas.openxmlformats.org/drawingml/2006/mai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den>
                              </m:f>
                              <m:sSub>
                                <m:e>
                                  <m: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e>
                          <m:d>
                            <m:dPr>
                              <m:ctrlPr>
                                <a:rPr xmlns:a="http://schemas.openxmlformats.org/drawingml/2006/mai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∂</m:t>
                                  </m:r>
                                  <m: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den>
                              </m:f>
                              <m:sSub>
                                <m:e>
                                  <m: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xmlns:a="http://schemas.openxmlformats.org/drawingml/2006/main" sz="2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  <m:f>
                        <m:fPr>
                          <m:ctrlP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xmlns:a="http://schemas.openxmlformats.org/drawingml/2006/mai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den>
                      </m:f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rad>
                </m:oMath>
              </m:oMathPara>
            </a14:m>
            <a:endParaRPr sz="2500"/>
          </a:p>
        </p:txBody>
      </p:sp>
      <p:sp>
        <p:nvSpPr>
          <p:cNvPr id="383" name="Equation"/>
          <p:cNvSpPr txBox="1"/>
          <p:nvPr/>
        </p:nvSpPr>
        <p:spPr>
          <a:xfrm>
            <a:off x="7933020" y="2356487"/>
            <a:ext cx="1654621" cy="51605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sub>
                  </m:sSub>
                  <m:r>
                    <a:rPr xmlns:a="http://schemas.openxmlformats.org/drawingml/2006/main" sz="2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ctrlP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sSubSup>
                        <m:e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  <m:sup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xmlns:a="http://schemas.openxmlformats.org/drawingml/2006/mai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e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  <m:sup>
                          <m:r>
                            <a:rPr xmlns:a="http://schemas.openxmlformats.org/drawingml/2006/mai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e>
                  </m:rad>
                </m:oMath>
              </m:oMathPara>
            </a14:m>
            <a:endParaRPr sz="2200"/>
          </a:p>
        </p:txBody>
      </p:sp>
      <p:sp>
        <p:nvSpPr>
          <p:cNvPr id="384" name="For two connected variables ( ):"/>
          <p:cNvSpPr txBox="1"/>
          <p:nvPr/>
        </p:nvSpPr>
        <p:spPr>
          <a:xfrm>
            <a:off x="2161857" y="2405641"/>
            <a:ext cx="4732325" cy="417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For two connected variables (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z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</m:oMath>
            </a14:m>
            <a:r>
              <a:t>):</a:t>
            </a:r>
          </a:p>
        </p:txBody>
      </p:sp>
      <p:sp>
        <p:nvSpPr>
          <p:cNvPr id="385" name="if   is related to"/>
          <p:cNvSpPr txBox="1"/>
          <p:nvPr/>
        </p:nvSpPr>
        <p:spPr>
          <a:xfrm>
            <a:off x="2302430" y="3481456"/>
            <a:ext cx="2057182" cy="417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t>if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 is related to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y</m:t>
                </m:r>
              </m:oMath>
            </a14:m>
          </a:p>
        </p:txBody>
      </p:sp>
      <p:sp>
        <p:nvSpPr>
          <p:cNvPr id="386" name="Common across physics"/>
          <p:cNvSpPr txBox="1"/>
          <p:nvPr/>
        </p:nvSpPr>
        <p:spPr>
          <a:xfrm>
            <a:off x="9439454" y="181880"/>
            <a:ext cx="257357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000">
                <a:solidFill>
                  <a:srgbClr val="C00000"/>
                </a:solidFill>
              </a:defRPr>
            </a:lvl1pPr>
          </a:lstStyle>
          <a:p>
            <a:pPr/>
            <a:r>
              <a:t>Common across physics</a:t>
            </a:r>
          </a:p>
        </p:txBody>
      </p:sp>
      <p:sp>
        <p:nvSpPr>
          <p:cNvPr id="387" name="Equation"/>
          <p:cNvSpPr txBox="1"/>
          <p:nvPr/>
        </p:nvSpPr>
        <p:spPr>
          <a:xfrm>
            <a:off x="3603344" y="5540110"/>
            <a:ext cx="4462459" cy="68135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v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den>
                  </m:f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∑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limUpp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lim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̂</m:t>
                      </m:r>
                    </m:lim>
                  </m:limUpp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limUpp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e>
                    <m:lim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̂</m:t>
                      </m:r>
                    </m:lim>
                  </m:limUpp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2500"/>
          </a:p>
        </p:txBody>
      </p:sp>
      <p:sp>
        <p:nvSpPr>
          <p:cNvPr id="388" name="NB: Parameter transformations (e.g.  ) change the functional form of the distribution"/>
          <p:cNvSpPr txBox="1"/>
          <p:nvPr/>
        </p:nvSpPr>
        <p:spPr>
          <a:xfrm>
            <a:off x="342235" y="6359672"/>
            <a:ext cx="11091307" cy="434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b="1" i="1" sz="2200">
                <a:solidFill>
                  <a:srgbClr val="C00000"/>
                </a:solidFill>
              </a:defRPr>
            </a:pPr>
            <a:r>
              <a:t>NB: Parameter transformations (e.g. </a:t>
            </a:r>
            <a14:m>
              <m:oMath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p"/>
                  </m:rP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log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) change the functional form of the distribution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1" name="An aside: Covariance"/>
          <p:cNvSpPr txBox="1"/>
          <p:nvPr>
            <p:ph type="title"/>
          </p:nvPr>
        </p:nvSpPr>
        <p:spPr>
          <a:xfrm>
            <a:off x="812800" y="238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C00000"/>
                </a:solidFill>
              </a:defRPr>
            </a:pPr>
            <a:r>
              <a:t>An aside: </a:t>
            </a:r>
            <a:r>
              <a:rPr i="1">
                <a:latin typeface="Carlito"/>
                <a:ea typeface="Carlito"/>
                <a:cs typeface="Carlito"/>
                <a:sym typeface="Carlito"/>
              </a:rPr>
              <a:t>Covariance</a:t>
            </a:r>
          </a:p>
        </p:txBody>
      </p:sp>
      <p:sp>
        <p:nvSpPr>
          <p:cNvPr id="392" name="Often expressed in matrix form:"/>
          <p:cNvSpPr txBox="1"/>
          <p:nvPr/>
        </p:nvSpPr>
        <p:spPr>
          <a:xfrm>
            <a:off x="703723" y="1623524"/>
            <a:ext cx="8243269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/>
            </a:lvl1pPr>
          </a:lstStyle>
          <a:p>
            <a:pPr/>
            <a:r>
              <a:t>Often expressed in matrix form:</a:t>
            </a:r>
          </a:p>
        </p:txBody>
      </p:sp>
      <p:sp>
        <p:nvSpPr>
          <p:cNvPr id="393" name="Equation"/>
          <p:cNvSpPr txBox="1"/>
          <p:nvPr/>
        </p:nvSpPr>
        <p:spPr>
          <a:xfrm>
            <a:off x="4926448" y="2467771"/>
            <a:ext cx="2339104" cy="16402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4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4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sSubSup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b>
                              <m:sup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</m:sSub>
                          </m:e>
                          <m:e>
                            <m:sSubSup>
                              <m:e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  <m:sup>
                                <m:argPr>
                                  <m:scrLvl m:val="0"/>
                                </m:argPr>
                                <m:r>
                                  <a:rPr xmlns:a="http://schemas.openxmlformats.org/drawingml/2006/main" sz="4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mr>
                      </m:m>
                    </m:e>
                  </m:d>
                </m:oMath>
              </m:oMathPara>
            </a14:m>
            <a:endParaRPr sz="4200"/>
          </a:p>
        </p:txBody>
      </p:sp>
      <p:sp>
        <p:nvSpPr>
          <p:cNvPr id="394" name="Variance in the diagonal terms; covariance in the off-diagonals"/>
          <p:cNvSpPr txBox="1"/>
          <p:nvPr/>
        </p:nvSpPr>
        <p:spPr>
          <a:xfrm>
            <a:off x="2161462" y="4713885"/>
            <a:ext cx="8243269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200"/>
            </a:lvl1pPr>
          </a:lstStyle>
          <a:p>
            <a:pPr/>
            <a:r>
              <a:t>Variance in the diagonal terms; covariance in the off-diagonals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"/>
          <p:cNvSpPr/>
          <p:nvPr/>
        </p:nvSpPr>
        <p:spPr>
          <a:xfrm>
            <a:off x="1355875" y="3648571"/>
            <a:ext cx="8894559" cy="2066135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8" name="Title 1"/>
          <p:cNvSpPr txBox="1"/>
          <p:nvPr/>
        </p:nvSpPr>
        <p:spPr>
          <a:xfrm>
            <a:off x="812800" y="238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Likelihoods</a:t>
            </a:r>
          </a:p>
        </p:txBody>
      </p:sp>
      <p:sp>
        <p:nvSpPr>
          <p:cNvPr id="399" name="Given a set of measurements"/>
          <p:cNvSpPr txBox="1"/>
          <p:nvPr/>
        </p:nvSpPr>
        <p:spPr>
          <a:xfrm>
            <a:off x="836275" y="1361297"/>
            <a:ext cx="5301216" cy="439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Given a set of measurements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400" name="Equation"/>
          <p:cNvSpPr txBox="1"/>
          <p:nvPr/>
        </p:nvSpPr>
        <p:spPr>
          <a:xfrm>
            <a:off x="4504480" y="2205368"/>
            <a:ext cx="3183040" cy="104452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scr m:val="script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2900"/>
          </a:p>
        </p:txBody>
      </p:sp>
      <p:sp>
        <p:nvSpPr>
          <p:cNvPr id="401" name="the likelihood:"/>
          <p:cNvSpPr txBox="1"/>
          <p:nvPr/>
        </p:nvSpPr>
        <p:spPr>
          <a:xfrm>
            <a:off x="1612263" y="2534943"/>
            <a:ext cx="175121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the </a:t>
            </a:r>
            <a:r>
              <a:rPr b="1" i="1"/>
              <a:t>likelihood:</a:t>
            </a:r>
          </a:p>
        </p:txBody>
      </p:sp>
      <p:sp>
        <p:nvSpPr>
          <p:cNvPr id="402" name="Best-fit value:"/>
          <p:cNvSpPr txBox="1"/>
          <p:nvPr/>
        </p:nvSpPr>
        <p:spPr>
          <a:xfrm>
            <a:off x="1628225" y="3881559"/>
            <a:ext cx="1719286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Best-fit value: </a:t>
            </a:r>
          </a:p>
        </p:txBody>
      </p:sp>
      <p:sp>
        <p:nvSpPr>
          <p:cNvPr id="403" name="Plausible values:"/>
          <p:cNvSpPr txBox="1"/>
          <p:nvPr/>
        </p:nvSpPr>
        <p:spPr>
          <a:xfrm>
            <a:off x="1628225" y="4514350"/>
            <a:ext cx="2032792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Plausible values: </a:t>
            </a:r>
          </a:p>
        </p:txBody>
      </p:sp>
      <p:sp>
        <p:nvSpPr>
          <p:cNvPr id="404" name="Uncertainty:"/>
          <p:cNvSpPr txBox="1"/>
          <p:nvPr/>
        </p:nvSpPr>
        <p:spPr>
          <a:xfrm>
            <a:off x="1628225" y="5164676"/>
            <a:ext cx="1511919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Uncertainty:</a:t>
            </a:r>
          </a:p>
        </p:txBody>
      </p:sp>
      <p:sp>
        <p:nvSpPr>
          <p:cNvPr id="405" name="The value that maximises"/>
          <p:cNvSpPr txBox="1"/>
          <p:nvPr/>
        </p:nvSpPr>
        <p:spPr>
          <a:xfrm>
            <a:off x="6145007" y="3881559"/>
            <a:ext cx="3384223" cy="408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The value that maximises </a:t>
            </a:r>
            <a14:m>
              <m:oMath>
                <m:r>
                  <m:rPr>
                    <m:scr m:val="script"/>
                  </m:rP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</m:oMath>
            </a14:m>
            <a:r>
              <a:t> </a:t>
            </a:r>
          </a:p>
        </p:txBody>
      </p:sp>
      <p:sp>
        <p:nvSpPr>
          <p:cNvPr id="406" name="Determined by the width of"/>
          <p:cNvSpPr txBox="1"/>
          <p:nvPr/>
        </p:nvSpPr>
        <p:spPr>
          <a:xfrm>
            <a:off x="6145007" y="4502575"/>
            <a:ext cx="3661168" cy="408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Determined by the width of </a:t>
            </a:r>
            <a14:m>
              <m:oMath>
                <m:r>
                  <m:rPr>
                    <m:scr m:val="script"/>
                  </m:rP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</m:oMath>
            </a14:m>
            <a:r>
              <a:t> </a:t>
            </a:r>
          </a:p>
        </p:txBody>
      </p:sp>
      <p:sp>
        <p:nvSpPr>
          <p:cNvPr id="407" name="For a Gaussian distribution"/>
          <p:cNvSpPr txBox="1"/>
          <p:nvPr/>
        </p:nvSpPr>
        <p:spPr>
          <a:xfrm>
            <a:off x="6145007" y="5114800"/>
            <a:ext cx="3563424" cy="405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For a Gaussian distribution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σ</m:t>
                </m:r>
              </m:oMath>
            </a14:m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"/>
          <p:cNvSpPr/>
          <p:nvPr/>
        </p:nvSpPr>
        <p:spPr>
          <a:xfrm>
            <a:off x="3425492" y="1992049"/>
            <a:ext cx="5016357" cy="1585956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11" name="Title 1"/>
          <p:cNvSpPr txBox="1"/>
          <p:nvPr/>
        </p:nvSpPr>
        <p:spPr>
          <a:xfrm>
            <a:off x="812800" y="238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Log Likelihoods</a:t>
            </a:r>
          </a:p>
        </p:txBody>
      </p:sp>
      <p:sp>
        <p:nvSpPr>
          <p:cNvPr id="412" name="Given a set of measurements"/>
          <p:cNvSpPr txBox="1"/>
          <p:nvPr/>
        </p:nvSpPr>
        <p:spPr>
          <a:xfrm>
            <a:off x="836275" y="1361297"/>
            <a:ext cx="5301216" cy="439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Given a set of measurements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413" name="Much easier to maximise"/>
          <p:cNvSpPr txBox="1"/>
          <p:nvPr/>
        </p:nvSpPr>
        <p:spPr>
          <a:xfrm>
            <a:off x="8861788" y="2564443"/>
            <a:ext cx="2997323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200">
                <a:solidFill>
                  <a:srgbClr val="C00000"/>
                </a:solidFill>
              </a:defRPr>
            </a:lvl1pPr>
          </a:lstStyle>
          <a:p>
            <a:pPr/>
            <a:r>
              <a:t>Much easier to maximise</a:t>
            </a:r>
          </a:p>
        </p:txBody>
      </p:sp>
      <p:sp>
        <p:nvSpPr>
          <p:cNvPr id="414" name="Equation"/>
          <p:cNvSpPr txBox="1"/>
          <p:nvPr/>
        </p:nvSpPr>
        <p:spPr>
          <a:xfrm>
            <a:off x="3782853" y="2235052"/>
            <a:ext cx="4276235" cy="104415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ℓ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ln</m:t>
                  </m:r>
                  <m:r>
                    <m:rPr>
                      <m:scr m:val="script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2900"/>
          </a:p>
        </p:txBody>
      </p:sp>
      <p:sp>
        <p:nvSpPr>
          <p:cNvPr id="415" name="the log-likelihood:"/>
          <p:cNvSpPr txBox="1"/>
          <p:nvPr/>
        </p:nvSpPr>
        <p:spPr>
          <a:xfrm>
            <a:off x="1026959" y="2592339"/>
            <a:ext cx="2200187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the</a:t>
            </a:r>
            <a:r>
              <a:rPr b="1" i="1"/>
              <a:t> log-likelihood:</a:t>
            </a:r>
          </a:p>
        </p:txBody>
      </p:sp>
      <p:sp>
        <p:nvSpPr>
          <p:cNvPr id="416" name="Rectangle"/>
          <p:cNvSpPr/>
          <p:nvPr/>
        </p:nvSpPr>
        <p:spPr>
          <a:xfrm>
            <a:off x="1648721" y="4162092"/>
            <a:ext cx="8894558" cy="2066136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7" name="Best-fit value:"/>
          <p:cNvSpPr txBox="1"/>
          <p:nvPr/>
        </p:nvSpPr>
        <p:spPr>
          <a:xfrm>
            <a:off x="1921070" y="4395081"/>
            <a:ext cx="1719286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Best-fit value: </a:t>
            </a:r>
          </a:p>
        </p:txBody>
      </p:sp>
      <p:sp>
        <p:nvSpPr>
          <p:cNvPr id="418" name="Plausible values:"/>
          <p:cNvSpPr txBox="1"/>
          <p:nvPr/>
        </p:nvSpPr>
        <p:spPr>
          <a:xfrm>
            <a:off x="1921070" y="5027872"/>
            <a:ext cx="2032792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Plausible values: </a:t>
            </a:r>
          </a:p>
        </p:txBody>
      </p:sp>
      <p:sp>
        <p:nvSpPr>
          <p:cNvPr id="419" name="Uncertainty:"/>
          <p:cNvSpPr txBox="1"/>
          <p:nvPr/>
        </p:nvSpPr>
        <p:spPr>
          <a:xfrm>
            <a:off x="1921070" y="5678197"/>
            <a:ext cx="1511919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200"/>
            </a:lvl1pPr>
          </a:lstStyle>
          <a:p>
            <a:pPr/>
            <a:r>
              <a:t>Uncertainty:</a:t>
            </a:r>
          </a:p>
        </p:txBody>
      </p:sp>
      <p:sp>
        <p:nvSpPr>
          <p:cNvPr id="420" name="The value that maximises"/>
          <p:cNvSpPr txBox="1"/>
          <p:nvPr/>
        </p:nvSpPr>
        <p:spPr>
          <a:xfrm>
            <a:off x="6437853" y="4395081"/>
            <a:ext cx="3272973" cy="408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The value that maximises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ℓ</m:t>
                </m:r>
              </m:oMath>
            </a14:m>
            <a:r>
              <a:t> </a:t>
            </a:r>
          </a:p>
        </p:txBody>
      </p:sp>
      <p:sp>
        <p:nvSpPr>
          <p:cNvPr id="421" name="Determined by the width of"/>
          <p:cNvSpPr txBox="1"/>
          <p:nvPr/>
        </p:nvSpPr>
        <p:spPr>
          <a:xfrm>
            <a:off x="6437853" y="5016096"/>
            <a:ext cx="3549917" cy="408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Determined by the width of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ℓ</m:t>
                </m:r>
              </m:oMath>
            </a14:m>
            <a:r>
              <a:t> </a:t>
            </a:r>
          </a:p>
        </p:txBody>
      </p:sp>
      <p:sp>
        <p:nvSpPr>
          <p:cNvPr id="422" name="Text"/>
          <p:cNvSpPr txBox="1"/>
          <p:nvPr/>
        </p:nvSpPr>
        <p:spPr>
          <a:xfrm>
            <a:off x="6437853" y="5628322"/>
            <a:ext cx="2091119" cy="445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ℓ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ℓ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max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0.5</m:t>
                </m:r>
              </m:oMath>
            </a14:m>
            <a:r>
              <a:t> </a:t>
            </a:r>
          </a:p>
        </p:txBody>
      </p:sp>
      <p:sp>
        <p:nvSpPr>
          <p:cNvPr id="423" name="NB: Assumes Gaussianity"/>
          <p:cNvSpPr txBox="1"/>
          <p:nvPr/>
        </p:nvSpPr>
        <p:spPr>
          <a:xfrm>
            <a:off x="8574658" y="6350457"/>
            <a:ext cx="3009600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200">
                <a:solidFill>
                  <a:srgbClr val="C00000"/>
                </a:solidFill>
              </a:defRPr>
            </a:lvl1pPr>
          </a:lstStyle>
          <a:p>
            <a:pPr/>
            <a:r>
              <a:t>NB: Assumes Gaussianity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ctangle"/>
          <p:cNvSpPr/>
          <p:nvPr/>
        </p:nvSpPr>
        <p:spPr>
          <a:xfrm>
            <a:off x="1695033" y="4630933"/>
            <a:ext cx="8568274" cy="2018023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27" name="Title 1"/>
          <p:cNvSpPr txBox="1"/>
          <p:nvPr/>
        </p:nvSpPr>
        <p:spPr>
          <a:xfrm>
            <a:off x="812800" y="238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Log Likelihoods: the Gaussian case</a:t>
            </a:r>
          </a:p>
        </p:txBody>
      </p:sp>
      <p:sp>
        <p:nvSpPr>
          <p:cNvPr id="428" name="Given a set of measurements"/>
          <p:cNvSpPr txBox="1"/>
          <p:nvPr/>
        </p:nvSpPr>
        <p:spPr>
          <a:xfrm>
            <a:off x="836275" y="1361297"/>
            <a:ext cx="5301216" cy="439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Given a set of measurements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.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429" name="Equation"/>
          <p:cNvSpPr txBox="1"/>
          <p:nvPr/>
        </p:nvSpPr>
        <p:spPr>
          <a:xfrm>
            <a:off x="3457369" y="2616981"/>
            <a:ext cx="4862027" cy="3471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scr m:val="script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*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*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.</m:t>
                  </m:r>
                </m:oMath>
              </m:oMathPara>
            </a14:m>
            <a:endParaRPr sz="2900"/>
          </a:p>
        </p:txBody>
      </p:sp>
      <p:sp>
        <p:nvSpPr>
          <p:cNvPr id="430" name="Equation"/>
          <p:cNvSpPr txBox="1"/>
          <p:nvPr/>
        </p:nvSpPr>
        <p:spPr>
          <a:xfrm>
            <a:off x="8226624" y="1209820"/>
            <a:ext cx="3593050" cy="74199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ad>
                        <m:radPr>
                          <m:ctrlP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</m:rad>
                      <m:sSub>
                        <m:e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den>
                  </m:f>
                  <m:r>
                    <m:rPr>
                      <m:sty m:val="p"/>
                    </m:rPr>
                    <a:rPr xmlns:a="http://schemas.openxmlformats.org/drawingml/2006/main" sz="1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d>
                    <m:dPr>
                      <m:ctrlP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f>
                        <m:fPr>
                          <m:ctrlP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e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sSub>
                            <m:e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e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xmlns:a="http://schemas.openxmlformats.org/drawingml/2006/main"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Sup>
                            <m:e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xmlns:a="http://schemas.openxmlformats.org/drawingml/2006/main" sz="1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e>
                  </m:d>
                </m:oMath>
              </m:oMathPara>
            </a14:m>
            <a:endParaRPr sz="1900"/>
          </a:p>
        </p:txBody>
      </p:sp>
      <p:sp>
        <p:nvSpPr>
          <p:cNvPr id="431" name="Equation"/>
          <p:cNvSpPr txBox="1"/>
          <p:nvPr/>
        </p:nvSpPr>
        <p:spPr>
          <a:xfrm>
            <a:off x="3446670" y="3455205"/>
            <a:ext cx="5298660" cy="104374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scr m:val="script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p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p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*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den>
                  </m:f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×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π</m:t>
                  </m:r>
                  <m:sSup>
                    <m:e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p>
                  </m:sSup>
                </m:oMath>
              </m:oMathPara>
            </a14:m>
            <a:endParaRPr sz="2900"/>
          </a:p>
        </p:txBody>
      </p:sp>
      <p:sp>
        <p:nvSpPr>
          <p:cNvPr id="432" name="Equation"/>
          <p:cNvSpPr txBox="1"/>
          <p:nvPr/>
        </p:nvSpPr>
        <p:spPr>
          <a:xfrm>
            <a:off x="2631318" y="4840959"/>
            <a:ext cx="6168735" cy="104337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m:rPr>
                      <m:sty m:val="p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ln</m:t>
                  </m:r>
                  <m:r>
                    <m:rPr>
                      <m:scr m:val="script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r>
                    <m:rPr>
                      <m:sty m:val="p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ln</m:t>
                  </m:r>
                  <m:sSub>
                    <m:e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m:rPr>
                      <m:sty m:val="p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ln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π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2900"/>
          </a:p>
        </p:txBody>
      </p:sp>
      <p:sp>
        <p:nvSpPr>
          <p:cNvPr id="433" name="Maximising   is equivalent to minimising"/>
          <p:cNvSpPr txBox="1"/>
          <p:nvPr/>
        </p:nvSpPr>
        <p:spPr>
          <a:xfrm>
            <a:off x="2932273" y="6128410"/>
            <a:ext cx="6093793" cy="482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200">
                <a:solidFill>
                  <a:srgbClr val="C00000"/>
                </a:solidFill>
              </a:defRPr>
            </a:pPr>
            <a:r>
              <a:t>Maximising </a:t>
            </a:r>
            <a14:m>
              <m:oMath>
                <m:r>
                  <m:rPr>
                    <m:scr m:val="script"/>
                  </m:rP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θ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equivalent to minimising </a:t>
            </a:r>
            <a14:m>
              <m:oMath>
                <m:sSup>
                  <m:e>
                    <m:r>
                      <a:rPr xmlns:a="http://schemas.openxmlformats.org/drawingml/2006/ma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 </a:t>
            </a:r>
          </a:p>
        </p:txBody>
      </p:sp>
      <p:sp>
        <p:nvSpPr>
          <p:cNvPr id="434" name="Assumes that our measurements are uncorrelated"/>
          <p:cNvSpPr txBox="1"/>
          <p:nvPr/>
        </p:nvSpPr>
        <p:spPr>
          <a:xfrm>
            <a:off x="6316466" y="133881"/>
            <a:ext cx="5758444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i="1" sz="2200">
                <a:solidFill>
                  <a:schemeClr val="accent6">
                    <a:lumOff val="-9568"/>
                  </a:schemeClr>
                </a:solidFill>
              </a:defRPr>
            </a:lvl1pPr>
          </a:lstStyle>
          <a:p>
            <a:pPr/>
            <a:r>
              <a:t>Assumes that our measurements are uncorrelated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itle 1"/>
          <p:cNvSpPr txBox="1"/>
          <p:nvPr>
            <p:ph type="title"/>
          </p:nvPr>
        </p:nvSpPr>
        <p:spPr>
          <a:xfrm>
            <a:off x="460280" y="315831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defRPr i="1">
                <a:solidFill>
                  <a:srgbClr val="C00000"/>
                </a:solidFill>
              </a:defRPr>
            </a:pPr>
            <a:r>
              <a:t>Confidence levels &amp; </a:t>
            </a:r>
            <a14:m>
              <m:oMath>
                <m:sSup>
                  <m:e>
                    <m:r>
                      <a:rPr xmlns:a="http://schemas.openxmlformats.org/drawingml/2006/main" sz="4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4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437" name="Content Placeholder 8"/>
          <p:cNvSpPr txBox="1"/>
          <p:nvPr>
            <p:ph type="body" sz="quarter" idx="1"/>
          </p:nvPr>
        </p:nvSpPr>
        <p:spPr>
          <a:xfrm>
            <a:off x="499533" y="1833147"/>
            <a:ext cx="4081943" cy="689393"/>
          </a:xfrm>
          <a:prstGeom prst="rect">
            <a:avLst/>
          </a:prstGeom>
        </p:spPr>
        <p:txBody>
          <a:bodyPr/>
          <a:lstStyle/>
          <a:p>
            <a:pPr>
              <a:defRPr b="1" i="1" sz="2000">
                <a:solidFill>
                  <a:srgbClr val="C00000"/>
                </a:solidFill>
              </a:defRPr>
            </a:pPr>
            <a:r>
              <a:t>If our best-fit value has </a:t>
            </a:r>
            <a14:m>
              <m:oMath>
                <m:sSup>
                  <m:e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15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=</m:t>
                </m:r>
                <m:sSubSup>
                  <m:e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min</m:t>
                    </m:r>
                  </m:sub>
                  <m:sup>
                    <m:r>
                      <a:rPr xmlns:a="http://schemas.openxmlformats.org/drawingml/2006/main" sz="21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  <a:r>
              <a:t>:</a:t>
            </a:r>
          </a:p>
        </p:txBody>
      </p:sp>
      <p:sp>
        <p:nvSpPr>
          <p:cNvPr id="438" name="Slide Number Placeholder 2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9" name="Equation"/>
          <p:cNvSpPr txBox="1"/>
          <p:nvPr/>
        </p:nvSpPr>
        <p:spPr>
          <a:xfrm>
            <a:off x="2077728" y="3080237"/>
            <a:ext cx="1997930" cy="44378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Sup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</m:sub>
                    <m:sup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m:rPr>
                      <m:sty m:val="p"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</m:oMath>
              </m:oMathPara>
            </a14:m>
            <a:endParaRPr sz="2600"/>
          </a:p>
        </p:txBody>
      </p:sp>
      <p:grpSp>
        <p:nvGrpSpPr>
          <p:cNvPr id="452" name="Group"/>
          <p:cNvGrpSpPr/>
          <p:nvPr/>
        </p:nvGrpSpPr>
        <p:grpSpPr>
          <a:xfrm>
            <a:off x="807603" y="4099201"/>
            <a:ext cx="4081943" cy="1628671"/>
            <a:chOff x="0" y="0"/>
            <a:chExt cx="4081942" cy="1628669"/>
          </a:xfrm>
        </p:grpSpPr>
        <p:sp>
          <p:nvSpPr>
            <p:cNvPr id="440" name="Equation"/>
            <p:cNvSpPr txBox="1"/>
            <p:nvPr/>
          </p:nvSpPr>
          <p:spPr>
            <a:xfrm>
              <a:off x="2518116" y="0"/>
              <a:ext cx="966389" cy="274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sSub>
                      <m:e>
                        <m:r>
                          <a:rPr xmlns:a="http://schemas.openxmlformats.org/drawingml/2006/mai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nor/>
                          </m:rPr>
                          <a:rPr xmlns:a="http://schemas.openxmlformats.org/drawingml/2006/mai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params</m:t>
                        </m:r>
                      </m:sub>
                    </m:sSub>
                  </m:oMath>
                </m:oMathPara>
              </a14:m>
              <a:endParaRPr sz="2000">
                <a:solidFill>
                  <a:srgbClr val="C00000"/>
                </a:solidFill>
              </a:endParaRPr>
            </a:p>
          </p:txBody>
        </p:sp>
        <p:sp>
          <p:nvSpPr>
            <p:cNvPr id="441" name="CI"/>
            <p:cNvSpPr txBox="1"/>
            <p:nvPr/>
          </p:nvSpPr>
          <p:spPr>
            <a:xfrm rot="16200000">
              <a:off x="24730" y="961445"/>
              <a:ext cx="283627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solidFill>
                    <a:srgbClr val="C00000"/>
                  </a:solidFill>
                </a:defRPr>
              </a:lvl1pPr>
            </a:lstStyle>
            <a:p>
              <a:pPr/>
              <a:r>
                <a:t>CI</a:t>
              </a:r>
            </a:p>
          </p:txBody>
        </p:sp>
        <p:sp>
          <p:nvSpPr>
            <p:cNvPr id="442" name="68%…"/>
            <p:cNvSpPr txBox="1"/>
            <p:nvPr/>
          </p:nvSpPr>
          <p:spPr>
            <a:xfrm>
              <a:off x="397780" y="672966"/>
              <a:ext cx="736040" cy="9052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68%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95.4%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99.7%</a:t>
              </a:r>
            </a:p>
          </p:txBody>
        </p:sp>
        <p:sp>
          <p:nvSpPr>
            <p:cNvPr id="443" name="1.0…"/>
            <p:cNvSpPr txBox="1"/>
            <p:nvPr/>
          </p:nvSpPr>
          <p:spPr>
            <a:xfrm>
              <a:off x="2052079" y="675343"/>
              <a:ext cx="425734" cy="9052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1.0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4.0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9.0</a:t>
              </a:r>
            </a:p>
          </p:txBody>
        </p:sp>
        <p:sp>
          <p:nvSpPr>
            <p:cNvPr id="444" name="2.30…"/>
            <p:cNvSpPr txBox="1"/>
            <p:nvPr/>
          </p:nvSpPr>
          <p:spPr>
            <a:xfrm>
              <a:off x="2724075" y="675343"/>
              <a:ext cx="554470" cy="9052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2.30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6.17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11.8</a:t>
              </a:r>
            </a:p>
          </p:txBody>
        </p:sp>
        <p:sp>
          <p:nvSpPr>
            <p:cNvPr id="445" name="3.53…"/>
            <p:cNvSpPr txBox="1"/>
            <p:nvPr/>
          </p:nvSpPr>
          <p:spPr>
            <a:xfrm>
              <a:off x="3524808" y="675343"/>
              <a:ext cx="554470" cy="9052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3.53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8.02</a:t>
              </a:r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sz="2000"/>
              </a:pPr>
              <a:r>
                <a:t>14.2</a:t>
              </a:r>
            </a:p>
          </p:txBody>
        </p:sp>
        <p:sp>
          <p:nvSpPr>
            <p:cNvPr id="446" name="1"/>
            <p:cNvSpPr txBox="1"/>
            <p:nvPr/>
          </p:nvSpPr>
          <p:spPr>
            <a:xfrm>
              <a:off x="2148507" y="298422"/>
              <a:ext cx="232877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47" name="2"/>
            <p:cNvSpPr txBox="1"/>
            <p:nvPr/>
          </p:nvSpPr>
          <p:spPr>
            <a:xfrm>
              <a:off x="2884871" y="298422"/>
              <a:ext cx="232878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448" name="3"/>
            <p:cNvSpPr txBox="1"/>
            <p:nvPr/>
          </p:nvSpPr>
          <p:spPr>
            <a:xfrm>
              <a:off x="3685604" y="298422"/>
              <a:ext cx="232877" cy="3401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lnSpc>
                  <a:spcPct val="40000"/>
                </a:lnSpc>
                <a:spcBef>
                  <a:spcPts val="1000"/>
                </a:spcBef>
                <a:buFont typeface="Arial"/>
                <a:defRPr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449" name="Line"/>
            <p:cNvSpPr/>
            <p:nvPr/>
          </p:nvSpPr>
          <p:spPr>
            <a:xfrm flipV="1">
              <a:off x="1928947" y="672966"/>
              <a:ext cx="1" cy="905293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0" name="Line"/>
            <p:cNvSpPr/>
            <p:nvPr/>
          </p:nvSpPr>
          <p:spPr>
            <a:xfrm flipH="1" flipV="1">
              <a:off x="1928947" y="660266"/>
              <a:ext cx="2152996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1" name="1…"/>
            <p:cNvSpPr txBox="1"/>
            <p:nvPr/>
          </p:nvSpPr>
          <p:spPr>
            <a:xfrm>
              <a:off x="1274906" y="576508"/>
              <a:ext cx="370114" cy="10521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baseline="-30000"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1</a:t>
              </a:r>
              <a14:m>
                <m:oMath>
                  <m:r>
                    <a:rPr xmlns:a="http://schemas.openxmlformats.org/drawingml/2006/main" sz="2150" i="1">
                      <a:solidFill>
                        <a:srgbClr val="365B9C"/>
                      </a:solidFill>
                      <a:latin typeface="Cambria Math" panose="02040503050406030204" pitchFamily="18" charset="0"/>
                    </a:rPr>
                    <m:t>σ</m:t>
                  </m:r>
                </m:oMath>
              </a14:m>
            </a:p>
            <a:p>
              <a:pPr>
                <a:lnSpc>
                  <a:spcPct val="40000"/>
                </a:lnSpc>
                <a:spcBef>
                  <a:spcPts val="1000"/>
                </a:spcBef>
                <a:buFont typeface="Arial"/>
                <a:defRPr baseline="-30000"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2</a:t>
              </a:r>
              <a14:m>
                <m:oMath>
                  <m:r>
                    <a:rPr xmlns:a="http://schemas.openxmlformats.org/drawingml/2006/main" sz="2150" i="1">
                      <a:solidFill>
                        <a:srgbClr val="365B9C"/>
                      </a:solidFill>
                      <a:latin typeface="Cambria Math" panose="02040503050406030204" pitchFamily="18" charset="0"/>
                    </a:rPr>
                    <m:t>σ</m:t>
                  </m:r>
                </m:oMath>
              </a14:m>
            </a:p>
            <a:p>
              <a:pPr>
                <a:lnSpc>
                  <a:spcPct val="10000"/>
                </a:lnSpc>
                <a:spcBef>
                  <a:spcPts val="1000"/>
                </a:spcBef>
                <a:buFont typeface="Arial"/>
                <a:defRPr baseline="-30000" sz="2000">
                  <a:solidFill>
                    <a:schemeClr val="accent1">
                      <a:satOff val="-3547"/>
                      <a:lumOff val="-10352"/>
                    </a:schemeClr>
                  </a:solidFill>
                </a:defRPr>
              </a:pPr>
              <a:r>
                <a:t>3</a:t>
              </a:r>
              <a14:m>
                <m:oMath>
                  <m:r>
                    <a:rPr xmlns:a="http://schemas.openxmlformats.org/drawingml/2006/main" sz="2150" i="1">
                      <a:solidFill>
                        <a:srgbClr val="365B9C"/>
                      </a:solidFill>
                      <a:latin typeface="Cambria Math" panose="02040503050406030204" pitchFamily="18" charset="0"/>
                    </a:rPr>
                    <m:t>σ</m:t>
                  </m:r>
                </m:oMath>
              </a14:m>
              <a:endParaRPr>
                <a:solidFill>
                  <a:srgbClr val="365B9D"/>
                </a:solidFill>
              </a:endParaRPr>
            </a:p>
          </p:txBody>
        </p:sp>
      </p:grpSp>
      <p:sp>
        <p:nvSpPr>
          <p:cNvPr id="453" name="Contours of equal probability are defined by"/>
          <p:cNvSpPr txBox="1"/>
          <p:nvPr/>
        </p:nvSpPr>
        <p:spPr>
          <a:xfrm>
            <a:off x="523650" y="2631297"/>
            <a:ext cx="4649848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/>
            </a:lvl1pPr>
          </a:lstStyle>
          <a:p>
            <a:pPr/>
            <a:r>
              <a:t>Contours of equal probability are defined by</a:t>
            </a:r>
          </a:p>
        </p:txBody>
      </p:sp>
      <p:pic>
        <p:nvPicPr>
          <p:cNvPr id="454" name="prob_hist.png" descr="prob_hi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37086" y="1529968"/>
            <a:ext cx="6269398" cy="4374583"/>
          </a:xfrm>
          <a:prstGeom prst="rect">
            <a:avLst/>
          </a:prstGeom>
          <a:ln w="12700">
            <a:miter lim="400000"/>
          </a:ln>
        </p:spPr>
      </p:pic>
      <p:sp>
        <p:nvSpPr>
          <p:cNvPr id="455" name="Line"/>
          <p:cNvSpPr/>
          <p:nvPr/>
        </p:nvSpPr>
        <p:spPr>
          <a:xfrm>
            <a:off x="8046733" y="1707142"/>
            <a:ext cx="1997367" cy="1"/>
          </a:xfrm>
          <a:prstGeom prst="line">
            <a:avLst/>
          </a:prstGeom>
          <a:ln w="63500">
            <a:solidFill>
              <a:schemeClr val="accent6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6" name="Text"/>
          <p:cNvSpPr txBox="1"/>
          <p:nvPr/>
        </p:nvSpPr>
        <p:spPr>
          <a:xfrm>
            <a:off x="8217094" y="1057119"/>
            <a:ext cx="1656644" cy="504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sz="2000">
                <a:solidFill>
                  <a:schemeClr val="accent6"/>
                </a:solidFill>
              </a:defRPr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sSup>
                    <m:e>
                      <m: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p>
                      <m: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150" i="1">
                      <a:solidFill>
                        <a:srgbClr val="70AD47"/>
                      </a:solidFill>
                      <a:latin typeface="Cambria Math" panose="02040503050406030204" pitchFamily="18" charset="0"/>
                    </a:rPr>
                    <m:t>&lt;</m:t>
                  </m:r>
                  <m:sSubSup>
                    <m:e>
                      <m: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χ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</m:sub>
                    <m:sup>
                      <m:r>
                        <a:rPr xmlns:a="http://schemas.openxmlformats.org/drawingml/2006/main" sz="2150" i="1">
                          <a:solidFill>
                            <a:srgbClr val="70AD47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r>
                    <a:rPr xmlns:a="http://schemas.openxmlformats.org/drawingml/2006/main" sz="2150" i="1">
                      <a:solidFill>
                        <a:srgbClr val="70AD47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150" i="1">
                      <a:solidFill>
                        <a:srgbClr val="70AD47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>
              <a:solidFill>
                <a:srgbClr val="70AD47"/>
              </a:solidFill>
            </a:endParaRPr>
          </a:p>
        </p:txBody>
      </p:sp>
      <p:sp>
        <p:nvSpPr>
          <p:cNvPr id="457" name="WARNING: This process knows nothing about physics: beware of unphysical regions"/>
          <p:cNvSpPr txBox="1"/>
          <p:nvPr/>
        </p:nvSpPr>
        <p:spPr>
          <a:xfrm>
            <a:off x="622710" y="6303054"/>
            <a:ext cx="8720173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000"/>
            </a:pPr>
            <a:r>
              <a:rPr b="1"/>
              <a:t>WARNING</a:t>
            </a:r>
            <a:r>
              <a:t>: This process knows nothing about physics: beware of unphysical regions</a:t>
            </a:r>
          </a:p>
        </p:txBody>
      </p:sp>
      <p:sp>
        <p:nvSpPr>
          <p:cNvPr id="458" name="Note:   not"/>
          <p:cNvSpPr txBox="1"/>
          <p:nvPr/>
        </p:nvSpPr>
        <p:spPr>
          <a:xfrm>
            <a:off x="9406854" y="222994"/>
            <a:ext cx="2250658" cy="422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chemeClr val="accent6">
                    <a:lumOff val="-9568"/>
                  </a:schemeClr>
                </a:solidFill>
              </a:defRPr>
            </a:pPr>
            <a:r>
              <a:t>Note: </a:t>
            </a:r>
            <a14:m>
              <m:oMath>
                <m:sSup>
                  <m:e>
                    <m:r>
                      <a:rPr xmlns:a="http://schemas.openxmlformats.org/drawingml/2006/main" sz="2600" i="1">
                        <a:solidFill>
                          <a:srgbClr val="598A38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600" i="1">
                        <a:solidFill>
                          <a:srgbClr val="598A38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not </a:t>
            </a:r>
            <a14:m>
              <m:oMath>
                <m:sSubSup>
                  <m:e>
                    <m:r>
                      <a:rPr xmlns:a="http://schemas.openxmlformats.org/drawingml/2006/main" sz="2600" i="1">
                        <a:solidFill>
                          <a:srgbClr val="598A38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a:rPr xmlns:a="http://schemas.openxmlformats.org/drawingml/2006/main" sz="2600" i="1">
                        <a:solidFill>
                          <a:srgbClr val="598A38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2600" i="1">
                        <a:solidFill>
                          <a:srgbClr val="598A38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2600" i="1">
                        <a:solidFill>
                          <a:srgbClr val="598A38"/>
                        </a:solidFill>
                        <a:latin typeface="Cambria Math" panose="02040503050406030204" pitchFamily="18" charset="0"/>
                      </a:rPr>
                      <m:t>d</m:t>
                    </m:r>
                  </m:sub>
                  <m:sup>
                    <m:r>
                      <a:rPr xmlns:a="http://schemas.openxmlformats.org/drawingml/2006/main" sz="2600" i="1">
                        <a:solidFill>
                          <a:srgbClr val="598A38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</m:oMath>
            </a14:m>
            <a:endParaRPr>
              <a:solidFill>
                <a:srgbClr val="5A8A39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Rectangle"/>
          <p:cNvSpPr/>
          <p:nvPr/>
        </p:nvSpPr>
        <p:spPr>
          <a:xfrm>
            <a:off x="7350666" y="1822905"/>
            <a:ext cx="4722787" cy="4394566"/>
          </a:xfrm>
          <a:prstGeom prst="rect">
            <a:avLst/>
          </a:prstGeom>
          <a:solidFill>
            <a:schemeClr val="accent6">
              <a:satOff val="-3457"/>
              <a:lumOff val="26078"/>
            </a:schemeClr>
          </a:solidFill>
          <a:ln w="12700">
            <a:solidFill>
              <a:srgbClr val="A7A7A7"/>
            </a:solidFill>
            <a:miter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62" name="Title 1"/>
          <p:cNvSpPr txBox="1"/>
          <p:nvPr/>
        </p:nvSpPr>
        <p:spPr>
          <a:xfrm>
            <a:off x="812800" y="238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>
              <a:lnSpc>
                <a:spcPct val="90000"/>
              </a:lnSpc>
              <a:defRPr sz="4400">
                <a:solidFill>
                  <a:srgbClr val="C00000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Model Selection</a:t>
            </a:r>
          </a:p>
        </p:txBody>
      </p:sp>
      <p:sp>
        <p:nvSpPr>
          <p:cNvPr id="463" name="Given two models   how do we know which one to choose?"/>
          <p:cNvSpPr txBox="1"/>
          <p:nvPr/>
        </p:nvSpPr>
        <p:spPr>
          <a:xfrm>
            <a:off x="803118" y="1306067"/>
            <a:ext cx="7633609" cy="432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Given two models </a:t>
            </a:r>
            <a14:m>
              <m:oMath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t> how do we know which one to choose? </a:t>
            </a:r>
          </a:p>
        </p:txBody>
      </p:sp>
      <p:sp>
        <p:nvSpPr>
          <p:cNvPr id="464" name="Recall that for a good fit, we expect:"/>
          <p:cNvSpPr txBox="1"/>
          <p:nvPr/>
        </p:nvSpPr>
        <p:spPr>
          <a:xfrm>
            <a:off x="832356" y="2294149"/>
            <a:ext cx="6166084" cy="55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b="1" i="1" sz="2200">
                <a:solidFill>
                  <a:srgbClr val="C00000"/>
                </a:solidFill>
              </a:defRPr>
            </a:pPr>
            <a:r>
              <a:t>Recall that for a good fit, we expect:  </a:t>
            </a:r>
            <a14:m>
              <m:oMath>
                <m:r>
                  <m:rPr>
                    <m:nor/>
                  </m:rP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min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(</m:t>
                </m:r>
                <m:sSubSup>
                  <m:e>
                    <m:r>
                      <a:rPr xmlns:a="http://schemas.openxmlformats.org/drawingml/2006/ma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red</m:t>
                    </m:r>
                  </m:sub>
                  <m:sup>
                    <m:r>
                      <a:rPr xmlns:a="http://schemas.openxmlformats.org/drawingml/2006/ma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bSup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∼</m:t>
                </m:r>
                <m:r>
                  <a:rPr xmlns:a="http://schemas.openxmlformats.org/drawingml/2006/main" sz="2400" i="1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</a:p>
        </p:txBody>
      </p:sp>
      <p:pic>
        <p:nvPicPr>
          <p:cNvPr id="465" name="model_sel.png" descr="model_sel.png"/>
          <p:cNvPicPr>
            <a:picLocks noChangeAspect="1"/>
          </p:cNvPicPr>
          <p:nvPr/>
        </p:nvPicPr>
        <p:blipFill>
          <a:blip r:embed="rId2">
            <a:extLst/>
          </a:blip>
          <a:srcRect l="0" t="55" r="0" b="55"/>
          <a:stretch>
            <a:fillRect/>
          </a:stretch>
        </p:blipFill>
        <p:spPr>
          <a:xfrm>
            <a:off x="7465548" y="1916353"/>
            <a:ext cx="4492837" cy="4207714"/>
          </a:xfrm>
          <a:prstGeom prst="rect">
            <a:avLst/>
          </a:prstGeom>
          <a:ln w="12700">
            <a:solidFill>
              <a:srgbClr val="DDDDDD"/>
            </a:solidFill>
            <a:miter/>
          </a:ln>
        </p:spPr>
      </p:pic>
      <p:sp>
        <p:nvSpPr>
          <p:cNvPr id="466" name="Rectangle"/>
          <p:cNvSpPr/>
          <p:nvPr/>
        </p:nvSpPr>
        <p:spPr>
          <a:xfrm>
            <a:off x="771269" y="3488426"/>
            <a:ext cx="6313658" cy="2840136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67" name="Equation"/>
          <p:cNvSpPr txBox="1"/>
          <p:nvPr/>
        </p:nvSpPr>
        <p:spPr>
          <a:xfrm>
            <a:off x="2416424" y="4259260"/>
            <a:ext cx="3621150" cy="3285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AIC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m:rPr>
                      <m:sty m:val="p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ln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cr m:val="script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</m:oMath>
              </m:oMathPara>
            </a14:m>
            <a:endParaRPr sz="2900"/>
          </a:p>
        </p:txBody>
      </p:sp>
      <p:sp>
        <p:nvSpPr>
          <p:cNvPr id="468" name="See Week 13 for the optimum way to do this"/>
          <p:cNvSpPr txBox="1"/>
          <p:nvPr/>
        </p:nvSpPr>
        <p:spPr>
          <a:xfrm>
            <a:off x="6738912" y="222507"/>
            <a:ext cx="5226793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200">
                <a:solidFill>
                  <a:srgbClr val="C00000"/>
                </a:solidFill>
              </a:defRPr>
            </a:lvl1pPr>
          </a:lstStyle>
          <a:p>
            <a:pPr/>
            <a:r>
              <a:t>See Week 13 for the optimum way to do this</a:t>
            </a:r>
          </a:p>
        </p:txBody>
      </p:sp>
      <p:sp>
        <p:nvSpPr>
          <p:cNvPr id="469" name="Equation"/>
          <p:cNvSpPr txBox="1"/>
          <p:nvPr/>
        </p:nvSpPr>
        <p:spPr>
          <a:xfrm>
            <a:off x="2480925" y="5717375"/>
            <a:ext cx="4277996" cy="33331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m:rPr>
                      <m:nor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BIC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m:rPr>
                      <m:sty m:val="p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ln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cr m:val="script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m:rPr>
                      <m:sty m:val="p"/>
                    </m:rP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log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</m:oMath>
              </m:oMathPara>
            </a14:m>
            <a:endParaRPr sz="2900"/>
          </a:p>
        </p:txBody>
      </p:sp>
      <p:sp>
        <p:nvSpPr>
          <p:cNvPr id="470" name="Akaike Information Criteria (AIC)"/>
          <p:cNvSpPr txBox="1"/>
          <p:nvPr/>
        </p:nvSpPr>
        <p:spPr>
          <a:xfrm>
            <a:off x="903567" y="3638343"/>
            <a:ext cx="3757624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i="1" sz="2200"/>
            </a:lvl1pPr>
          </a:lstStyle>
          <a:p>
            <a:pPr/>
            <a:r>
              <a:t>Akaike Information Criteria (AIC)</a:t>
            </a:r>
          </a:p>
        </p:txBody>
      </p:sp>
      <p:sp>
        <p:nvSpPr>
          <p:cNvPr id="471" name="Bayes Information Criteria (BIC)"/>
          <p:cNvSpPr txBox="1"/>
          <p:nvPr/>
        </p:nvSpPr>
        <p:spPr>
          <a:xfrm>
            <a:off x="941494" y="5098243"/>
            <a:ext cx="3672084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i="1" sz="2200"/>
            </a:lvl1pPr>
          </a:lstStyle>
          <a:p>
            <a:pPr/>
            <a:r>
              <a:t>Bayes Information Criteria (BIC)</a:t>
            </a:r>
          </a:p>
        </p:txBody>
      </p:sp>
      <p:sp>
        <p:nvSpPr>
          <p:cNvPr id="472" name="(  ;  )"/>
          <p:cNvSpPr txBox="1"/>
          <p:nvPr/>
        </p:nvSpPr>
        <p:spPr>
          <a:xfrm>
            <a:off x="8071828" y="6302280"/>
            <a:ext cx="3280278" cy="481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(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p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params</m:t>
                    </m:r>
                  </m:sub>
                </m:sSub>
              </m:oMath>
            </a14:m>
            <a:r>
              <a:t> ;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e>
                  <m:sub>
                    <m:r>
                      <m:rPr>
                        <m:nor/>
                      </m:rP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data</m:t>
                    </m:r>
                  </m:sub>
                </m:sSub>
              </m:oMath>
            </a14:m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itle 1"/>
          <p:cNvSpPr txBox="1"/>
          <p:nvPr>
            <p:ph type="title"/>
          </p:nvPr>
        </p:nvSpPr>
        <p:spPr>
          <a:xfrm>
            <a:off x="460280" y="315831"/>
            <a:ext cx="10515601" cy="1325564"/>
          </a:xfrm>
          <a:prstGeom prst="rect">
            <a:avLst/>
          </a:prstGeom>
        </p:spPr>
        <p:txBody>
          <a:bodyPr/>
          <a:lstStyle/>
          <a:p>
            <a:pPr>
              <a:defRPr i="1">
                <a:solidFill>
                  <a:srgbClr val="C00000"/>
                </a:solidFill>
              </a:defRPr>
            </a:pPr>
            <a14:m>
              <m:oMath>
                <m:sSup>
                  <m:e>
                    <m:r>
                      <a:rPr xmlns:a="http://schemas.openxmlformats.org/drawingml/2006/main" sz="4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49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: estimating uncertainties : bootstrapping</a:t>
            </a:r>
          </a:p>
        </p:txBody>
      </p:sp>
      <p:sp>
        <p:nvSpPr>
          <p:cNvPr id="475" name="Slide Number Placeholder 2"/>
          <p:cNvSpPr txBox="1"/>
          <p:nvPr>
            <p:ph type="sldNum" sz="quarter" idx="2"/>
          </p:nvPr>
        </p:nvSpPr>
        <p:spPr>
          <a:xfrm>
            <a:off x="11684000" y="6402746"/>
            <a:ext cx="284372" cy="280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6" name="Resampling the data with replacement"/>
          <p:cNvSpPr txBox="1"/>
          <p:nvPr/>
        </p:nvSpPr>
        <p:spPr>
          <a:xfrm>
            <a:off x="836275" y="1361297"/>
            <a:ext cx="4501963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Resampling the data </a:t>
            </a:r>
            <a:r>
              <a:rPr b="1"/>
              <a:t>with</a:t>
            </a:r>
            <a:r>
              <a:t> replacement</a:t>
            </a:r>
          </a:p>
        </p:txBody>
      </p:sp>
      <p:grpSp>
        <p:nvGrpSpPr>
          <p:cNvPr id="486" name="Group"/>
          <p:cNvGrpSpPr/>
          <p:nvPr/>
        </p:nvGrpSpPr>
        <p:grpSpPr>
          <a:xfrm>
            <a:off x="481771" y="2447219"/>
            <a:ext cx="1524001" cy="1522019"/>
            <a:chOff x="0" y="0"/>
            <a:chExt cx="1524000" cy="1522017"/>
          </a:xfrm>
        </p:grpSpPr>
        <p:sp>
          <p:nvSpPr>
            <p:cNvPr id="477" name="Circle"/>
            <p:cNvSpPr/>
            <p:nvPr/>
          </p:nvSpPr>
          <p:spPr>
            <a:xfrm>
              <a:off x="0" y="0"/>
              <a:ext cx="1524000" cy="1522018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478" name="Star"/>
            <p:cNvSpPr/>
            <p:nvPr/>
          </p:nvSpPr>
          <p:spPr>
            <a:xfrm>
              <a:off x="177044" y="934066"/>
              <a:ext cx="253648" cy="24123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9" name="Star"/>
            <p:cNvSpPr/>
            <p:nvPr/>
          </p:nvSpPr>
          <p:spPr>
            <a:xfrm>
              <a:off x="933523" y="934066"/>
              <a:ext cx="253647" cy="24123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0" name="Star"/>
            <p:cNvSpPr/>
            <p:nvPr/>
          </p:nvSpPr>
          <p:spPr>
            <a:xfrm>
              <a:off x="226188" y="414032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chemeClr val="accent4">
                    <a:hueOff val="-406799"/>
                    <a:lumOff val="30382"/>
                  </a:schemeClr>
                </a:gs>
                <a:gs pos="50000">
                  <a:srgbClr val="FFD58D"/>
                </a:gs>
                <a:gs pos="100000">
                  <a:schemeClr val="accent4">
                    <a:hueOff val="-362075"/>
                    <a:lumOff val="23565"/>
                  </a:schemeClr>
                </a:gs>
              </a:gsLst>
              <a:lin ang="5400000" scaled="0"/>
            </a:gradFill>
            <a:ln w="63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481" name="Star"/>
            <p:cNvSpPr/>
            <p:nvPr/>
          </p:nvSpPr>
          <p:spPr>
            <a:xfrm>
              <a:off x="933523" y="414032"/>
              <a:ext cx="253647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2" name="Star"/>
            <p:cNvSpPr/>
            <p:nvPr/>
          </p:nvSpPr>
          <p:spPr>
            <a:xfrm>
              <a:off x="555284" y="641373"/>
              <a:ext cx="253647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3" name="Star"/>
            <p:cNvSpPr/>
            <p:nvPr/>
          </p:nvSpPr>
          <p:spPr>
            <a:xfrm>
              <a:off x="555284" y="1099677"/>
              <a:ext cx="253647" cy="24123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4" name="Star"/>
            <p:cNvSpPr/>
            <p:nvPr/>
          </p:nvSpPr>
          <p:spPr>
            <a:xfrm>
              <a:off x="635176" y="95846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5" name="Star"/>
            <p:cNvSpPr/>
            <p:nvPr/>
          </p:nvSpPr>
          <p:spPr>
            <a:xfrm>
              <a:off x="1179240" y="641373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96" name="Group"/>
          <p:cNvGrpSpPr/>
          <p:nvPr/>
        </p:nvGrpSpPr>
        <p:grpSpPr>
          <a:xfrm>
            <a:off x="3090241" y="4334792"/>
            <a:ext cx="1524001" cy="1522019"/>
            <a:chOff x="0" y="0"/>
            <a:chExt cx="1524000" cy="1522017"/>
          </a:xfrm>
        </p:grpSpPr>
        <p:sp>
          <p:nvSpPr>
            <p:cNvPr id="487" name="Circle"/>
            <p:cNvSpPr/>
            <p:nvPr/>
          </p:nvSpPr>
          <p:spPr>
            <a:xfrm>
              <a:off x="0" y="0"/>
              <a:ext cx="1524000" cy="1522018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488" name="Star"/>
            <p:cNvSpPr/>
            <p:nvPr/>
          </p:nvSpPr>
          <p:spPr>
            <a:xfrm>
              <a:off x="401225" y="1081418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9" name="Star"/>
            <p:cNvSpPr/>
            <p:nvPr/>
          </p:nvSpPr>
          <p:spPr>
            <a:xfrm>
              <a:off x="779464" y="788725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0" name="Star"/>
            <p:cNvSpPr/>
            <p:nvPr/>
          </p:nvSpPr>
          <p:spPr>
            <a:xfrm>
              <a:off x="859357" y="243197"/>
              <a:ext cx="253647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1" name="Star"/>
            <p:cNvSpPr/>
            <p:nvPr/>
          </p:nvSpPr>
          <p:spPr>
            <a:xfrm>
              <a:off x="402157" y="689140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2" name="Star"/>
            <p:cNvSpPr/>
            <p:nvPr/>
          </p:nvSpPr>
          <p:spPr>
            <a:xfrm>
              <a:off x="1156772" y="640392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3" name="Star"/>
            <p:cNvSpPr/>
            <p:nvPr/>
          </p:nvSpPr>
          <p:spPr>
            <a:xfrm>
              <a:off x="482049" y="219813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4" name="Star"/>
            <p:cNvSpPr/>
            <p:nvPr/>
          </p:nvSpPr>
          <p:spPr>
            <a:xfrm>
              <a:off x="849586" y="1056482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5" name="Star"/>
            <p:cNvSpPr/>
            <p:nvPr/>
          </p:nvSpPr>
          <p:spPr>
            <a:xfrm>
              <a:off x="118341" y="465439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506" name="Group"/>
          <p:cNvGrpSpPr/>
          <p:nvPr/>
        </p:nvGrpSpPr>
        <p:grpSpPr>
          <a:xfrm>
            <a:off x="730180" y="4941956"/>
            <a:ext cx="1524001" cy="1522018"/>
            <a:chOff x="0" y="0"/>
            <a:chExt cx="1524000" cy="1522017"/>
          </a:xfrm>
        </p:grpSpPr>
        <p:sp>
          <p:nvSpPr>
            <p:cNvPr id="497" name="Circle"/>
            <p:cNvSpPr/>
            <p:nvPr/>
          </p:nvSpPr>
          <p:spPr>
            <a:xfrm>
              <a:off x="0" y="0"/>
              <a:ext cx="1524000" cy="1522018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498" name="Star"/>
            <p:cNvSpPr/>
            <p:nvPr/>
          </p:nvSpPr>
          <p:spPr>
            <a:xfrm>
              <a:off x="134078" y="905546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9" name="Star"/>
            <p:cNvSpPr/>
            <p:nvPr/>
          </p:nvSpPr>
          <p:spPr>
            <a:xfrm>
              <a:off x="890556" y="385511"/>
              <a:ext cx="253648" cy="24123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0" name="Star"/>
            <p:cNvSpPr/>
            <p:nvPr/>
          </p:nvSpPr>
          <p:spPr>
            <a:xfrm>
              <a:off x="1136274" y="612852"/>
              <a:ext cx="253648" cy="241234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1" name="Star"/>
            <p:cNvSpPr/>
            <p:nvPr/>
          </p:nvSpPr>
          <p:spPr>
            <a:xfrm>
              <a:off x="446057" y="1083466"/>
              <a:ext cx="253647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2" name="Star"/>
            <p:cNvSpPr/>
            <p:nvPr/>
          </p:nvSpPr>
          <p:spPr>
            <a:xfrm>
              <a:off x="862396" y="943173"/>
              <a:ext cx="253647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3" name="Star"/>
            <p:cNvSpPr/>
            <p:nvPr/>
          </p:nvSpPr>
          <p:spPr>
            <a:xfrm>
              <a:off x="293557" y="341586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chemeClr val="accent4">
                    <a:hueOff val="-406799"/>
                    <a:lumOff val="30382"/>
                  </a:schemeClr>
                </a:gs>
                <a:gs pos="50000">
                  <a:srgbClr val="FFD58D"/>
                </a:gs>
                <a:gs pos="100000">
                  <a:schemeClr val="accent4">
                    <a:hueOff val="-362075"/>
                    <a:lumOff val="23565"/>
                  </a:schemeClr>
                </a:gs>
              </a:gsLst>
              <a:lin ang="5400000" scaled="0"/>
            </a:gradFill>
            <a:ln w="63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04" name="Star"/>
            <p:cNvSpPr/>
            <p:nvPr/>
          </p:nvSpPr>
          <p:spPr>
            <a:xfrm>
              <a:off x="508353" y="568927"/>
              <a:ext cx="253647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5" name="Star"/>
            <p:cNvSpPr/>
            <p:nvPr/>
          </p:nvSpPr>
          <p:spPr>
            <a:xfrm>
              <a:off x="609887" y="54388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516" name="Group"/>
          <p:cNvGrpSpPr/>
          <p:nvPr/>
        </p:nvGrpSpPr>
        <p:grpSpPr>
          <a:xfrm>
            <a:off x="3441700" y="2357355"/>
            <a:ext cx="1524000" cy="1522019"/>
            <a:chOff x="0" y="0"/>
            <a:chExt cx="1524000" cy="1522017"/>
          </a:xfrm>
        </p:grpSpPr>
        <p:sp>
          <p:nvSpPr>
            <p:cNvPr id="507" name="Circle"/>
            <p:cNvSpPr/>
            <p:nvPr/>
          </p:nvSpPr>
          <p:spPr>
            <a:xfrm>
              <a:off x="0" y="0"/>
              <a:ext cx="1524000" cy="1522018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08" name="Star"/>
            <p:cNvSpPr/>
            <p:nvPr/>
          </p:nvSpPr>
          <p:spPr>
            <a:xfrm>
              <a:off x="262459" y="514601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chemeClr val="accent4">
                    <a:hueOff val="-406799"/>
                    <a:lumOff val="30382"/>
                  </a:schemeClr>
                </a:gs>
                <a:gs pos="50000">
                  <a:srgbClr val="FFD58D"/>
                </a:gs>
                <a:gs pos="100000">
                  <a:schemeClr val="accent4">
                    <a:hueOff val="-362075"/>
                    <a:lumOff val="23565"/>
                  </a:schemeClr>
                </a:gs>
              </a:gsLst>
              <a:lin ang="5400000" scaled="0"/>
            </a:gradFill>
            <a:ln w="63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09" name="Star"/>
            <p:cNvSpPr/>
            <p:nvPr/>
          </p:nvSpPr>
          <p:spPr>
            <a:xfrm>
              <a:off x="961511" y="863916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0" name="Star"/>
            <p:cNvSpPr/>
            <p:nvPr/>
          </p:nvSpPr>
          <p:spPr>
            <a:xfrm>
              <a:off x="553454" y="1136746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1" name="Star"/>
            <p:cNvSpPr/>
            <p:nvPr/>
          </p:nvSpPr>
          <p:spPr>
            <a:xfrm>
              <a:off x="282226" y="935134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2" name="Star"/>
            <p:cNvSpPr/>
            <p:nvPr/>
          </p:nvSpPr>
          <p:spPr>
            <a:xfrm>
              <a:off x="660465" y="642440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3" name="Star"/>
            <p:cNvSpPr/>
            <p:nvPr/>
          </p:nvSpPr>
          <p:spPr>
            <a:xfrm>
              <a:off x="1152011" y="476501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chemeClr val="accent4">
                    <a:hueOff val="-406799"/>
                    <a:lumOff val="30382"/>
                  </a:schemeClr>
                </a:gs>
                <a:gs pos="50000">
                  <a:srgbClr val="FFD58D"/>
                </a:gs>
                <a:gs pos="100000">
                  <a:schemeClr val="accent4">
                    <a:hueOff val="-362075"/>
                    <a:lumOff val="23565"/>
                  </a:schemeClr>
                </a:gs>
              </a:gsLst>
              <a:lin ang="5400000" scaled="0"/>
            </a:gradFill>
            <a:ln w="6350" cap="flat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514" name="Star"/>
            <p:cNvSpPr/>
            <p:nvPr/>
          </p:nvSpPr>
          <p:spPr>
            <a:xfrm>
              <a:off x="885032" y="231264"/>
              <a:ext cx="253648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5" name="Star"/>
            <p:cNvSpPr/>
            <p:nvPr/>
          </p:nvSpPr>
          <p:spPr>
            <a:xfrm>
              <a:off x="451782" y="139823"/>
              <a:ext cx="253647" cy="241233"/>
            </a:xfrm>
            <a:prstGeom prst="star5">
              <a:avLst>
                <a:gd name="adj" fmla="val 19100"/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6350" cap="flat">
              <a:solidFill>
                <a:schemeClr val="accent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17" name="Line"/>
          <p:cNvSpPr/>
          <p:nvPr/>
        </p:nvSpPr>
        <p:spPr>
          <a:xfrm>
            <a:off x="1800086" y="3716130"/>
            <a:ext cx="1505955" cy="972323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Line"/>
          <p:cNvSpPr/>
          <p:nvPr/>
        </p:nvSpPr>
        <p:spPr>
          <a:xfrm flipV="1">
            <a:off x="2026478" y="3082238"/>
            <a:ext cx="1397893" cy="147980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19" name="Line"/>
          <p:cNvSpPr/>
          <p:nvPr/>
        </p:nvSpPr>
        <p:spPr>
          <a:xfrm flipH="1">
            <a:off x="1281043" y="3942521"/>
            <a:ext cx="1" cy="1080006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520" name="Rectangle"/>
          <p:cNvSpPr/>
          <p:nvPr/>
        </p:nvSpPr>
        <p:spPr>
          <a:xfrm>
            <a:off x="5524016" y="2717485"/>
            <a:ext cx="5037852" cy="2463248"/>
          </a:xfrm>
          <a:prstGeom prst="rect">
            <a:avLst/>
          </a:prstGeom>
          <a:solidFill>
            <a:srgbClr val="FFFFFF">
              <a:alpha val="87136"/>
            </a:srgbClr>
          </a:solidFill>
          <a:ln w="12700">
            <a:solidFill>
              <a:schemeClr val="accent1">
                <a:alpha val="87136"/>
              </a:schemeClr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21" name="(For a dataset with   measurements)"/>
          <p:cNvSpPr txBox="1"/>
          <p:nvPr/>
        </p:nvSpPr>
        <p:spPr>
          <a:xfrm>
            <a:off x="5493188" y="2088650"/>
            <a:ext cx="4335530" cy="398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(For a dataset with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  <a:r>
              <a:t> measurements)</a:t>
            </a:r>
          </a:p>
        </p:txBody>
      </p:sp>
      <p:sp>
        <p:nvSpPr>
          <p:cNvPr id="522" name="&gt; Randomly select   values"/>
          <p:cNvSpPr txBox="1"/>
          <p:nvPr/>
        </p:nvSpPr>
        <p:spPr>
          <a:xfrm>
            <a:off x="6699801" y="3344598"/>
            <a:ext cx="3279867" cy="398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&gt; Randomly select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</m:oMath>
            </a14:m>
            <a:r>
              <a:t> values </a:t>
            </a:r>
          </a:p>
        </p:txBody>
      </p:sp>
      <p:sp>
        <p:nvSpPr>
          <p:cNvPr id="523" name="For each of   samples:"/>
          <p:cNvSpPr txBox="1"/>
          <p:nvPr/>
        </p:nvSpPr>
        <p:spPr>
          <a:xfrm>
            <a:off x="5716713" y="2844976"/>
            <a:ext cx="2631368" cy="407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For each of </a:t>
            </a:r>
            <a14:m>
              <m:oMath>
                <m:r>
                  <a:rPr xmlns:a="http://schemas.openxmlformats.org/drawingml/2006/main" sz="2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  <a:r>
              <a:t> samples:</a:t>
            </a:r>
          </a:p>
        </p:txBody>
      </p:sp>
      <p:sp>
        <p:nvSpPr>
          <p:cNvPr id="524" name="&gt; Calculate the"/>
          <p:cNvSpPr txBox="1"/>
          <p:nvPr/>
        </p:nvSpPr>
        <p:spPr>
          <a:xfrm>
            <a:off x="6729066" y="3793965"/>
            <a:ext cx="2111164" cy="47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&gt; Calculate the </a:t>
            </a:r>
            <a14:m>
              <m:oMath>
                <m:sSup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525" name="Calculate the mean, and variance on"/>
          <p:cNvSpPr txBox="1"/>
          <p:nvPr/>
        </p:nvSpPr>
        <p:spPr>
          <a:xfrm>
            <a:off x="5716713" y="4613246"/>
            <a:ext cx="4550866" cy="47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defRPr sz="2200"/>
            </a:pPr>
            <a:r>
              <a:t>Calculate the mean, and variance on </a:t>
            </a:r>
            <a14:m>
              <m:oMath>
                <m:sSup>
                  <m:e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χ</m:t>
                    </m:r>
                  </m:e>
                  <m:sup>
                    <m:r>
                      <a:rPr xmlns:a="http://schemas.openxmlformats.org/drawingml/2006/main" sz="2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</a:p>
        </p:txBody>
      </p:sp>
      <p:sp>
        <p:nvSpPr>
          <p:cNvPr id="526" name="Does not assume a functional form for the distribution"/>
          <p:cNvSpPr txBox="1"/>
          <p:nvPr/>
        </p:nvSpPr>
        <p:spPr>
          <a:xfrm>
            <a:off x="5566143" y="5423646"/>
            <a:ext cx="6382319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200">
                <a:solidFill>
                  <a:srgbClr val="C00000"/>
                </a:solidFill>
              </a:defRPr>
            </a:lvl1pPr>
          </a:lstStyle>
          <a:p>
            <a:pPr/>
            <a:r>
              <a:t>Does not assume a functional form for the distribution</a:t>
            </a:r>
          </a:p>
        </p:txBody>
      </p:sp>
      <p:sp>
        <p:nvSpPr>
          <p:cNvPr id="527" name="NB: Can also sample from uncertainties : ‘MonteCarlo’"/>
          <p:cNvSpPr txBox="1"/>
          <p:nvPr/>
        </p:nvSpPr>
        <p:spPr>
          <a:xfrm>
            <a:off x="5566143" y="5913196"/>
            <a:ext cx="6376998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defRPr b="1" i="1" sz="2200">
                <a:solidFill>
                  <a:srgbClr val="C00000"/>
                </a:solidFill>
              </a:defRPr>
            </a:lvl1pPr>
          </a:lstStyle>
          <a:p>
            <a:pPr/>
            <a:r>
              <a:t>NB: Can also sample from uncertainties : ‘MonteCarlo’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30" name="Week 12: Learning outcomes"/>
          <p:cNvSpPr txBox="1"/>
          <p:nvPr>
            <p:ph type="title" idx="4294967295"/>
          </p:nvPr>
        </p:nvSpPr>
        <p:spPr>
          <a:xfrm>
            <a:off x="310352" y="146261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i="1" sz="3600">
                <a:solidFill>
                  <a:srgbClr val="C00000"/>
                </a:solidFill>
              </a:defRPr>
            </a:lvl1pPr>
          </a:lstStyle>
          <a:p>
            <a:pPr/>
            <a:r>
              <a:t>Week 12: Learning outcomes</a:t>
            </a:r>
          </a:p>
        </p:txBody>
      </p:sp>
      <p:sp>
        <p:nvSpPr>
          <p:cNvPr id="531" name="Today you have learnt…"/>
          <p:cNvSpPr txBox="1"/>
          <p:nvPr>
            <p:ph type="body" idx="4294967295"/>
          </p:nvPr>
        </p:nvSpPr>
        <p:spPr>
          <a:xfrm>
            <a:off x="914466" y="1478813"/>
            <a:ext cx="9956668" cy="4287707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000"/>
              </a:spcBef>
              <a:defRPr>
                <a:solidFill>
                  <a:srgbClr val="C00000"/>
                </a:solidFill>
              </a:defRPr>
            </a:pPr>
            <a:r>
              <a:rPr i="1"/>
              <a:t>Today you have learnt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How to relate probabilities to measurements: the likelihood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 u="sng"/>
            </a:pPr>
            <a:r>
              <a:t>How to define a null hypothesis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How to use probabilities to test our hypothesis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 u="sng"/>
            </a:pPr>
            <a:r>
              <a:t>Three key distributions in Physics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Key tests of whether our hypothesis (assumptions) are correct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Distributions: KS test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Correlations: Spearman’s Rank</a:t>
            </a:r>
          </a:p>
          <a:p>
            <a:pPr lvl="1" marL="876300" indent="-228600">
              <a:spcBef>
                <a:spcPts val="500"/>
              </a:spcBef>
              <a:buSzPct val="100000"/>
              <a:buChar char="-"/>
              <a:defRPr sz="2200" u="sng"/>
            </a:pPr>
            <a:r>
              <a:t>Goodness-of-fit metrics: calculating likelihoods</a:t>
            </a:r>
          </a:p>
          <a:p>
            <a:pPr lvl="2" marL="1143000" indent="-228600">
              <a:spcBef>
                <a:spcPts val="500"/>
              </a:spcBef>
              <a:buSzPct val="100000"/>
              <a:buChar char="-"/>
              <a:defRPr sz="2200"/>
            </a:pPr>
            <a:r>
              <a:t>Selecting a model given a likelihood </a:t>
            </a:r>
          </a:p>
        </p:txBody>
      </p:sp>
      <p:sp>
        <p:nvSpPr>
          <p:cNvPr id="532" name="Practical examples on Friday!"/>
          <p:cNvSpPr txBox="1"/>
          <p:nvPr/>
        </p:nvSpPr>
        <p:spPr>
          <a:xfrm>
            <a:off x="7969679" y="6010575"/>
            <a:ext cx="3097695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90000"/>
              </a:lnSpc>
              <a:spcBef>
                <a:spcPts val="500"/>
              </a:spcBef>
              <a:defRPr sz="20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Practical examples on Friday!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